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8"/>
  </p:notesMasterIdLst>
  <p:sldIdLst>
    <p:sldId id="256" r:id="rId2"/>
    <p:sldId id="258" r:id="rId3"/>
    <p:sldId id="259" r:id="rId4"/>
    <p:sldId id="257" r:id="rId5"/>
    <p:sldId id="277" r:id="rId6"/>
    <p:sldId id="260" r:id="rId7"/>
    <p:sldId id="301" r:id="rId8"/>
    <p:sldId id="302" r:id="rId9"/>
    <p:sldId id="261" r:id="rId10"/>
    <p:sldId id="303" r:id="rId11"/>
    <p:sldId id="304" r:id="rId12"/>
    <p:sldId id="280" r:id="rId13"/>
    <p:sldId id="305" r:id="rId14"/>
    <p:sldId id="276" r:id="rId15"/>
    <p:sldId id="300" r:id="rId16"/>
    <p:sldId id="306" r:id="rId17"/>
    <p:sldId id="307" r:id="rId18"/>
    <p:sldId id="262" r:id="rId19"/>
    <p:sldId id="263" r:id="rId20"/>
    <p:sldId id="308" r:id="rId21"/>
    <p:sldId id="309" r:id="rId22"/>
    <p:sldId id="310" r:id="rId23"/>
    <p:sldId id="269" r:id="rId24"/>
    <p:sldId id="267" r:id="rId25"/>
    <p:sldId id="311" r:id="rId26"/>
    <p:sldId id="312" r:id="rId27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29"/>
      <p:bold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B06CCC-CFD2-4F27-9301-AEA92C5257A9}">
  <a:tblStyle styleId="{1DB06CCC-CFD2-4F27-9301-AEA92C5257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ge7f9c668d6_0_10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0" name="Google Shape;2520;ge7f9c668d6_0_10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8">
          <a:extLst>
            <a:ext uri="{FF2B5EF4-FFF2-40B4-BE49-F238E27FC236}">
              <a16:creationId xmlns:a16="http://schemas.microsoft.com/office/drawing/2014/main" id="{7FBCC6F0-13CD-52E9-7255-8E50FDE2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ge7f9c668d6_0_1052:notes">
            <a:extLst>
              <a:ext uri="{FF2B5EF4-FFF2-40B4-BE49-F238E27FC236}">
                <a16:creationId xmlns:a16="http://schemas.microsoft.com/office/drawing/2014/main" id="{18855AFF-02BB-AD82-CFF6-E5C9A3BC0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0" name="Google Shape;2520;ge7f9c668d6_0_1052:notes">
            <a:extLst>
              <a:ext uri="{FF2B5EF4-FFF2-40B4-BE49-F238E27FC236}">
                <a16:creationId xmlns:a16="http://schemas.microsoft.com/office/drawing/2014/main" id="{951CB191-C2EF-A57A-2729-32CE080D21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943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>
          <a:extLst>
            <a:ext uri="{FF2B5EF4-FFF2-40B4-BE49-F238E27FC236}">
              <a16:creationId xmlns:a16="http://schemas.microsoft.com/office/drawing/2014/main" id="{38517547-49A2-8EDC-054F-FDFA2509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>
            <a:extLst>
              <a:ext uri="{FF2B5EF4-FFF2-40B4-BE49-F238E27FC236}">
                <a16:creationId xmlns:a16="http://schemas.microsoft.com/office/drawing/2014/main" id="{DF8A56B3-5BF4-6CCF-0CF7-0B1DE0C5C3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>
            <a:extLst>
              <a:ext uri="{FF2B5EF4-FFF2-40B4-BE49-F238E27FC236}">
                <a16:creationId xmlns:a16="http://schemas.microsoft.com/office/drawing/2014/main" id="{283EE506-D97F-A2B7-7BAF-9E4235A992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7315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>
          <a:extLst>
            <a:ext uri="{FF2B5EF4-FFF2-40B4-BE49-F238E27FC236}">
              <a16:creationId xmlns:a16="http://schemas.microsoft.com/office/drawing/2014/main" id="{84640F5C-6F0C-1C54-E134-C8B9DC7C9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>
            <a:extLst>
              <a:ext uri="{FF2B5EF4-FFF2-40B4-BE49-F238E27FC236}">
                <a16:creationId xmlns:a16="http://schemas.microsoft.com/office/drawing/2014/main" id="{36340794-32F1-8509-DAC6-FE89DD4731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>
            <a:extLst>
              <a:ext uri="{FF2B5EF4-FFF2-40B4-BE49-F238E27FC236}">
                <a16:creationId xmlns:a16="http://schemas.microsoft.com/office/drawing/2014/main" id="{3E6EA276-8F04-3506-038A-97CAD1783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3138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1">
          <a:extLst>
            <a:ext uri="{FF2B5EF4-FFF2-40B4-BE49-F238E27FC236}">
              <a16:creationId xmlns:a16="http://schemas.microsoft.com/office/drawing/2014/main" id="{EF5546FC-6DF8-0FAE-984D-B408092E1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Google Shape;3112;ge6b9cfce84_3_78:notes">
            <a:extLst>
              <a:ext uri="{FF2B5EF4-FFF2-40B4-BE49-F238E27FC236}">
                <a16:creationId xmlns:a16="http://schemas.microsoft.com/office/drawing/2014/main" id="{17FC7021-F0A0-4915-C099-608D7E7047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3" name="Google Shape;3113;ge6b9cfce84_3_78:notes">
            <a:extLst>
              <a:ext uri="{FF2B5EF4-FFF2-40B4-BE49-F238E27FC236}">
                <a16:creationId xmlns:a16="http://schemas.microsoft.com/office/drawing/2014/main" id="{6CA553A8-9D3E-ADAB-8D95-1382CEE11B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3653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Google Shape;3112;ge6b9cfce84_3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3" name="Google Shape;3113;ge6b9cfce84_3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D00C333E-0146-36D7-F6EF-CA5B3A124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B4D7F0AA-5F21-916C-4C5A-B62DB5B3D9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BEF7717C-6050-C3FB-2618-A2ADBA81A0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9756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ge7f9c668d6_0_10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7" name="Google Shape;2497;ge7f9c668d6_0_10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>
          <a:extLst>
            <a:ext uri="{FF2B5EF4-FFF2-40B4-BE49-F238E27FC236}">
              <a16:creationId xmlns:a16="http://schemas.microsoft.com/office/drawing/2014/main" id="{FAD7A329-E884-5E2B-CA8C-C9A61649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>
            <a:extLst>
              <a:ext uri="{FF2B5EF4-FFF2-40B4-BE49-F238E27FC236}">
                <a16:creationId xmlns:a16="http://schemas.microsoft.com/office/drawing/2014/main" id="{9AA75C31-9016-CC9E-D390-55C872AD2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>
            <a:extLst>
              <a:ext uri="{FF2B5EF4-FFF2-40B4-BE49-F238E27FC236}">
                <a16:creationId xmlns:a16="http://schemas.microsoft.com/office/drawing/2014/main" id="{27B5DCD4-1A2B-03EA-74FC-5A8687453E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7051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5660C738-A917-8150-0342-CEE05DC2B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C6250033-3A28-0B38-8CC6-C1176A1F2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347D512C-096B-DC11-808D-9017959FAC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0298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>
          <a:extLst>
            <a:ext uri="{FF2B5EF4-FFF2-40B4-BE49-F238E27FC236}">
              <a16:creationId xmlns:a16="http://schemas.microsoft.com/office/drawing/2014/main" id="{C1F12E7D-3DAA-84ED-7912-20CA4B0A0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>
            <a:extLst>
              <a:ext uri="{FF2B5EF4-FFF2-40B4-BE49-F238E27FC236}">
                <a16:creationId xmlns:a16="http://schemas.microsoft.com/office/drawing/2014/main" id="{262C1058-4C2E-57EB-69EC-F6D5F62D38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>
            <a:extLst>
              <a:ext uri="{FF2B5EF4-FFF2-40B4-BE49-F238E27FC236}">
                <a16:creationId xmlns:a16="http://schemas.microsoft.com/office/drawing/2014/main" id="{E36879C6-631A-409A-32CD-A64F612301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508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e7f9c668d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e7f9c668d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563FC40E-67C1-9EB2-F388-6CFA8EBA9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DA153DA4-A6A7-EACC-BF23-D66BAAB14D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B540A747-34DE-9CBD-FC4A-D213DCAAC3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42690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1">
          <a:extLst>
            <a:ext uri="{FF2B5EF4-FFF2-40B4-BE49-F238E27FC236}">
              <a16:creationId xmlns:a16="http://schemas.microsoft.com/office/drawing/2014/main" id="{1F42C10E-C392-45E6-25EB-55486CCC3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Google Shape;3112;ge6b9cfce84_3_78:notes">
            <a:extLst>
              <a:ext uri="{FF2B5EF4-FFF2-40B4-BE49-F238E27FC236}">
                <a16:creationId xmlns:a16="http://schemas.microsoft.com/office/drawing/2014/main" id="{07FFA478-E020-3480-D486-DCF39E4216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3" name="Google Shape;3113;ge6b9cfce84_3_78:notes">
            <a:extLst>
              <a:ext uri="{FF2B5EF4-FFF2-40B4-BE49-F238E27FC236}">
                <a16:creationId xmlns:a16="http://schemas.microsoft.com/office/drawing/2014/main" id="{BE3C82B4-FD35-2045-6767-53CB84392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44401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1">
          <a:extLst>
            <a:ext uri="{FF2B5EF4-FFF2-40B4-BE49-F238E27FC236}">
              <a16:creationId xmlns:a16="http://schemas.microsoft.com/office/drawing/2014/main" id="{CAD2EE8B-D153-E3E0-E85F-B7CC5F663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Google Shape;3112;ge6b9cfce84_3_78:notes">
            <a:extLst>
              <a:ext uri="{FF2B5EF4-FFF2-40B4-BE49-F238E27FC236}">
                <a16:creationId xmlns:a16="http://schemas.microsoft.com/office/drawing/2014/main" id="{BAC1739B-F9D2-B837-202F-33D1AE79AD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3" name="Google Shape;3113;ge6b9cfce84_3_78:notes">
            <a:extLst>
              <a:ext uri="{FF2B5EF4-FFF2-40B4-BE49-F238E27FC236}">
                <a16:creationId xmlns:a16="http://schemas.microsoft.com/office/drawing/2014/main" id="{CC041259-40AC-FB42-723D-B9BD73F10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59361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e7f9c668d6_0_10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e7f9c668d6_0_10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e7f9c668d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e7f9c668d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D2D2D975-043D-42AF-C6B5-0744B076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2514613A-8FBE-59D5-9A73-43E7E16207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8CCB123F-9A82-4A11-B4D2-8DFC24050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95327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0D561A18-FF29-6F0F-6B33-225ABF068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B4AC4F3E-259A-C104-20F3-F66C0D392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6B16CC0E-33AB-4F32-D77A-C7AE4207AA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2224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6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7"/>
          <p:cNvSpPr txBox="1">
            <a:spLocks noGrp="1"/>
          </p:cNvSpPr>
          <p:nvPr>
            <p:ph type="subTitle" idx="1"/>
          </p:nvPr>
        </p:nvSpPr>
        <p:spPr>
          <a:xfrm>
            <a:off x="1679425" y="1587644"/>
            <a:ext cx="25089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subTitle" idx="2"/>
          </p:nvPr>
        </p:nvSpPr>
        <p:spPr>
          <a:xfrm>
            <a:off x="1679425" y="1269900"/>
            <a:ext cx="25089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5" name="Google Shape;285;p17"/>
          <p:cNvSpPr txBox="1">
            <a:spLocks noGrp="1"/>
          </p:cNvSpPr>
          <p:nvPr>
            <p:ph type="subTitle" idx="3"/>
          </p:nvPr>
        </p:nvSpPr>
        <p:spPr>
          <a:xfrm>
            <a:off x="2536285" y="3541351"/>
            <a:ext cx="25089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6" name="Google Shape;286;p17"/>
          <p:cNvSpPr txBox="1">
            <a:spLocks noGrp="1"/>
          </p:cNvSpPr>
          <p:nvPr>
            <p:ph type="subTitle" idx="4"/>
          </p:nvPr>
        </p:nvSpPr>
        <p:spPr>
          <a:xfrm>
            <a:off x="2536286" y="3221450"/>
            <a:ext cx="25089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7" name="Google Shape;287;p17"/>
          <p:cNvSpPr txBox="1">
            <a:spLocks noGrp="1"/>
          </p:cNvSpPr>
          <p:nvPr>
            <p:ph type="subTitle" idx="5"/>
          </p:nvPr>
        </p:nvSpPr>
        <p:spPr>
          <a:xfrm>
            <a:off x="4994100" y="1577676"/>
            <a:ext cx="25089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17"/>
          <p:cNvSpPr txBox="1">
            <a:spLocks noGrp="1"/>
          </p:cNvSpPr>
          <p:nvPr>
            <p:ph type="subTitle" idx="6"/>
          </p:nvPr>
        </p:nvSpPr>
        <p:spPr>
          <a:xfrm>
            <a:off x="4994100" y="1257775"/>
            <a:ext cx="25089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17"/>
          <p:cNvSpPr txBox="1">
            <a:spLocks noGrp="1"/>
          </p:cNvSpPr>
          <p:nvPr>
            <p:ph type="subTitle" idx="7"/>
          </p:nvPr>
        </p:nvSpPr>
        <p:spPr>
          <a:xfrm>
            <a:off x="2099975" y="2564499"/>
            <a:ext cx="25089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0" name="Google Shape;290;p17"/>
          <p:cNvSpPr txBox="1">
            <a:spLocks noGrp="1"/>
          </p:cNvSpPr>
          <p:nvPr>
            <p:ph type="subTitle" idx="8"/>
          </p:nvPr>
        </p:nvSpPr>
        <p:spPr>
          <a:xfrm>
            <a:off x="2099975" y="2244588"/>
            <a:ext cx="25089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1" name="Google Shape;291;p17"/>
          <p:cNvSpPr txBox="1">
            <a:spLocks noGrp="1"/>
          </p:cNvSpPr>
          <p:nvPr>
            <p:ph type="subTitle" idx="9"/>
          </p:nvPr>
        </p:nvSpPr>
        <p:spPr>
          <a:xfrm>
            <a:off x="5414650" y="2564499"/>
            <a:ext cx="25089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2" name="Google Shape;292;p17"/>
          <p:cNvSpPr txBox="1">
            <a:spLocks noGrp="1"/>
          </p:cNvSpPr>
          <p:nvPr>
            <p:ph type="subTitle" idx="13"/>
          </p:nvPr>
        </p:nvSpPr>
        <p:spPr>
          <a:xfrm>
            <a:off x="5414650" y="2244588"/>
            <a:ext cx="25089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3" name="Google Shape;293;p17"/>
          <p:cNvSpPr txBox="1">
            <a:spLocks noGrp="1"/>
          </p:cNvSpPr>
          <p:nvPr>
            <p:ph type="subTitle" idx="14"/>
          </p:nvPr>
        </p:nvSpPr>
        <p:spPr>
          <a:xfrm>
            <a:off x="5846735" y="3551319"/>
            <a:ext cx="25089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4" name="Google Shape;294;p17"/>
          <p:cNvSpPr txBox="1">
            <a:spLocks noGrp="1"/>
          </p:cNvSpPr>
          <p:nvPr>
            <p:ph type="subTitle" idx="15"/>
          </p:nvPr>
        </p:nvSpPr>
        <p:spPr>
          <a:xfrm>
            <a:off x="5846736" y="3233575"/>
            <a:ext cx="25089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6" name="Google Shape;306;p1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9" name="Google Shape;309;p1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7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8"/>
          <p:cNvSpPr txBox="1">
            <a:spLocks noGrp="1"/>
          </p:cNvSpPr>
          <p:nvPr>
            <p:ph type="title" hasCustomPrompt="1"/>
          </p:nvPr>
        </p:nvSpPr>
        <p:spPr>
          <a:xfrm>
            <a:off x="1134200" y="686250"/>
            <a:ext cx="5341200" cy="63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4" name="Google Shape;314;p18"/>
          <p:cNvSpPr txBox="1">
            <a:spLocks noGrp="1"/>
          </p:cNvSpPr>
          <p:nvPr>
            <p:ph type="subTitle" idx="1"/>
          </p:nvPr>
        </p:nvSpPr>
        <p:spPr>
          <a:xfrm>
            <a:off x="1664475" y="1323750"/>
            <a:ext cx="4810800" cy="39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2" name="Google Shape;322;p1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7" name="Google Shape;327;p1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9" name="Google Shape;329;p18"/>
          <p:cNvSpPr txBox="1">
            <a:spLocks noGrp="1"/>
          </p:cNvSpPr>
          <p:nvPr>
            <p:ph type="title" idx="2" hasCustomPrompt="1"/>
          </p:nvPr>
        </p:nvSpPr>
        <p:spPr>
          <a:xfrm>
            <a:off x="2100875" y="2016175"/>
            <a:ext cx="51060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0" name="Google Shape;330;p18"/>
          <p:cNvSpPr txBox="1">
            <a:spLocks noGrp="1"/>
          </p:cNvSpPr>
          <p:nvPr>
            <p:ph type="subTitle" idx="3"/>
          </p:nvPr>
        </p:nvSpPr>
        <p:spPr>
          <a:xfrm>
            <a:off x="2100875" y="2506366"/>
            <a:ext cx="5106000" cy="39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1" name="Google Shape;331;p18"/>
          <p:cNvSpPr txBox="1">
            <a:spLocks noGrp="1"/>
          </p:cNvSpPr>
          <p:nvPr>
            <p:ph type="title" idx="4" hasCustomPrompt="1"/>
          </p:nvPr>
        </p:nvSpPr>
        <p:spPr>
          <a:xfrm>
            <a:off x="2100875" y="3013959"/>
            <a:ext cx="51060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2" name="Google Shape;332;p18"/>
          <p:cNvSpPr txBox="1">
            <a:spLocks noGrp="1"/>
          </p:cNvSpPr>
          <p:nvPr>
            <p:ph type="subTitle" idx="5"/>
          </p:nvPr>
        </p:nvSpPr>
        <p:spPr>
          <a:xfrm>
            <a:off x="2100875" y="3504150"/>
            <a:ext cx="5106000" cy="39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"/>
          <p:cNvSpPr txBox="1">
            <a:spLocks noGrp="1"/>
          </p:cNvSpPr>
          <p:nvPr>
            <p:ph type="subTitle" idx="1"/>
          </p:nvPr>
        </p:nvSpPr>
        <p:spPr>
          <a:xfrm>
            <a:off x="1667256" y="2355825"/>
            <a:ext cx="2891100" cy="156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20"/>
          <p:cNvSpPr txBox="1">
            <a:spLocks noGrp="1"/>
          </p:cNvSpPr>
          <p:nvPr>
            <p:ph type="title"/>
          </p:nvPr>
        </p:nvSpPr>
        <p:spPr>
          <a:xfrm>
            <a:off x="1121875" y="1183920"/>
            <a:ext cx="28911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9_1_1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2" name="Google Shape;392;p21"/>
          <p:cNvSpPr txBox="1">
            <a:spLocks noGrp="1"/>
          </p:cNvSpPr>
          <p:nvPr>
            <p:ph type="body" idx="1"/>
          </p:nvPr>
        </p:nvSpPr>
        <p:spPr>
          <a:xfrm>
            <a:off x="2090500" y="1956600"/>
            <a:ext cx="5111400" cy="21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∗"/>
              <a:defRPr sz="2000">
                <a:solidFill>
                  <a:schemeClr val="accent3"/>
                </a:solidFill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 sz="1200">
                <a:solidFill>
                  <a:schemeClr val="accent3"/>
                </a:solidFill>
              </a:defRPr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3" name="Google Shape;393;p21"/>
          <p:cNvSpPr txBox="1">
            <a:spLocks noGrp="1"/>
          </p:cNvSpPr>
          <p:nvPr>
            <p:ph type="subTitle" idx="2"/>
          </p:nvPr>
        </p:nvSpPr>
        <p:spPr>
          <a:xfrm>
            <a:off x="1676975" y="1309850"/>
            <a:ext cx="54507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4" name="Google Shape;394;p21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8" r:id="rId8"/>
    <p:sldLayoutId id="2147483659" r:id="rId9"/>
    <p:sldLayoutId id="2147483663" r:id="rId10"/>
    <p:sldLayoutId id="2147483664" r:id="rId11"/>
    <p:sldLayoutId id="2147483666" r:id="rId12"/>
    <p:sldLayoutId id="2147483667" r:id="rId13"/>
    <p:sldLayoutId id="2147483669" r:id="rId14"/>
    <p:sldLayoutId id="2147483670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299175" y="733243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FIFO </a:t>
            </a:r>
            <a:r>
              <a:rPr lang="en" dirty="0">
                <a:solidFill>
                  <a:schemeClr val="accent2"/>
                </a:solidFill>
              </a:rPr>
              <a:t>Server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1802975" y="2567863"/>
            <a:ext cx="6912976" cy="176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Universitatea din Bucure</a:t>
            </a:r>
            <a:r>
              <a:rPr lang="ro-RO" dirty="0"/>
              <a:t>ș</a:t>
            </a:r>
            <a:r>
              <a:rPr lang="en" dirty="0"/>
              <a:t>ti &gt;</a:t>
            </a:r>
          </a:p>
          <a:p>
            <a:pPr marL="0" indent="0"/>
            <a:r>
              <a:rPr lang="en-US" dirty="0"/>
              <a:t>&lt; </a:t>
            </a:r>
            <a:r>
              <a:rPr lang="en-US" dirty="0" err="1"/>
              <a:t>Departamentul</a:t>
            </a:r>
            <a:r>
              <a:rPr lang="en-US" dirty="0"/>
              <a:t> de Informatic</a:t>
            </a:r>
            <a:r>
              <a:rPr lang="ro-RO" dirty="0"/>
              <a:t>ă</a:t>
            </a:r>
            <a:r>
              <a:rPr lang="en-US" dirty="0"/>
              <a:t> &gt;</a:t>
            </a:r>
            <a:endParaRPr lang="ro-RO" dirty="0"/>
          </a:p>
          <a:p>
            <a:pPr marL="0" indent="0"/>
            <a:r>
              <a:rPr lang="en-US" dirty="0"/>
              <a:t>&lt; </a:t>
            </a:r>
            <a:r>
              <a:rPr lang="en-US" dirty="0" err="1"/>
              <a:t>Instrumente</a:t>
            </a:r>
            <a:r>
              <a:rPr lang="en-US" dirty="0"/>
              <a:t> </a:t>
            </a:r>
            <a:r>
              <a:rPr lang="ro-RO" dirty="0"/>
              <a:t>și tehnici de bază în Informatică </a:t>
            </a:r>
            <a:r>
              <a:rPr lang="en-US" dirty="0"/>
              <a:t>&gt;</a:t>
            </a:r>
          </a:p>
          <a:p>
            <a:pPr marL="0" indent="0"/>
            <a:r>
              <a:rPr lang="en-US" dirty="0"/>
              <a:t>&lt; </a:t>
            </a:r>
            <a:r>
              <a:rPr lang="ro-RO" dirty="0"/>
              <a:t>2024-2025 </a:t>
            </a:r>
            <a:r>
              <a:rPr lang="en-US" dirty="0"/>
              <a:t>&gt;</a:t>
            </a:r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Proiect FIFOServer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802975" y="1250743"/>
            <a:ext cx="5788800" cy="15288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6"/>
                </a:solidFill>
              </a:rPr>
              <a:t>[</a:t>
            </a:r>
            <a:r>
              <a:rPr lang="ro-RO" sz="2400" dirty="0">
                <a:solidFill>
                  <a:schemeClr val="accent6"/>
                </a:solidFill>
              </a:rPr>
              <a:t> </a:t>
            </a:r>
            <a:r>
              <a:rPr lang="en" sz="2400" dirty="0">
                <a:solidFill>
                  <a:schemeClr val="accent1"/>
                </a:solidFill>
              </a:rPr>
              <a:t>Simon </a:t>
            </a:r>
            <a:r>
              <a:rPr lang="en" sz="2400" dirty="0">
                <a:solidFill>
                  <a:schemeClr val="lt2"/>
                </a:solidFill>
              </a:rPr>
              <a:t>Albert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>
                <a:solidFill>
                  <a:schemeClr val="lt2"/>
                </a:solidFill>
              </a:rPr>
              <a:t>  </a:t>
            </a:r>
            <a:r>
              <a:rPr lang="ro-RO" sz="2400" dirty="0">
                <a:solidFill>
                  <a:schemeClr val="accent2">
                    <a:lumMod val="75000"/>
                  </a:schemeClr>
                </a:solidFill>
              </a:rPr>
              <a:t>Cazamir</a:t>
            </a:r>
            <a:r>
              <a:rPr lang="ro-RO" sz="2400" dirty="0">
                <a:solidFill>
                  <a:schemeClr val="lt2"/>
                </a:solidFill>
              </a:rPr>
              <a:t> </a:t>
            </a:r>
            <a:r>
              <a:rPr lang="ro-RO" sz="2400" dirty="0">
                <a:solidFill>
                  <a:srgbClr val="FF0000"/>
                </a:solidFill>
              </a:rPr>
              <a:t>Mara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>
                <a:solidFill>
                  <a:schemeClr val="lt2"/>
                </a:solidFill>
              </a:rPr>
              <a:t>  </a:t>
            </a:r>
            <a:r>
              <a:rPr lang="ro-RO" sz="2400" dirty="0">
                <a:solidFill>
                  <a:srgbClr val="0070C0"/>
                </a:solidFill>
              </a:rPr>
              <a:t>Vasile</a:t>
            </a:r>
            <a:r>
              <a:rPr lang="ro-RO" sz="2400" dirty="0">
                <a:solidFill>
                  <a:schemeClr val="lt2"/>
                </a:solidFill>
              </a:rPr>
              <a:t> </a:t>
            </a:r>
            <a:r>
              <a:rPr lang="ro-RO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Teodor</a:t>
            </a:r>
            <a:r>
              <a:rPr lang="en" sz="2400" dirty="0">
                <a:solidFill>
                  <a:schemeClr val="accent6"/>
                </a:solidFill>
              </a:rPr>
              <a:t>] </a:t>
            </a:r>
            <a:endParaRPr sz="2400"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299175" y="1759900"/>
            <a:ext cx="506100" cy="2842141"/>
            <a:chOff x="1299175" y="1759900"/>
            <a:chExt cx="506100" cy="2842141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299175" y="3955541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serverFIFO@serverFIFO-VirtualBox:~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LunaAmara@LunaAmara-VirtualBox:~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2" name="Google Shape;482;p29"/>
          <p:cNvSpPr txBox="1">
            <a:spLocks noGrp="1"/>
          </p:cNvSpPr>
          <p:nvPr>
            <p:ph type="subTitle" idx="2"/>
          </p:nvPr>
        </p:nvSpPr>
        <p:spPr>
          <a:xfrm>
            <a:off x="2332549" y="1436725"/>
            <a:ext cx="6509233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Descrierea problemei / Specificația soluției</a:t>
            </a:r>
            <a:endParaRPr dirty="0"/>
          </a:p>
        </p:txBody>
      </p:sp>
      <p:sp>
        <p:nvSpPr>
          <p:cNvPr id="483" name="Google Shape;483;p29"/>
          <p:cNvSpPr txBox="1">
            <a:spLocks noGrp="1"/>
          </p:cNvSpPr>
          <p:nvPr>
            <p:ph type="title" idx="3"/>
          </p:nvPr>
        </p:nvSpPr>
        <p:spPr>
          <a:xfrm flipH="1">
            <a:off x="1914169" y="1968914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5" name="Google Shape;485;p29"/>
          <p:cNvSpPr txBox="1">
            <a:spLocks noGrp="1"/>
          </p:cNvSpPr>
          <p:nvPr>
            <p:ph type="subTitle" idx="5"/>
          </p:nvPr>
        </p:nvSpPr>
        <p:spPr>
          <a:xfrm>
            <a:off x="2700879" y="1960774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Design soluție</a:t>
            </a:r>
            <a:endParaRPr dirty="0"/>
          </a:p>
        </p:txBody>
      </p:sp>
      <p:sp>
        <p:nvSpPr>
          <p:cNvPr id="486" name="Google Shape;486;p29"/>
          <p:cNvSpPr txBox="1">
            <a:spLocks noGrp="1"/>
          </p:cNvSpPr>
          <p:nvPr>
            <p:ph type="title" idx="6"/>
          </p:nvPr>
        </p:nvSpPr>
        <p:spPr>
          <a:xfrm flipH="1">
            <a:off x="2443153" y="2512948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88" name="Google Shape;488;p29"/>
          <p:cNvSpPr txBox="1">
            <a:spLocks noGrp="1"/>
          </p:cNvSpPr>
          <p:nvPr>
            <p:ph type="subTitle" idx="8"/>
          </p:nvPr>
        </p:nvSpPr>
        <p:spPr>
          <a:xfrm>
            <a:off x="3224050" y="250861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Implementare</a:t>
            </a:r>
            <a:endParaRPr dirty="0"/>
          </a:p>
        </p:txBody>
      </p:sp>
      <p:sp>
        <p:nvSpPr>
          <p:cNvPr id="489" name="Google Shape;489;p29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solidFill>
                  <a:schemeClr val="accent3"/>
                </a:solidFill>
              </a:rPr>
              <a:t>$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ro-RO" dirty="0">
                <a:solidFill>
                  <a:schemeClr val="bg2"/>
                </a:solidFill>
              </a:rPr>
              <a:t>Sumar</a:t>
            </a:r>
            <a:r>
              <a:rPr lang="ro-RO" dirty="0">
                <a:solidFill>
                  <a:schemeClr val="accent2"/>
                </a:solidFill>
              </a:rPr>
              <a:t> capitole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90" name="Google Shape;490;p29"/>
          <p:cNvGrpSpPr/>
          <p:nvPr/>
        </p:nvGrpSpPr>
        <p:grpSpPr>
          <a:xfrm>
            <a:off x="1084825" y="1168950"/>
            <a:ext cx="506100" cy="3401075"/>
            <a:chOff x="1084825" y="1168950"/>
            <a:chExt cx="506100" cy="3401075"/>
          </a:xfrm>
        </p:grpSpPr>
        <p:sp>
          <p:nvSpPr>
            <p:cNvPr id="491" name="Google Shape;491;p2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492" name="Google Shape;492;p29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3" name="Google Shape;493;p29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serverFIFO@serverFIFO-VirtualBox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10" name="Google Shape;486;p29">
            <a:extLst>
              <a:ext uri="{FF2B5EF4-FFF2-40B4-BE49-F238E27FC236}">
                <a16:creationId xmlns:a16="http://schemas.microsoft.com/office/drawing/2014/main" id="{B3BB8AD9-BC90-A4CC-4700-9F9584E4A4A5}"/>
              </a:ext>
            </a:extLst>
          </p:cNvPr>
          <p:cNvSpPr txBox="1">
            <a:spLocks/>
          </p:cNvSpPr>
          <p:nvPr/>
        </p:nvSpPr>
        <p:spPr>
          <a:xfrm flipH="1">
            <a:off x="2879203" y="3148245"/>
            <a:ext cx="8721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11" name="Google Shape;486;p29">
            <a:extLst>
              <a:ext uri="{FF2B5EF4-FFF2-40B4-BE49-F238E27FC236}">
                <a16:creationId xmlns:a16="http://schemas.microsoft.com/office/drawing/2014/main" id="{6E0600EC-19F2-09B1-33E6-C1490BAB1F5B}"/>
              </a:ext>
            </a:extLst>
          </p:cNvPr>
          <p:cNvSpPr txBox="1">
            <a:spLocks/>
          </p:cNvSpPr>
          <p:nvPr/>
        </p:nvSpPr>
        <p:spPr>
          <a:xfrm flipH="1">
            <a:off x="3393279" y="3655553"/>
            <a:ext cx="8721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12" name="Google Shape;488;p29">
            <a:extLst>
              <a:ext uri="{FF2B5EF4-FFF2-40B4-BE49-F238E27FC236}">
                <a16:creationId xmlns:a16="http://schemas.microsoft.com/office/drawing/2014/main" id="{633A9EE1-FBA2-1AA1-DE77-9548813F01C4}"/>
              </a:ext>
            </a:extLst>
          </p:cNvPr>
          <p:cNvSpPr txBox="1">
            <a:spLocks/>
          </p:cNvSpPr>
          <p:nvPr/>
        </p:nvSpPr>
        <p:spPr>
          <a:xfrm>
            <a:off x="3728130" y="3140105"/>
            <a:ext cx="312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1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Experimente</a:t>
            </a:r>
            <a:endParaRPr lang="ro-R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Google Shape;488;p29">
            <a:extLst>
              <a:ext uri="{FF2B5EF4-FFF2-40B4-BE49-F238E27FC236}">
                <a16:creationId xmlns:a16="http://schemas.microsoft.com/office/drawing/2014/main" id="{C2CD06D2-9A11-C1CE-7ABD-AE741EBB2503}"/>
              </a:ext>
            </a:extLst>
          </p:cNvPr>
          <p:cNvSpPr txBox="1">
            <a:spLocks/>
          </p:cNvSpPr>
          <p:nvPr/>
        </p:nvSpPr>
        <p:spPr>
          <a:xfrm>
            <a:off x="4252011" y="3682743"/>
            <a:ext cx="312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1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Concluzii</a:t>
            </a:r>
            <a:endParaRPr lang="ro-RO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4" name="Google Shape;648;p34">
            <a:extLst>
              <a:ext uri="{FF2B5EF4-FFF2-40B4-BE49-F238E27FC236}">
                <a16:creationId xmlns:a16="http://schemas.microsoft.com/office/drawing/2014/main" id="{6E5D3ADE-AC58-530A-FCC0-AE5FED5B44A2}"/>
              </a:ext>
            </a:extLst>
          </p:cNvPr>
          <p:cNvCxnSpPr/>
          <p:nvPr/>
        </p:nvCxnSpPr>
        <p:spPr>
          <a:xfrm>
            <a:off x="1337875" y="1553675"/>
            <a:ext cx="292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648;p34">
            <a:extLst>
              <a:ext uri="{FF2B5EF4-FFF2-40B4-BE49-F238E27FC236}">
                <a16:creationId xmlns:a16="http://schemas.microsoft.com/office/drawing/2014/main" id="{2DC53FA4-8903-BB2F-88B0-07E4C4769DB8}"/>
              </a:ext>
            </a:extLst>
          </p:cNvPr>
          <p:cNvCxnSpPr>
            <a:cxnSpLocks/>
          </p:cNvCxnSpPr>
          <p:nvPr/>
        </p:nvCxnSpPr>
        <p:spPr>
          <a:xfrm>
            <a:off x="1337875" y="2147776"/>
            <a:ext cx="723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648;p34">
            <a:extLst>
              <a:ext uri="{FF2B5EF4-FFF2-40B4-BE49-F238E27FC236}">
                <a16:creationId xmlns:a16="http://schemas.microsoft.com/office/drawing/2014/main" id="{3F6F9D58-B078-F38E-02C1-E09AEDA5A9EC}"/>
              </a:ext>
            </a:extLst>
          </p:cNvPr>
          <p:cNvCxnSpPr>
            <a:cxnSpLocks/>
          </p:cNvCxnSpPr>
          <p:nvPr/>
        </p:nvCxnSpPr>
        <p:spPr>
          <a:xfrm>
            <a:off x="1337875" y="2682468"/>
            <a:ext cx="1234844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648;p34">
            <a:extLst>
              <a:ext uri="{FF2B5EF4-FFF2-40B4-BE49-F238E27FC236}">
                <a16:creationId xmlns:a16="http://schemas.microsoft.com/office/drawing/2014/main" id="{1748B60D-1E19-20FB-1CF0-5CBF55B0A0E3}"/>
              </a:ext>
            </a:extLst>
          </p:cNvPr>
          <p:cNvCxnSpPr>
            <a:cxnSpLocks/>
          </p:cNvCxnSpPr>
          <p:nvPr/>
        </p:nvCxnSpPr>
        <p:spPr>
          <a:xfrm>
            <a:off x="1337875" y="3263654"/>
            <a:ext cx="1676545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648;p34">
            <a:extLst>
              <a:ext uri="{FF2B5EF4-FFF2-40B4-BE49-F238E27FC236}">
                <a16:creationId xmlns:a16="http://schemas.microsoft.com/office/drawing/2014/main" id="{56446D2A-6991-6374-AE18-66D5F550359F}"/>
              </a:ext>
            </a:extLst>
          </p:cNvPr>
          <p:cNvCxnSpPr>
            <a:cxnSpLocks/>
          </p:cNvCxnSpPr>
          <p:nvPr/>
        </p:nvCxnSpPr>
        <p:spPr>
          <a:xfrm>
            <a:off x="1337875" y="3782848"/>
            <a:ext cx="2149244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01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701326" y="2103575"/>
            <a:ext cx="5747797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Descrierea problemei/</a:t>
            </a:r>
            <a:br>
              <a:rPr lang="en" dirty="0">
                <a:solidFill>
                  <a:schemeClr val="accent1"/>
                </a:solidFill>
              </a:rPr>
            </a:br>
            <a:r>
              <a:rPr lang="en" dirty="0">
                <a:solidFill>
                  <a:schemeClr val="accent1"/>
                </a:solidFill>
              </a:rPr>
              <a:t>  Specifica</a:t>
            </a:r>
            <a:r>
              <a:rPr lang="ro-RO" dirty="0">
                <a:solidFill>
                  <a:schemeClr val="accent1"/>
                </a:solidFill>
              </a:rPr>
              <a:t>ț</a:t>
            </a:r>
            <a:r>
              <a:rPr lang="en-US" dirty="0" err="1">
                <a:solidFill>
                  <a:schemeClr val="accent1"/>
                </a:solidFill>
              </a:rPr>
              <a:t>ia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solu</a:t>
            </a:r>
            <a:r>
              <a:rPr lang="ro-RO" dirty="0">
                <a:solidFill>
                  <a:schemeClr val="accent1"/>
                </a:solidFill>
              </a:rPr>
              <a:t>ț</a:t>
            </a:r>
            <a:r>
              <a:rPr lang="en-US" dirty="0" err="1">
                <a:solidFill>
                  <a:schemeClr val="accent1"/>
                </a:solidFill>
              </a:rPr>
              <a:t>iei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 dirty="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serverFIFO@serverFIFO-VirtualBox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003765" y="715815"/>
            <a:ext cx="8202228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3"/>
                </a:solidFill>
              </a:rPr>
              <a:t>$</a:t>
            </a:r>
            <a:r>
              <a:rPr lang="ro-RO" sz="2200" dirty="0">
                <a:solidFill>
                  <a:schemeClr val="accent3"/>
                </a:solidFill>
              </a:rPr>
              <a:t> </a:t>
            </a:r>
            <a:r>
              <a:rPr lang="en" sz="2200" dirty="0"/>
              <a:t>Descrierea</a:t>
            </a:r>
            <a:r>
              <a:rPr lang="en" sz="2200" dirty="0">
                <a:solidFill>
                  <a:schemeClr val="accent2"/>
                </a:solidFill>
              </a:rPr>
              <a:t> </a:t>
            </a:r>
            <a:r>
              <a:rPr lang="en" sz="2200" dirty="0">
                <a:solidFill>
                  <a:schemeClr val="bg1"/>
                </a:solidFill>
              </a:rPr>
              <a:t>Problemei </a:t>
            </a:r>
            <a:r>
              <a:rPr lang="en" sz="2200" dirty="0">
                <a:solidFill>
                  <a:schemeClr val="accent2"/>
                </a:solidFill>
              </a:rPr>
              <a:t>/ Specifica</a:t>
            </a:r>
            <a:r>
              <a:rPr lang="ro-RO" sz="2200" dirty="0">
                <a:solidFill>
                  <a:schemeClr val="accent2"/>
                </a:solidFill>
              </a:rPr>
              <a:t>ț</a:t>
            </a:r>
            <a:r>
              <a:rPr lang="en-US" sz="2200" dirty="0" err="1">
                <a:solidFill>
                  <a:schemeClr val="accent2"/>
                </a:solidFill>
              </a:rPr>
              <a:t>ia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dirty="0" err="1">
                <a:solidFill>
                  <a:schemeClr val="accent2"/>
                </a:solidFill>
              </a:rPr>
              <a:t>solu</a:t>
            </a:r>
            <a:r>
              <a:rPr lang="ro-RO" sz="2200" dirty="0">
                <a:solidFill>
                  <a:schemeClr val="accent2"/>
                </a:solidFill>
              </a:rPr>
              <a:t>ției</a:t>
            </a:r>
            <a:r>
              <a:rPr lang="en" sz="2200" dirty="0">
                <a:solidFill>
                  <a:schemeClr val="accent2"/>
                </a:solidFill>
              </a:rPr>
              <a:t>;</a:t>
            </a:r>
            <a:endParaRPr sz="2200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1427735" y="1560751"/>
            <a:ext cx="6969600" cy="25596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accent3"/>
                </a:solidFill>
              </a:rPr>
              <a:t>Problema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presupune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scrierea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unui</a:t>
            </a:r>
            <a:r>
              <a:rPr lang="en-US" sz="1200" dirty="0">
                <a:solidFill>
                  <a:schemeClr val="accent3"/>
                </a:solidFill>
              </a:rPr>
              <a:t> program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client-server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folosind</a:t>
            </a:r>
            <a:r>
              <a:rPr lang="en-US" sz="1200" dirty="0">
                <a:solidFill>
                  <a:schemeClr val="accent3"/>
                </a:solidFill>
              </a:rPr>
              <a:t> script Bash, care </a:t>
            </a:r>
            <a:r>
              <a:rPr lang="en-US" sz="1200" dirty="0" err="1">
                <a:solidFill>
                  <a:schemeClr val="accent3"/>
                </a:solidFill>
              </a:rPr>
              <a:t>folose</a:t>
            </a:r>
            <a:r>
              <a:rPr lang="ro-RO" sz="1200" dirty="0">
                <a:solidFill>
                  <a:schemeClr val="accent3"/>
                </a:solidFill>
              </a:rPr>
              <a:t>ș</a:t>
            </a:r>
            <a:r>
              <a:rPr lang="en-US" sz="1200" dirty="0" err="1">
                <a:solidFill>
                  <a:schemeClr val="accent3"/>
                </a:solidFill>
              </a:rPr>
              <a:t>te</a:t>
            </a:r>
            <a:r>
              <a:rPr lang="en-US" sz="1200" dirty="0">
                <a:solidFill>
                  <a:schemeClr val="accent3"/>
                </a:solidFill>
              </a:rPr>
              <a:t> fi</a:t>
            </a:r>
            <a:r>
              <a:rPr lang="ro-RO" sz="1200" dirty="0">
                <a:solidFill>
                  <a:schemeClr val="accent3"/>
                </a:solidFill>
              </a:rPr>
              <a:t>ș</a:t>
            </a:r>
            <a:r>
              <a:rPr lang="en-US" sz="1200" dirty="0" err="1">
                <a:solidFill>
                  <a:schemeClr val="accent3"/>
                </a:solidFill>
              </a:rPr>
              <a:t>iere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speciale</a:t>
            </a:r>
            <a:r>
              <a:rPr lang="en-US" sz="1200" dirty="0">
                <a:solidFill>
                  <a:schemeClr val="accent3"/>
                </a:solidFill>
              </a:rPr>
              <a:t> de tip FIFO </a:t>
            </a:r>
            <a:r>
              <a:rPr lang="en-US" sz="1200" dirty="0" err="1">
                <a:solidFill>
                  <a:schemeClr val="accent3"/>
                </a:solidFill>
              </a:rPr>
              <a:t>drept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canale</a:t>
            </a:r>
            <a:r>
              <a:rPr lang="en-US" sz="1200" dirty="0">
                <a:solidFill>
                  <a:schemeClr val="accent3"/>
                </a:solidFill>
              </a:rPr>
              <a:t> de </a:t>
            </a:r>
            <a:r>
              <a:rPr lang="en-US" sz="1200" dirty="0" err="1">
                <a:solidFill>
                  <a:schemeClr val="accent3"/>
                </a:solidFill>
              </a:rPr>
              <a:t>comunica</a:t>
            </a:r>
            <a:r>
              <a:rPr lang="ro-RO" sz="1200" dirty="0">
                <a:solidFill>
                  <a:schemeClr val="accent3"/>
                </a:solidFill>
              </a:rPr>
              <a:t>ț</a:t>
            </a:r>
            <a:r>
              <a:rPr lang="en-US" sz="1200" dirty="0" err="1">
                <a:solidFill>
                  <a:schemeClr val="accent3"/>
                </a:solidFill>
              </a:rPr>
              <a:t>ie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ro-RO" sz="1200" dirty="0">
                <a:solidFill>
                  <a:schemeClr val="accent3"/>
                </a:solidFill>
              </a:rPr>
              <a:t>î</a:t>
            </a:r>
            <a:r>
              <a:rPr lang="en-US" sz="1200" dirty="0" err="1">
                <a:solidFill>
                  <a:schemeClr val="accent3"/>
                </a:solidFill>
              </a:rPr>
              <a:t>ntre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clien</a:t>
            </a:r>
            <a:r>
              <a:rPr lang="ro-RO" sz="1200" dirty="0">
                <a:solidFill>
                  <a:schemeClr val="accent3"/>
                </a:solidFill>
              </a:rPr>
              <a:t>ț</a:t>
            </a:r>
            <a:r>
              <a:rPr lang="en-US" sz="1200" dirty="0" err="1">
                <a:solidFill>
                  <a:schemeClr val="accent3"/>
                </a:solidFill>
              </a:rPr>
              <a:t>i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ro-RO" sz="1200" dirty="0">
                <a:solidFill>
                  <a:schemeClr val="accent3"/>
                </a:solidFill>
              </a:rPr>
              <a:t>ș</a:t>
            </a:r>
            <a:r>
              <a:rPr lang="en-US" sz="1200" dirty="0" err="1">
                <a:solidFill>
                  <a:schemeClr val="accent3"/>
                </a:solidFill>
              </a:rPr>
              <a:t>i</a:t>
            </a:r>
            <a:r>
              <a:rPr lang="en-US" sz="1200" dirty="0">
                <a:solidFill>
                  <a:schemeClr val="accent3"/>
                </a:solidFill>
              </a:rPr>
              <a:t> server. Server-</a:t>
            </a:r>
            <a:r>
              <a:rPr lang="en-US" sz="1200" dirty="0" err="1">
                <a:solidFill>
                  <a:schemeClr val="accent3"/>
                </a:solidFill>
              </a:rPr>
              <a:t>ul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folose</a:t>
            </a:r>
            <a:r>
              <a:rPr lang="ro-RO" sz="1200" dirty="0">
                <a:solidFill>
                  <a:schemeClr val="accent3"/>
                </a:solidFill>
              </a:rPr>
              <a:t>ș</a:t>
            </a:r>
            <a:r>
              <a:rPr lang="en-US" sz="1200" dirty="0" err="1">
                <a:solidFill>
                  <a:schemeClr val="accent3"/>
                </a:solidFill>
              </a:rPr>
              <a:t>te</a:t>
            </a:r>
            <a:r>
              <a:rPr lang="en-US" sz="1200" dirty="0">
                <a:solidFill>
                  <a:schemeClr val="accent3"/>
                </a:solidFill>
              </a:rPr>
              <a:t> un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fi</a:t>
            </a:r>
            <a:r>
              <a:rPr lang="ro-RO" sz="1200" b="1" dirty="0">
                <a:solidFill>
                  <a:schemeClr val="accent1">
                    <a:lumMod val="75000"/>
                  </a:schemeClr>
                </a:solidFill>
              </a:rPr>
              <a:t>ș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ier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FIFO </a:t>
            </a:r>
            <a:r>
              <a:rPr lang="en-US" sz="1200" dirty="0">
                <a:solidFill>
                  <a:schemeClr val="accent3"/>
                </a:solidFill>
              </a:rPr>
              <a:t>cu </a:t>
            </a:r>
            <a:r>
              <a:rPr lang="en-US" sz="1200" dirty="0" err="1">
                <a:solidFill>
                  <a:schemeClr val="accent3"/>
                </a:solidFill>
              </a:rPr>
              <a:t>nume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cunoscut</a:t>
            </a:r>
            <a:r>
              <a:rPr lang="en-US" sz="1200" dirty="0">
                <a:solidFill>
                  <a:schemeClr val="accent3"/>
                </a:solidFill>
              </a:rPr>
              <a:t> (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well-known FIFO</a:t>
            </a:r>
            <a:r>
              <a:rPr lang="en-US" sz="1200" dirty="0">
                <a:solidFill>
                  <a:schemeClr val="accent3"/>
                </a:solidFill>
              </a:rPr>
              <a:t>), </a:t>
            </a:r>
            <a:r>
              <a:rPr lang="en-US" sz="1200" dirty="0" err="1">
                <a:solidFill>
                  <a:schemeClr val="accent3"/>
                </a:solidFill>
              </a:rPr>
              <a:t>configurabil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ro-RO" sz="1200" dirty="0">
                <a:solidFill>
                  <a:schemeClr val="accent3"/>
                </a:solidFill>
              </a:rPr>
              <a:t>î</a:t>
            </a:r>
            <a:r>
              <a:rPr lang="en-US" sz="1200" dirty="0" err="1">
                <a:solidFill>
                  <a:schemeClr val="accent3"/>
                </a:solidFill>
              </a:rPr>
              <a:t>ntr</a:t>
            </a:r>
            <a:r>
              <a:rPr lang="en-US" sz="1200" dirty="0">
                <a:solidFill>
                  <a:schemeClr val="accent3"/>
                </a:solidFill>
              </a:rPr>
              <a:t>-u</a:t>
            </a:r>
            <a:r>
              <a:rPr lang="ro-RO" sz="1200" dirty="0">
                <a:solidFill>
                  <a:schemeClr val="accent3"/>
                </a:solidFill>
              </a:rPr>
              <a:t>n</a:t>
            </a:r>
            <a:r>
              <a:rPr lang="en-US" sz="1200" dirty="0">
                <a:solidFill>
                  <a:schemeClr val="accent3"/>
                </a:solidFill>
              </a:rPr>
              <a:t> fi</a:t>
            </a:r>
            <a:r>
              <a:rPr lang="ro-RO" sz="1200" dirty="0">
                <a:solidFill>
                  <a:schemeClr val="accent3"/>
                </a:solidFill>
              </a:rPr>
              <a:t>ș</a:t>
            </a:r>
            <a:r>
              <a:rPr lang="en-US" sz="1200" dirty="0" err="1">
                <a:solidFill>
                  <a:schemeClr val="accent3"/>
                </a:solidFill>
              </a:rPr>
              <a:t>ier</a:t>
            </a:r>
            <a:r>
              <a:rPr lang="en-US" sz="1200" dirty="0">
                <a:solidFill>
                  <a:schemeClr val="accent3"/>
                </a:solidFill>
              </a:rPr>
              <a:t> de </a:t>
            </a:r>
            <a:r>
              <a:rPr lang="en-US" sz="1200" dirty="0" err="1">
                <a:solidFill>
                  <a:schemeClr val="accent3"/>
                </a:solidFill>
              </a:rPr>
              <a:t>configurare</a:t>
            </a:r>
            <a:r>
              <a:rPr lang="en-US" sz="1200" dirty="0">
                <a:solidFill>
                  <a:schemeClr val="accent3"/>
                </a:solidFill>
              </a:rPr>
              <a:t>. </a:t>
            </a:r>
            <a:r>
              <a:rPr lang="en-US" sz="1200" dirty="0" err="1">
                <a:solidFill>
                  <a:schemeClr val="accent3"/>
                </a:solidFill>
              </a:rPr>
              <a:t>Serverul</a:t>
            </a:r>
            <a:r>
              <a:rPr lang="en-US" sz="1200" dirty="0">
                <a:solidFill>
                  <a:schemeClr val="accent3"/>
                </a:solidFill>
              </a:rPr>
              <a:t> prime</a:t>
            </a:r>
            <a:r>
              <a:rPr lang="ro-RO" sz="1200" dirty="0">
                <a:solidFill>
                  <a:schemeClr val="accent3"/>
                </a:solidFill>
              </a:rPr>
              <a:t>ș</a:t>
            </a:r>
            <a:r>
              <a:rPr lang="en-US" sz="1200" dirty="0" err="1">
                <a:solidFill>
                  <a:schemeClr val="accent3"/>
                </a:solidFill>
              </a:rPr>
              <a:t>te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ro-RO" sz="1200" dirty="0">
                <a:solidFill>
                  <a:schemeClr val="accent3"/>
                </a:solidFill>
              </a:rPr>
              <a:t>î</a:t>
            </a:r>
            <a:r>
              <a:rPr lang="en-US" sz="1200" dirty="0">
                <a:solidFill>
                  <a:schemeClr val="accent3"/>
                </a:solidFill>
              </a:rPr>
              <a:t>n fi</a:t>
            </a:r>
            <a:r>
              <a:rPr lang="ro-RO" sz="1200" dirty="0">
                <a:solidFill>
                  <a:schemeClr val="accent3"/>
                </a:solidFill>
              </a:rPr>
              <a:t>ș</a:t>
            </a:r>
            <a:r>
              <a:rPr lang="en-US" sz="1200" dirty="0" err="1">
                <a:solidFill>
                  <a:schemeClr val="accent3"/>
                </a:solidFill>
              </a:rPr>
              <a:t>ierul</a:t>
            </a:r>
            <a:r>
              <a:rPr lang="en-US" sz="1200" dirty="0">
                <a:solidFill>
                  <a:schemeClr val="accent3"/>
                </a:solidFill>
              </a:rPr>
              <a:t> FIFO </a:t>
            </a:r>
            <a:r>
              <a:rPr lang="en-US" sz="1200" dirty="0" err="1">
                <a:solidFill>
                  <a:schemeClr val="accent3"/>
                </a:solidFill>
              </a:rPr>
              <a:t>cereri</a:t>
            </a:r>
            <a:r>
              <a:rPr lang="en-US" sz="1200" dirty="0">
                <a:solidFill>
                  <a:schemeClr val="accent3"/>
                </a:solidFill>
              </a:rPr>
              <a:t> de la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clien</a:t>
            </a:r>
            <a:r>
              <a:rPr lang="ro-RO" sz="1200" b="1" dirty="0">
                <a:solidFill>
                  <a:schemeClr val="accent1">
                    <a:lumMod val="75000"/>
                  </a:schemeClr>
                </a:solidFill>
              </a:rPr>
              <a:t>ț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pentru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pagini</a:t>
            </a:r>
            <a:r>
              <a:rPr lang="en-US" sz="1200" dirty="0">
                <a:solidFill>
                  <a:schemeClr val="accent3"/>
                </a:solidFill>
              </a:rPr>
              <a:t> de manual </a:t>
            </a:r>
            <a:r>
              <a:rPr lang="en-US" sz="1200" dirty="0" err="1">
                <a:solidFill>
                  <a:schemeClr val="accent3"/>
                </a:solidFill>
              </a:rPr>
              <a:t>referitoare</a:t>
            </a:r>
            <a:r>
              <a:rPr lang="en-US" sz="1200" dirty="0">
                <a:solidFill>
                  <a:schemeClr val="accent3"/>
                </a:solidFill>
              </a:rPr>
              <a:t> la </a:t>
            </a:r>
            <a:r>
              <a:rPr lang="en-US" sz="1200" dirty="0" err="1">
                <a:solidFill>
                  <a:schemeClr val="accent3"/>
                </a:solidFill>
              </a:rPr>
              <a:t>diferite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comenzi</a:t>
            </a:r>
            <a:r>
              <a:rPr lang="en-US" sz="1200" dirty="0">
                <a:solidFill>
                  <a:schemeClr val="accent3"/>
                </a:solidFill>
              </a:rPr>
              <a:t>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chemeClr val="accent3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00"/>
                </a:solidFill>
              </a:rPr>
              <a:t>[ FIFO – First-In-First-Out ]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chemeClr val="accent3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Diferența</a:t>
            </a:r>
            <a:r>
              <a:rPr lang="en-US" sz="1200" b="1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dintre</a:t>
            </a:r>
            <a:r>
              <a:rPr lang="en-US" sz="1200" dirty="0">
                <a:solidFill>
                  <a:schemeClr val="accent3"/>
                </a:solidFill>
              </a:rPr>
              <a:t> server </a:t>
            </a:r>
            <a:r>
              <a:rPr lang="en-US" sz="1200" dirty="0" err="1">
                <a:solidFill>
                  <a:schemeClr val="accent3"/>
                </a:solidFill>
              </a:rPr>
              <a:t>și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fișierul</a:t>
            </a:r>
            <a:r>
              <a:rPr lang="en-US" sz="1200" dirty="0">
                <a:solidFill>
                  <a:schemeClr val="accent3"/>
                </a:solidFill>
              </a:rPr>
              <a:t> FIFO </a:t>
            </a:r>
            <a:r>
              <a:rPr lang="en-US" sz="1200" dirty="0" err="1">
                <a:solidFill>
                  <a:schemeClr val="accent3"/>
                </a:solidFill>
              </a:rPr>
              <a:t>este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fundamentală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în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modul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în</a:t>
            </a:r>
            <a:r>
              <a:rPr lang="en-US" sz="1200" dirty="0">
                <a:solidFill>
                  <a:schemeClr val="accent3"/>
                </a:solidFill>
              </a:rPr>
              <a:t> care </a:t>
            </a:r>
            <a:r>
              <a:rPr lang="en-US" sz="1200" dirty="0" err="1">
                <a:solidFill>
                  <a:schemeClr val="accent3"/>
                </a:solidFill>
              </a:rPr>
              <a:t>acestea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funcționează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într</a:t>
            </a:r>
            <a:r>
              <a:rPr lang="en-US" sz="1200" dirty="0">
                <a:solidFill>
                  <a:schemeClr val="accent3"/>
                </a:solidFill>
              </a:rPr>
              <a:t>-un </a:t>
            </a:r>
            <a:r>
              <a:rPr lang="en-US" sz="1200" dirty="0" err="1">
                <a:solidFill>
                  <a:schemeClr val="accent3"/>
                </a:solidFill>
              </a:rPr>
              <a:t>sistem</a:t>
            </a:r>
            <a:r>
              <a:rPr lang="en-US" sz="1200" dirty="0">
                <a:solidFill>
                  <a:schemeClr val="accent3"/>
                </a:solidFill>
              </a:rPr>
              <a:t> de </a:t>
            </a:r>
            <a:r>
              <a:rPr lang="en-US" sz="1200" dirty="0" err="1">
                <a:solidFill>
                  <a:schemeClr val="accent3"/>
                </a:solidFill>
              </a:rPr>
              <a:t>comunicație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între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procese</a:t>
            </a:r>
            <a:r>
              <a:rPr lang="en-US" sz="1200" dirty="0">
                <a:solidFill>
                  <a:schemeClr val="accent3"/>
                </a:solidFill>
              </a:rPr>
              <a:t> (IPC - Inter-Process Communication).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serverFIFO@serverFIFO-VirtualBox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48"/>
          <p:cNvSpPr txBox="1">
            <a:spLocks noGrp="1"/>
          </p:cNvSpPr>
          <p:nvPr>
            <p:ph type="title"/>
          </p:nvPr>
        </p:nvSpPr>
        <p:spPr>
          <a:xfrm>
            <a:off x="1071818" y="322888"/>
            <a:ext cx="392286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&lt; /1 &gt; Serverul 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523" name="Google Shape;2523;p48"/>
          <p:cNvSpPr txBox="1">
            <a:spLocks noGrp="1"/>
          </p:cNvSpPr>
          <p:nvPr>
            <p:ph type="subTitle" idx="1"/>
          </p:nvPr>
        </p:nvSpPr>
        <p:spPr>
          <a:xfrm>
            <a:off x="1167712" y="1820107"/>
            <a:ext cx="3398313" cy="156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&lt; Un server </a:t>
            </a:r>
            <a:r>
              <a:rPr lang="en-US" sz="1400" dirty="0" err="1"/>
              <a:t>este</a:t>
            </a:r>
            <a:r>
              <a:rPr lang="en-US" sz="1400" dirty="0"/>
              <a:t> un program </a:t>
            </a:r>
            <a:r>
              <a:rPr lang="en-US" sz="1400" dirty="0" err="1"/>
              <a:t>sau</a:t>
            </a:r>
            <a:r>
              <a:rPr lang="en-US" sz="1400" dirty="0"/>
              <a:t> un </a:t>
            </a:r>
            <a:r>
              <a:rPr lang="en-US" sz="1400" dirty="0" err="1"/>
              <a:t>proces</a:t>
            </a:r>
            <a:r>
              <a:rPr lang="en-US" sz="1400" dirty="0"/>
              <a:t> care </a:t>
            </a:r>
            <a:r>
              <a:rPr lang="en-US" sz="1400" dirty="0" err="1"/>
              <a:t>ascultă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</a:rPr>
              <a:t>cereri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 de la </a:t>
            </a:r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</a:rPr>
              <a:t>clienți</a:t>
            </a:r>
            <a:r>
              <a:rPr lang="en-US" sz="1400" dirty="0"/>
              <a:t>, le </a:t>
            </a:r>
            <a:r>
              <a:rPr lang="en-US" sz="1400" dirty="0" err="1"/>
              <a:t>prelucrează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răspunde</a:t>
            </a:r>
            <a:r>
              <a:rPr lang="en-US" sz="1400" dirty="0"/>
              <a:t> la </a:t>
            </a:r>
            <a:r>
              <a:rPr lang="en-US" sz="1400" dirty="0" err="1"/>
              <a:t>ele</a:t>
            </a:r>
            <a:r>
              <a:rPr lang="en-US" sz="1400" dirty="0"/>
              <a:t>. </a:t>
            </a:r>
            <a:r>
              <a:rPr lang="en-US" sz="1400" dirty="0" err="1"/>
              <a:t>Serverul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activ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trebuie</a:t>
            </a:r>
            <a:r>
              <a:rPr lang="en-US" sz="1400" dirty="0"/>
              <a:t> </a:t>
            </a:r>
            <a:r>
              <a:rPr lang="en-US" sz="1400" dirty="0" err="1"/>
              <a:t>să</a:t>
            </a:r>
            <a:r>
              <a:rPr lang="en-US" sz="1400" dirty="0"/>
              <a:t> fie </a:t>
            </a:r>
            <a:r>
              <a:rPr lang="en-US" sz="1400" dirty="0" err="1"/>
              <a:t>rulat</a:t>
            </a:r>
            <a:r>
              <a:rPr lang="en-US" sz="1400" dirty="0"/>
              <a:t> </a:t>
            </a:r>
            <a:r>
              <a:rPr lang="en-US" sz="1400" dirty="0" err="1"/>
              <a:t>înainte</a:t>
            </a:r>
            <a:r>
              <a:rPr lang="en-US" sz="1400" dirty="0"/>
              <a:t> ca </a:t>
            </a:r>
            <a:r>
              <a:rPr lang="en-US" sz="1400" dirty="0" err="1"/>
              <a:t>clienții</a:t>
            </a:r>
            <a:r>
              <a:rPr lang="en-US" sz="1400" dirty="0"/>
              <a:t> </a:t>
            </a:r>
            <a:r>
              <a:rPr lang="en-US" sz="1400" dirty="0" err="1"/>
              <a:t>să</a:t>
            </a:r>
            <a:r>
              <a:rPr lang="en-US" sz="1400" dirty="0"/>
              <a:t> </a:t>
            </a:r>
            <a:r>
              <a:rPr lang="en-US" sz="1400" dirty="0" err="1"/>
              <a:t>poată</a:t>
            </a:r>
            <a:r>
              <a:rPr lang="en-US" sz="1400" dirty="0"/>
              <a:t> </a:t>
            </a:r>
            <a:r>
              <a:rPr lang="en-US" sz="1400" dirty="0" err="1"/>
              <a:t>trimite</a:t>
            </a:r>
            <a:r>
              <a:rPr lang="en-US" sz="1400" dirty="0"/>
              <a:t> </a:t>
            </a:r>
            <a:r>
              <a:rPr lang="en-US" sz="1400" dirty="0" err="1"/>
              <a:t>cereri</a:t>
            </a:r>
            <a:r>
              <a:rPr lang="en-US" sz="1400" dirty="0"/>
              <a:t>. &gt;</a:t>
            </a:r>
          </a:p>
        </p:txBody>
      </p:sp>
      <p:sp>
        <p:nvSpPr>
          <p:cNvPr id="2524" name="Google Shape;2524;p4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2525" name="Google Shape;2525;p4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grpSp>
        <p:nvGrpSpPr>
          <p:cNvPr id="2527" name="Google Shape;2527;p48"/>
          <p:cNvGrpSpPr/>
          <p:nvPr/>
        </p:nvGrpSpPr>
        <p:grpSpPr>
          <a:xfrm>
            <a:off x="921788" y="974656"/>
            <a:ext cx="506100" cy="4014537"/>
            <a:chOff x="1084825" y="2246100"/>
            <a:chExt cx="506100" cy="2323925"/>
          </a:xfrm>
        </p:grpSpPr>
        <p:sp>
          <p:nvSpPr>
            <p:cNvPr id="2528" name="Google Shape;2528;p48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2529" name="Google Shape;2529;p48"/>
            <p:cNvCxnSpPr/>
            <p:nvPr/>
          </p:nvCxnSpPr>
          <p:spPr>
            <a:xfrm>
              <a:off x="1337875" y="2246100"/>
              <a:ext cx="0" cy="1687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30" name="Google Shape;2530;p4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grpSp>
        <p:nvGrpSpPr>
          <p:cNvPr id="2531" name="Google Shape;2531;p48"/>
          <p:cNvGrpSpPr/>
          <p:nvPr/>
        </p:nvGrpSpPr>
        <p:grpSpPr>
          <a:xfrm>
            <a:off x="4994678" y="1173377"/>
            <a:ext cx="3439196" cy="2775803"/>
            <a:chOff x="4994678" y="1173377"/>
            <a:chExt cx="3439196" cy="2775803"/>
          </a:xfrm>
        </p:grpSpPr>
        <p:grpSp>
          <p:nvGrpSpPr>
            <p:cNvPr id="2532" name="Google Shape;2532;p48"/>
            <p:cNvGrpSpPr/>
            <p:nvPr/>
          </p:nvGrpSpPr>
          <p:grpSpPr>
            <a:xfrm>
              <a:off x="4994678" y="1173377"/>
              <a:ext cx="3439196" cy="2775803"/>
              <a:chOff x="4572031" y="1415284"/>
              <a:chExt cx="2875341" cy="2319354"/>
            </a:xfrm>
          </p:grpSpPr>
          <p:grpSp>
            <p:nvGrpSpPr>
              <p:cNvPr id="2533" name="Google Shape;2533;p48"/>
              <p:cNvGrpSpPr/>
              <p:nvPr/>
            </p:nvGrpSpPr>
            <p:grpSpPr>
              <a:xfrm>
                <a:off x="4572031" y="1415284"/>
                <a:ext cx="2875341" cy="1993075"/>
                <a:chOff x="3665860" y="822037"/>
                <a:chExt cx="4758136" cy="3243937"/>
              </a:xfrm>
            </p:grpSpPr>
            <p:grpSp>
              <p:nvGrpSpPr>
                <p:cNvPr id="2534" name="Google Shape;2534;p48"/>
                <p:cNvGrpSpPr/>
                <p:nvPr/>
              </p:nvGrpSpPr>
              <p:grpSpPr>
                <a:xfrm>
                  <a:off x="3665860" y="822037"/>
                  <a:ext cx="4758136" cy="3243937"/>
                  <a:chOff x="518725" y="252435"/>
                  <a:chExt cx="6524250" cy="4448015"/>
                </a:xfrm>
              </p:grpSpPr>
              <p:sp>
                <p:nvSpPr>
                  <p:cNvPr id="2535" name="Google Shape;2535;p48"/>
                  <p:cNvSpPr/>
                  <p:nvPr/>
                </p:nvSpPr>
                <p:spPr>
                  <a:xfrm>
                    <a:off x="518725" y="4131625"/>
                    <a:ext cx="6524250" cy="568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22753" extrusionOk="0">
                        <a:moveTo>
                          <a:pt x="0" y="14846"/>
                        </a:moveTo>
                        <a:cubicBezTo>
                          <a:pt x="0" y="19169"/>
                          <a:pt x="4039" y="22753"/>
                          <a:pt x="8305" y="22753"/>
                        </a:cubicBezTo>
                        <a:lnTo>
                          <a:pt x="253120" y="22753"/>
                        </a:lnTo>
                        <a:cubicBezTo>
                          <a:pt x="257443" y="22696"/>
                          <a:pt x="260913" y="19169"/>
                          <a:pt x="260970" y="14846"/>
                        </a:cubicBezTo>
                        <a:lnTo>
                          <a:pt x="26097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accent3"/>
                      </a:solidFill>
                    </a:endParaRPr>
                  </a:p>
                </p:txBody>
              </p:sp>
              <p:sp>
                <p:nvSpPr>
                  <p:cNvPr id="2536" name="Google Shape;2536;p48"/>
                  <p:cNvSpPr/>
                  <p:nvPr/>
                </p:nvSpPr>
                <p:spPr>
                  <a:xfrm>
                    <a:off x="518725" y="252435"/>
                    <a:ext cx="6524250" cy="3893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155741" extrusionOk="0">
                        <a:moveTo>
                          <a:pt x="249594" y="9954"/>
                        </a:moveTo>
                        <a:lnTo>
                          <a:pt x="249594" y="144364"/>
                        </a:lnTo>
                        <a:lnTo>
                          <a:pt x="11376" y="144364"/>
                        </a:lnTo>
                        <a:lnTo>
                          <a:pt x="11376" y="9954"/>
                        </a:lnTo>
                        <a:close/>
                        <a:moveTo>
                          <a:pt x="8305" y="0"/>
                        </a:moveTo>
                        <a:cubicBezTo>
                          <a:pt x="4039" y="0"/>
                          <a:pt x="0" y="2844"/>
                          <a:pt x="0" y="7110"/>
                        </a:cubicBezTo>
                        <a:lnTo>
                          <a:pt x="0" y="155740"/>
                        </a:lnTo>
                        <a:lnTo>
                          <a:pt x="260970" y="155740"/>
                        </a:lnTo>
                        <a:lnTo>
                          <a:pt x="260970" y="7110"/>
                        </a:lnTo>
                        <a:cubicBezTo>
                          <a:pt x="260970" y="2844"/>
                          <a:pt x="257386" y="0"/>
                          <a:pt x="25312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accent3"/>
                      </a:solidFill>
                    </a:endParaRPr>
                  </a:p>
                </p:txBody>
              </p:sp>
            </p:grpSp>
            <p:sp>
              <p:nvSpPr>
                <p:cNvPr id="2537" name="Google Shape;2537;p48"/>
                <p:cNvSpPr/>
                <p:nvPr/>
              </p:nvSpPr>
              <p:spPr>
                <a:xfrm>
                  <a:off x="5947879" y="3778845"/>
                  <a:ext cx="194076" cy="166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7" h="9100" extrusionOk="0">
                      <a:moveTo>
                        <a:pt x="6092" y="0"/>
                      </a:moveTo>
                      <a:cubicBezTo>
                        <a:pt x="2020" y="0"/>
                        <a:pt x="0" y="4900"/>
                        <a:pt x="2881" y="7747"/>
                      </a:cubicBezTo>
                      <a:cubicBezTo>
                        <a:pt x="3804" y="8681"/>
                        <a:pt x="4944" y="9100"/>
                        <a:pt x="6063" y="9100"/>
                      </a:cubicBezTo>
                      <a:cubicBezTo>
                        <a:pt x="8391" y="9100"/>
                        <a:pt x="10627" y="7286"/>
                        <a:pt x="10627" y="4536"/>
                      </a:cubicBezTo>
                      <a:cubicBezTo>
                        <a:pt x="10627" y="2020"/>
                        <a:pt x="8608" y="0"/>
                        <a:pt x="609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</p:grpSp>
          <p:sp>
            <p:nvSpPr>
              <p:cNvPr id="2538" name="Google Shape;2538;p48"/>
              <p:cNvSpPr/>
              <p:nvPr/>
            </p:nvSpPr>
            <p:spPr>
              <a:xfrm>
                <a:off x="5498909" y="3408365"/>
                <a:ext cx="1040944" cy="326273"/>
              </a:xfrm>
              <a:custGeom>
                <a:avLst/>
                <a:gdLst/>
                <a:ahLst/>
                <a:cxnLst/>
                <a:rect l="l" t="t" r="r" b="b"/>
                <a:pathLst>
                  <a:path w="94481" h="29125" extrusionOk="0">
                    <a:moveTo>
                      <a:pt x="79805" y="18317"/>
                    </a:moveTo>
                    <a:cubicBezTo>
                      <a:pt x="74117" y="12515"/>
                      <a:pt x="73889" y="1"/>
                      <a:pt x="73889" y="1"/>
                    </a:cubicBezTo>
                    <a:lnTo>
                      <a:pt x="20592" y="1"/>
                    </a:lnTo>
                    <a:cubicBezTo>
                      <a:pt x="20592" y="1"/>
                      <a:pt x="20364" y="12515"/>
                      <a:pt x="14676" y="18317"/>
                    </a:cubicBezTo>
                    <a:cubicBezTo>
                      <a:pt x="8931" y="24175"/>
                      <a:pt x="1" y="29124"/>
                      <a:pt x="15529" y="29124"/>
                    </a:cubicBezTo>
                    <a:lnTo>
                      <a:pt x="78952" y="29124"/>
                    </a:lnTo>
                    <a:cubicBezTo>
                      <a:pt x="94480" y="29124"/>
                      <a:pt x="85493" y="24175"/>
                      <a:pt x="79805" y="1831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</p:grpSp>
        <p:cxnSp>
          <p:nvCxnSpPr>
            <p:cNvPr id="2539" name="Google Shape;2539;p48"/>
            <p:cNvCxnSpPr/>
            <p:nvPr/>
          </p:nvCxnSpPr>
          <p:spPr>
            <a:xfrm rot="10800000">
              <a:off x="5370275" y="3949180"/>
              <a:ext cx="2688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846B9D7-268E-AD9B-39E6-4F36E6FFE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170" y="1307320"/>
            <a:ext cx="3127674" cy="17690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/>
          <p:cNvSpPr txBox="1">
            <a:spLocks noGrp="1"/>
          </p:cNvSpPr>
          <p:nvPr>
            <p:ph type="subTitle" idx="2"/>
          </p:nvPr>
        </p:nvSpPr>
        <p:spPr>
          <a:xfrm>
            <a:off x="960838" y="1101506"/>
            <a:ext cx="8361393" cy="31466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server </a:t>
            </a:r>
            <a:r>
              <a:rPr lang="en-US" dirty="0" err="1"/>
              <a:t>bazat</a:t>
            </a:r>
            <a:r>
              <a:rPr lang="en-US" dirty="0"/>
              <a:t> pe FIFO, </a:t>
            </a:r>
            <a:r>
              <a:rPr lang="en-US" dirty="0" err="1"/>
              <a:t>serverul</a:t>
            </a:r>
            <a:r>
              <a:rPr lang="en-US" dirty="0"/>
              <a:t>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   </a:t>
            </a:r>
            <a:r>
              <a:rPr lang="en-US" sz="1050" dirty="0"/>
              <a:t>&lt; </a:t>
            </a:r>
            <a:r>
              <a:rPr lang="en-US" sz="1050" b="1" dirty="0" err="1">
                <a:solidFill>
                  <a:schemeClr val="accent1">
                    <a:lumMod val="75000"/>
                  </a:schemeClr>
                </a:solidFill>
              </a:rPr>
              <a:t>Ascultă</a:t>
            </a:r>
            <a:r>
              <a:rPr lang="en-US" sz="1050" dirty="0"/>
              <a:t> </a:t>
            </a:r>
            <a:r>
              <a:rPr lang="en-US" sz="1050" dirty="0" err="1"/>
              <a:t>cererile</a:t>
            </a:r>
            <a:r>
              <a:rPr lang="en-US" sz="1050" dirty="0"/>
              <a:t> de la </a:t>
            </a:r>
            <a:r>
              <a:rPr lang="en-US" sz="1050" dirty="0" err="1"/>
              <a:t>clienți</a:t>
            </a:r>
            <a:r>
              <a:rPr lang="en-US" sz="1050" dirty="0"/>
              <a:t>, </a:t>
            </a:r>
            <a:r>
              <a:rPr lang="en-US" sz="1050" dirty="0" err="1"/>
              <a:t>citind</a:t>
            </a:r>
            <a:r>
              <a:rPr lang="en-US" sz="1050" dirty="0"/>
              <a:t> date </a:t>
            </a:r>
            <a:r>
              <a:rPr lang="en-US" sz="1050" dirty="0" err="1"/>
              <a:t>dintr</a:t>
            </a:r>
            <a:r>
              <a:rPr lang="en-US" sz="1050" dirty="0"/>
              <a:t>-un </a:t>
            </a:r>
            <a:r>
              <a:rPr lang="en-US" sz="1050" dirty="0" err="1"/>
              <a:t>fișier</a:t>
            </a:r>
            <a:r>
              <a:rPr lang="en-US" sz="1050" dirty="0"/>
              <a:t> </a:t>
            </a:r>
            <a:r>
              <a:rPr lang="en-US" sz="1050" dirty="0" err="1"/>
              <a:t>FIFOn</a:t>
            </a:r>
            <a:r>
              <a:rPr lang="en-US" sz="1050" dirty="0"/>
              <a:t>(</a:t>
            </a:r>
            <a:r>
              <a:rPr lang="en-US" sz="1050" dirty="0" err="1"/>
              <a:t>canalul</a:t>
            </a:r>
            <a:r>
              <a:rPr lang="en-US" sz="1050" dirty="0"/>
              <a:t> de </a:t>
            </a:r>
            <a:r>
              <a:rPr lang="en-US" sz="1050" dirty="0" err="1"/>
              <a:t>comunicare</a:t>
            </a:r>
            <a:r>
              <a:rPr lang="en-US" sz="1050" dirty="0"/>
              <a:t>).&gt;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&lt; </a:t>
            </a:r>
            <a:r>
              <a:rPr lang="en-US" sz="1050" b="1" dirty="0" err="1">
                <a:solidFill>
                  <a:schemeClr val="accent1">
                    <a:lumMod val="75000"/>
                  </a:schemeClr>
                </a:solidFill>
              </a:rPr>
              <a:t>Procesează</a:t>
            </a:r>
            <a:r>
              <a:rPr lang="en-US" sz="1050" dirty="0"/>
              <a:t> </a:t>
            </a:r>
            <a:r>
              <a:rPr lang="en-US" sz="1050" dirty="0" err="1"/>
              <a:t>cererile</a:t>
            </a:r>
            <a:r>
              <a:rPr lang="en-US" sz="1050" dirty="0"/>
              <a:t> (de </a:t>
            </a:r>
            <a:r>
              <a:rPr lang="en-US" sz="1050" dirty="0" err="1"/>
              <a:t>exemplu</a:t>
            </a:r>
            <a:r>
              <a:rPr lang="en-US" sz="1050" dirty="0"/>
              <a:t>, </a:t>
            </a:r>
            <a:r>
              <a:rPr lang="en-US" sz="1050" dirty="0" err="1"/>
              <a:t>rulând</a:t>
            </a:r>
            <a:r>
              <a:rPr lang="en-US" sz="1050" dirty="0"/>
              <a:t> </a:t>
            </a:r>
            <a:r>
              <a:rPr lang="en-US" sz="1050" dirty="0" err="1"/>
              <a:t>comenzi</a:t>
            </a:r>
            <a:r>
              <a:rPr lang="en-US" sz="1050" dirty="0"/>
              <a:t> </a:t>
            </a:r>
            <a:r>
              <a:rPr lang="en-US" sz="1050" dirty="0" err="1"/>
              <a:t>sau</a:t>
            </a:r>
            <a:r>
              <a:rPr lang="en-US" sz="1050" dirty="0"/>
              <a:t> </a:t>
            </a:r>
            <a:r>
              <a:rPr lang="en-US" sz="1050" dirty="0" err="1"/>
              <a:t>accesând</a:t>
            </a:r>
            <a:r>
              <a:rPr lang="en-US" sz="1050" dirty="0"/>
              <a:t> </a:t>
            </a:r>
            <a:r>
              <a:rPr lang="en-US" sz="1050" dirty="0" err="1"/>
              <a:t>fișiere</a:t>
            </a:r>
            <a:r>
              <a:rPr lang="en-US" sz="1050" dirty="0"/>
              <a:t>).&gt;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&lt; </a:t>
            </a:r>
            <a:r>
              <a:rPr lang="it-IT" sz="1050" b="1" dirty="0">
                <a:solidFill>
                  <a:schemeClr val="accent1">
                    <a:lumMod val="75000"/>
                  </a:schemeClr>
                </a:solidFill>
              </a:rPr>
              <a:t>Trimite</a:t>
            </a:r>
            <a:r>
              <a:rPr lang="it-IT" sz="1050" dirty="0"/>
              <a:t> răspunsuri în fișiere FIFO personalizate pentru fiecare client.&gt;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05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chemeClr val="bg2"/>
                </a:solidFill>
              </a:rPr>
              <a:t>Caracteristicile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server: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</a:t>
            </a:r>
            <a:r>
              <a:rPr lang="en-US" sz="1050" dirty="0"/>
              <a:t>&lt; Are </a:t>
            </a:r>
            <a:r>
              <a:rPr lang="en-US" sz="1050" dirty="0" err="1"/>
              <a:t>logica</a:t>
            </a:r>
            <a:r>
              <a:rPr lang="en-US" sz="1050" dirty="0"/>
              <a:t> de </a:t>
            </a:r>
            <a:r>
              <a:rPr lang="en-US" sz="1050" dirty="0" err="1"/>
              <a:t>procesare</a:t>
            </a:r>
            <a:r>
              <a:rPr lang="en-US" sz="1050" dirty="0"/>
              <a:t> a </a:t>
            </a:r>
            <a:r>
              <a:rPr lang="en-US" sz="1050" dirty="0" err="1"/>
              <a:t>cererilor</a:t>
            </a:r>
            <a:r>
              <a:rPr lang="en-US" sz="1050" dirty="0"/>
              <a:t>.&gt;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&lt; </a:t>
            </a:r>
            <a:r>
              <a:rPr lang="it-IT" sz="1050" dirty="0"/>
              <a:t>Poate deschide mai multe FIFO-uri pentru a răspunde simultan la mai mulți clienți.&gt;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dirty="0"/>
              <a:t>    &lt; Este un </a:t>
            </a:r>
            <a:r>
              <a:rPr lang="it-IT" sz="1050" b="1" dirty="0">
                <a:solidFill>
                  <a:schemeClr val="accent1">
                    <a:lumMod val="75000"/>
                  </a:schemeClr>
                </a:solidFill>
              </a:rPr>
              <a:t>program activ </a:t>
            </a:r>
            <a:r>
              <a:rPr lang="it-IT" sz="1050" dirty="0"/>
              <a:t>care rulează continuu și așteaptă cereri.&gt;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dirty="0"/>
              <a:t>    &lt; De obicei, serverul trebuie să știe cum să gestionze resursele (FIFO-urile) pentru a răspunde eficient la cererile clientului.&gt;</a:t>
            </a: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1084825" y="590281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&lt; /1 &gt; Severul </a:t>
            </a:r>
            <a:r>
              <a:rPr lang="en" sz="2400" dirty="0">
                <a:solidFill>
                  <a:schemeClr val="accent6"/>
                </a:solidFill>
              </a:rPr>
              <a:t>{</a:t>
            </a:r>
            <a:r>
              <a:rPr lang="en" sz="2400" dirty="0"/>
              <a:t> </a:t>
            </a:r>
            <a:endParaRPr sz="2400" dirty="0"/>
          </a:p>
        </p:txBody>
      </p:sp>
      <p:sp>
        <p:nvSpPr>
          <p:cNvPr id="542" name="Google Shape;542;p31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43" name="Google Shape;543;p31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544" name="Google Shape;544;p31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53" name="Google Shape;553;p31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1">
          <a:extLst>
            <a:ext uri="{FF2B5EF4-FFF2-40B4-BE49-F238E27FC236}">
              <a16:creationId xmlns:a16="http://schemas.microsoft.com/office/drawing/2014/main" id="{B3B9E8DB-0F75-5FB2-F89E-E60BD6876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48">
            <a:extLst>
              <a:ext uri="{FF2B5EF4-FFF2-40B4-BE49-F238E27FC236}">
                <a16:creationId xmlns:a16="http://schemas.microsoft.com/office/drawing/2014/main" id="{CFC63291-8B81-563A-5CCA-62CA851331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1818" y="322888"/>
            <a:ext cx="4949274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&lt; /</a:t>
            </a:r>
            <a:r>
              <a:rPr lang="ro-RO" dirty="0">
                <a:solidFill>
                  <a:schemeClr val="tx2"/>
                </a:solidFill>
              </a:rPr>
              <a:t>2</a:t>
            </a:r>
            <a:r>
              <a:rPr lang="en" dirty="0">
                <a:solidFill>
                  <a:schemeClr val="tx2"/>
                </a:solidFill>
              </a:rPr>
              <a:t> &gt; Fi</a:t>
            </a:r>
            <a:r>
              <a:rPr lang="ro-RO" dirty="0">
                <a:solidFill>
                  <a:schemeClr val="tx2"/>
                </a:solidFill>
              </a:rPr>
              <a:t>șierul FIFO</a:t>
            </a:r>
            <a:r>
              <a:rPr lang="en" dirty="0">
                <a:solidFill>
                  <a:schemeClr val="tx2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523" name="Google Shape;2523;p48">
            <a:extLst>
              <a:ext uri="{FF2B5EF4-FFF2-40B4-BE49-F238E27FC236}">
                <a16:creationId xmlns:a16="http://schemas.microsoft.com/office/drawing/2014/main" id="{4BC4C6D1-98D2-BBE6-9FED-9D188180907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90186" y="1194472"/>
            <a:ext cx="3398313" cy="28439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&lt; Un </a:t>
            </a:r>
            <a:r>
              <a:rPr lang="en-US" sz="1200" dirty="0" err="1"/>
              <a:t>fișier</a:t>
            </a:r>
            <a:r>
              <a:rPr lang="en-US" sz="1200" dirty="0"/>
              <a:t> FIFO</a:t>
            </a:r>
            <a:r>
              <a:rPr lang="ro-RO" sz="1200" dirty="0"/>
              <a:t> </a:t>
            </a:r>
            <a:r>
              <a:rPr lang="en-US" sz="1200" dirty="0" err="1"/>
              <a:t>este</a:t>
            </a:r>
            <a:r>
              <a:rPr lang="en-US" sz="1200" dirty="0"/>
              <a:t> un tip special de </a:t>
            </a:r>
            <a:r>
              <a:rPr lang="en-US" sz="1200" dirty="0" err="1"/>
              <a:t>fișier</a:t>
            </a:r>
            <a:r>
              <a:rPr lang="en-US" sz="1200" dirty="0"/>
              <a:t> care </a:t>
            </a:r>
            <a:r>
              <a:rPr lang="en-US" sz="1200" dirty="0" err="1"/>
              <a:t>funcționează</a:t>
            </a:r>
            <a:r>
              <a:rPr lang="en-US" sz="1200" dirty="0"/>
              <a:t> ca un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canal de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comunicație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între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procese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200" dirty="0"/>
              <a:t>(IPC). Este un </a:t>
            </a:r>
            <a:r>
              <a:rPr lang="en-US" sz="1200" dirty="0" err="1"/>
              <a:t>fișier</a:t>
            </a:r>
            <a:r>
              <a:rPr lang="en-US" sz="1200" dirty="0"/>
              <a:t> care nu </a:t>
            </a:r>
            <a:r>
              <a:rPr lang="en-US" sz="1200" dirty="0" err="1"/>
              <a:t>stochează</a:t>
            </a:r>
            <a:r>
              <a:rPr lang="en-US" sz="1200" dirty="0"/>
              <a:t> permanent </a:t>
            </a:r>
            <a:r>
              <a:rPr lang="en-US" sz="1200" dirty="0" err="1"/>
              <a:t>datele</a:t>
            </a:r>
            <a:r>
              <a:rPr lang="en-US" sz="1200" dirty="0"/>
              <a:t>, ci le </a:t>
            </a:r>
            <a:r>
              <a:rPr lang="en-US" sz="1200" dirty="0" err="1"/>
              <a:t>transmite</a:t>
            </a:r>
            <a:r>
              <a:rPr lang="en-US" sz="1200" dirty="0"/>
              <a:t> </a:t>
            </a:r>
            <a:r>
              <a:rPr lang="en-US" sz="1200" dirty="0" err="1"/>
              <a:t>între</a:t>
            </a:r>
            <a:r>
              <a:rPr lang="en-US" sz="1200" dirty="0"/>
              <a:t> </a:t>
            </a:r>
            <a:r>
              <a:rPr lang="en-US" sz="1200" dirty="0" err="1"/>
              <a:t>procese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mod </a:t>
            </a:r>
            <a:r>
              <a:rPr lang="en-US" sz="1200" dirty="0" err="1"/>
              <a:t>secvențial</a:t>
            </a:r>
            <a:r>
              <a:rPr lang="en-US" sz="1200" dirty="0"/>
              <a:t>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(FIFO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înseamnă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că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primul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care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intră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în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FIFO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va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fi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primul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care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iese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). </a:t>
            </a:r>
            <a:r>
              <a:rPr lang="en-US" sz="1200" dirty="0"/>
              <a:t>FIFO-urile sunt </a:t>
            </a:r>
            <a:r>
              <a:rPr lang="en-US" sz="1200" dirty="0" err="1"/>
              <a:t>folosite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a </a:t>
            </a:r>
            <a:r>
              <a:rPr lang="en-US" sz="1200" dirty="0" err="1"/>
              <a:t>transmite</a:t>
            </a:r>
            <a:r>
              <a:rPr lang="en-US" sz="1200" dirty="0"/>
              <a:t> date </a:t>
            </a:r>
            <a:r>
              <a:rPr lang="en-US" sz="1200" dirty="0" err="1"/>
              <a:t>între</a:t>
            </a:r>
            <a:r>
              <a:rPr lang="en-US" sz="1200" dirty="0"/>
              <a:t> </a:t>
            </a:r>
            <a:r>
              <a:rPr lang="en-US" sz="1200" dirty="0" err="1"/>
              <a:t>procese</a:t>
            </a:r>
            <a:r>
              <a:rPr lang="en-US" sz="1200" dirty="0"/>
              <a:t> </a:t>
            </a:r>
            <a:r>
              <a:rPr lang="en-US" sz="1200" dirty="0" err="1"/>
              <a:t>diferite</a:t>
            </a:r>
            <a:r>
              <a:rPr lang="en-US" sz="1200" dirty="0"/>
              <a:t>, </a:t>
            </a:r>
            <a:r>
              <a:rPr lang="en-US" sz="1200" dirty="0" err="1"/>
              <a:t>dar</a:t>
            </a:r>
            <a:r>
              <a:rPr lang="en-US" sz="1200" dirty="0"/>
              <a:t> </a:t>
            </a:r>
            <a:r>
              <a:rPr lang="en-US" sz="1200" dirty="0" err="1"/>
              <a:t>ele</a:t>
            </a:r>
            <a:r>
              <a:rPr lang="en-US" sz="1200" dirty="0"/>
              <a:t> nu </a:t>
            </a:r>
            <a:r>
              <a:rPr lang="en-US" sz="1200" dirty="0" err="1"/>
              <a:t>prelucrează</a:t>
            </a:r>
            <a:r>
              <a:rPr lang="en-US" sz="1200" dirty="0"/>
              <a:t> </a:t>
            </a:r>
            <a:r>
              <a:rPr lang="en-US" sz="1200" dirty="0" err="1"/>
              <a:t>datele</a:t>
            </a:r>
            <a:r>
              <a:rPr lang="en-US" sz="1200" dirty="0"/>
              <a:t> – </a:t>
            </a:r>
            <a:r>
              <a:rPr lang="en-US" sz="1200" dirty="0" err="1"/>
              <a:t>doar</a:t>
            </a:r>
            <a:r>
              <a:rPr lang="en-US" sz="1200" dirty="0"/>
              <a:t> le transmit.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 &gt;</a:t>
            </a:r>
          </a:p>
        </p:txBody>
      </p:sp>
      <p:sp>
        <p:nvSpPr>
          <p:cNvPr id="2524" name="Google Shape;2524;p48">
            <a:extLst>
              <a:ext uri="{FF2B5EF4-FFF2-40B4-BE49-F238E27FC236}">
                <a16:creationId xmlns:a16="http://schemas.microsoft.com/office/drawing/2014/main" id="{485304C1-E116-C7C1-6E47-438C7964F0F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2525" name="Google Shape;2525;p48">
            <a:extLst>
              <a:ext uri="{FF2B5EF4-FFF2-40B4-BE49-F238E27FC236}">
                <a16:creationId xmlns:a16="http://schemas.microsoft.com/office/drawing/2014/main" id="{F5FDA3C4-677C-4838-82A0-E589B9ED78C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grpSp>
        <p:nvGrpSpPr>
          <p:cNvPr id="2527" name="Google Shape;2527;p48">
            <a:extLst>
              <a:ext uri="{FF2B5EF4-FFF2-40B4-BE49-F238E27FC236}">
                <a16:creationId xmlns:a16="http://schemas.microsoft.com/office/drawing/2014/main" id="{14FD94E4-9D63-61C3-0C7D-91BF29BEF6E1}"/>
              </a:ext>
            </a:extLst>
          </p:cNvPr>
          <p:cNvGrpSpPr/>
          <p:nvPr/>
        </p:nvGrpSpPr>
        <p:grpSpPr>
          <a:xfrm>
            <a:off x="921788" y="974656"/>
            <a:ext cx="506100" cy="4014537"/>
            <a:chOff x="1084825" y="2246100"/>
            <a:chExt cx="506100" cy="2323925"/>
          </a:xfrm>
        </p:grpSpPr>
        <p:sp>
          <p:nvSpPr>
            <p:cNvPr id="2528" name="Google Shape;2528;p48">
              <a:extLst>
                <a:ext uri="{FF2B5EF4-FFF2-40B4-BE49-F238E27FC236}">
                  <a16:creationId xmlns:a16="http://schemas.microsoft.com/office/drawing/2014/main" id="{573431C4-F869-87D3-37A0-A04205FDBD23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2529" name="Google Shape;2529;p48">
              <a:extLst>
                <a:ext uri="{FF2B5EF4-FFF2-40B4-BE49-F238E27FC236}">
                  <a16:creationId xmlns:a16="http://schemas.microsoft.com/office/drawing/2014/main" id="{FD9A739A-6CDC-8289-2B76-E38F1097C7CE}"/>
                </a:ext>
              </a:extLst>
            </p:cNvPr>
            <p:cNvCxnSpPr/>
            <p:nvPr/>
          </p:nvCxnSpPr>
          <p:spPr>
            <a:xfrm>
              <a:off x="1337875" y="2246100"/>
              <a:ext cx="0" cy="1687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30" name="Google Shape;2530;p48">
            <a:extLst>
              <a:ext uri="{FF2B5EF4-FFF2-40B4-BE49-F238E27FC236}">
                <a16:creationId xmlns:a16="http://schemas.microsoft.com/office/drawing/2014/main" id="{A2498808-3ABB-BB5B-2B18-6051345D233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grpSp>
        <p:nvGrpSpPr>
          <p:cNvPr id="2531" name="Google Shape;2531;p48">
            <a:extLst>
              <a:ext uri="{FF2B5EF4-FFF2-40B4-BE49-F238E27FC236}">
                <a16:creationId xmlns:a16="http://schemas.microsoft.com/office/drawing/2014/main" id="{05D297DA-6168-20C2-3B69-DA736D4CE904}"/>
              </a:ext>
            </a:extLst>
          </p:cNvPr>
          <p:cNvGrpSpPr/>
          <p:nvPr/>
        </p:nvGrpSpPr>
        <p:grpSpPr>
          <a:xfrm>
            <a:off x="4994678" y="1173377"/>
            <a:ext cx="3439196" cy="2775803"/>
            <a:chOff x="4994678" y="1173377"/>
            <a:chExt cx="3439196" cy="2775803"/>
          </a:xfrm>
        </p:grpSpPr>
        <p:grpSp>
          <p:nvGrpSpPr>
            <p:cNvPr id="2532" name="Google Shape;2532;p48">
              <a:extLst>
                <a:ext uri="{FF2B5EF4-FFF2-40B4-BE49-F238E27FC236}">
                  <a16:creationId xmlns:a16="http://schemas.microsoft.com/office/drawing/2014/main" id="{7CCC76A5-1819-492C-E81A-62D7E9D48598}"/>
                </a:ext>
              </a:extLst>
            </p:cNvPr>
            <p:cNvGrpSpPr/>
            <p:nvPr/>
          </p:nvGrpSpPr>
          <p:grpSpPr>
            <a:xfrm>
              <a:off x="4994678" y="1173377"/>
              <a:ext cx="3439196" cy="2775803"/>
              <a:chOff x="4572031" y="1415284"/>
              <a:chExt cx="2875341" cy="2319354"/>
            </a:xfrm>
          </p:grpSpPr>
          <p:grpSp>
            <p:nvGrpSpPr>
              <p:cNvPr id="2533" name="Google Shape;2533;p48">
                <a:extLst>
                  <a:ext uri="{FF2B5EF4-FFF2-40B4-BE49-F238E27FC236}">
                    <a16:creationId xmlns:a16="http://schemas.microsoft.com/office/drawing/2014/main" id="{94C49A79-0413-DF90-3FF7-578E5BABAF6D}"/>
                  </a:ext>
                </a:extLst>
              </p:cNvPr>
              <p:cNvGrpSpPr/>
              <p:nvPr/>
            </p:nvGrpSpPr>
            <p:grpSpPr>
              <a:xfrm>
                <a:off x="4572031" y="1415284"/>
                <a:ext cx="2875341" cy="1993075"/>
                <a:chOff x="3665860" y="822037"/>
                <a:chExt cx="4758136" cy="3243937"/>
              </a:xfrm>
            </p:grpSpPr>
            <p:grpSp>
              <p:nvGrpSpPr>
                <p:cNvPr id="2534" name="Google Shape;2534;p48">
                  <a:extLst>
                    <a:ext uri="{FF2B5EF4-FFF2-40B4-BE49-F238E27FC236}">
                      <a16:creationId xmlns:a16="http://schemas.microsoft.com/office/drawing/2014/main" id="{4F453B9B-8D54-8D3D-9A09-104B59D9D06D}"/>
                    </a:ext>
                  </a:extLst>
                </p:cNvPr>
                <p:cNvGrpSpPr/>
                <p:nvPr/>
              </p:nvGrpSpPr>
              <p:grpSpPr>
                <a:xfrm>
                  <a:off x="3665860" y="822037"/>
                  <a:ext cx="4758136" cy="3243937"/>
                  <a:chOff x="518725" y="252435"/>
                  <a:chExt cx="6524250" cy="4448015"/>
                </a:xfrm>
              </p:grpSpPr>
              <p:sp>
                <p:nvSpPr>
                  <p:cNvPr id="2535" name="Google Shape;2535;p48">
                    <a:extLst>
                      <a:ext uri="{FF2B5EF4-FFF2-40B4-BE49-F238E27FC236}">
                        <a16:creationId xmlns:a16="http://schemas.microsoft.com/office/drawing/2014/main" id="{4C3FDFA6-2B87-B2E3-75BE-D3C943D5F0BE}"/>
                      </a:ext>
                    </a:extLst>
                  </p:cNvPr>
                  <p:cNvSpPr/>
                  <p:nvPr/>
                </p:nvSpPr>
                <p:spPr>
                  <a:xfrm>
                    <a:off x="518725" y="4131625"/>
                    <a:ext cx="6524250" cy="568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22753" extrusionOk="0">
                        <a:moveTo>
                          <a:pt x="0" y="14846"/>
                        </a:moveTo>
                        <a:cubicBezTo>
                          <a:pt x="0" y="19169"/>
                          <a:pt x="4039" y="22753"/>
                          <a:pt x="8305" y="22753"/>
                        </a:cubicBezTo>
                        <a:lnTo>
                          <a:pt x="253120" y="22753"/>
                        </a:lnTo>
                        <a:cubicBezTo>
                          <a:pt x="257443" y="22696"/>
                          <a:pt x="260913" y="19169"/>
                          <a:pt x="260970" y="14846"/>
                        </a:cubicBezTo>
                        <a:lnTo>
                          <a:pt x="26097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accent3"/>
                      </a:solidFill>
                    </a:endParaRPr>
                  </a:p>
                </p:txBody>
              </p:sp>
              <p:sp>
                <p:nvSpPr>
                  <p:cNvPr id="2536" name="Google Shape;2536;p48">
                    <a:extLst>
                      <a:ext uri="{FF2B5EF4-FFF2-40B4-BE49-F238E27FC236}">
                        <a16:creationId xmlns:a16="http://schemas.microsoft.com/office/drawing/2014/main" id="{8D167F56-8B68-2B5E-47B4-8A96D3D79AEF}"/>
                      </a:ext>
                    </a:extLst>
                  </p:cNvPr>
                  <p:cNvSpPr/>
                  <p:nvPr/>
                </p:nvSpPr>
                <p:spPr>
                  <a:xfrm>
                    <a:off x="518725" y="252435"/>
                    <a:ext cx="6524250" cy="3893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155741" extrusionOk="0">
                        <a:moveTo>
                          <a:pt x="249594" y="9954"/>
                        </a:moveTo>
                        <a:lnTo>
                          <a:pt x="249594" y="144364"/>
                        </a:lnTo>
                        <a:lnTo>
                          <a:pt x="11376" y="144364"/>
                        </a:lnTo>
                        <a:lnTo>
                          <a:pt x="11376" y="9954"/>
                        </a:lnTo>
                        <a:close/>
                        <a:moveTo>
                          <a:pt x="8305" y="0"/>
                        </a:moveTo>
                        <a:cubicBezTo>
                          <a:pt x="4039" y="0"/>
                          <a:pt x="0" y="2844"/>
                          <a:pt x="0" y="7110"/>
                        </a:cubicBezTo>
                        <a:lnTo>
                          <a:pt x="0" y="155740"/>
                        </a:lnTo>
                        <a:lnTo>
                          <a:pt x="260970" y="155740"/>
                        </a:lnTo>
                        <a:lnTo>
                          <a:pt x="260970" y="7110"/>
                        </a:lnTo>
                        <a:cubicBezTo>
                          <a:pt x="260970" y="2844"/>
                          <a:pt x="257386" y="0"/>
                          <a:pt x="25312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accent3"/>
                      </a:solidFill>
                    </a:endParaRPr>
                  </a:p>
                </p:txBody>
              </p:sp>
            </p:grpSp>
            <p:sp>
              <p:nvSpPr>
                <p:cNvPr id="2537" name="Google Shape;2537;p48">
                  <a:extLst>
                    <a:ext uri="{FF2B5EF4-FFF2-40B4-BE49-F238E27FC236}">
                      <a16:creationId xmlns:a16="http://schemas.microsoft.com/office/drawing/2014/main" id="{DB30CE14-C65E-EFAA-0780-B94557D4E2A3}"/>
                    </a:ext>
                  </a:extLst>
                </p:cNvPr>
                <p:cNvSpPr/>
                <p:nvPr/>
              </p:nvSpPr>
              <p:spPr>
                <a:xfrm>
                  <a:off x="5947879" y="3778845"/>
                  <a:ext cx="194076" cy="166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7" h="9100" extrusionOk="0">
                      <a:moveTo>
                        <a:pt x="6092" y="0"/>
                      </a:moveTo>
                      <a:cubicBezTo>
                        <a:pt x="2020" y="0"/>
                        <a:pt x="0" y="4900"/>
                        <a:pt x="2881" y="7747"/>
                      </a:cubicBezTo>
                      <a:cubicBezTo>
                        <a:pt x="3804" y="8681"/>
                        <a:pt x="4944" y="9100"/>
                        <a:pt x="6063" y="9100"/>
                      </a:cubicBezTo>
                      <a:cubicBezTo>
                        <a:pt x="8391" y="9100"/>
                        <a:pt x="10627" y="7286"/>
                        <a:pt x="10627" y="4536"/>
                      </a:cubicBezTo>
                      <a:cubicBezTo>
                        <a:pt x="10627" y="2020"/>
                        <a:pt x="8608" y="0"/>
                        <a:pt x="609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</p:grpSp>
          <p:sp>
            <p:nvSpPr>
              <p:cNvPr id="2538" name="Google Shape;2538;p48">
                <a:extLst>
                  <a:ext uri="{FF2B5EF4-FFF2-40B4-BE49-F238E27FC236}">
                    <a16:creationId xmlns:a16="http://schemas.microsoft.com/office/drawing/2014/main" id="{6C12CDD7-196D-8811-4FAC-6CA8CE8AE9FB}"/>
                  </a:ext>
                </a:extLst>
              </p:cNvPr>
              <p:cNvSpPr/>
              <p:nvPr/>
            </p:nvSpPr>
            <p:spPr>
              <a:xfrm>
                <a:off x="5498909" y="3408365"/>
                <a:ext cx="1040944" cy="326273"/>
              </a:xfrm>
              <a:custGeom>
                <a:avLst/>
                <a:gdLst/>
                <a:ahLst/>
                <a:cxnLst/>
                <a:rect l="l" t="t" r="r" b="b"/>
                <a:pathLst>
                  <a:path w="94481" h="29125" extrusionOk="0">
                    <a:moveTo>
                      <a:pt x="79805" y="18317"/>
                    </a:moveTo>
                    <a:cubicBezTo>
                      <a:pt x="74117" y="12515"/>
                      <a:pt x="73889" y="1"/>
                      <a:pt x="73889" y="1"/>
                    </a:cubicBezTo>
                    <a:lnTo>
                      <a:pt x="20592" y="1"/>
                    </a:lnTo>
                    <a:cubicBezTo>
                      <a:pt x="20592" y="1"/>
                      <a:pt x="20364" y="12515"/>
                      <a:pt x="14676" y="18317"/>
                    </a:cubicBezTo>
                    <a:cubicBezTo>
                      <a:pt x="8931" y="24175"/>
                      <a:pt x="1" y="29124"/>
                      <a:pt x="15529" y="29124"/>
                    </a:cubicBezTo>
                    <a:lnTo>
                      <a:pt x="78952" y="29124"/>
                    </a:lnTo>
                    <a:cubicBezTo>
                      <a:pt x="94480" y="29124"/>
                      <a:pt x="85493" y="24175"/>
                      <a:pt x="79805" y="1831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</p:grpSp>
        <p:cxnSp>
          <p:nvCxnSpPr>
            <p:cNvPr id="2539" name="Google Shape;2539;p48">
              <a:extLst>
                <a:ext uri="{FF2B5EF4-FFF2-40B4-BE49-F238E27FC236}">
                  <a16:creationId xmlns:a16="http://schemas.microsoft.com/office/drawing/2014/main" id="{0AE9A37A-F23E-FFF0-70CB-54C7BF96AB7B}"/>
                </a:ext>
              </a:extLst>
            </p:cNvPr>
            <p:cNvCxnSpPr/>
            <p:nvPr/>
          </p:nvCxnSpPr>
          <p:spPr>
            <a:xfrm rot="10800000">
              <a:off x="5370275" y="3949180"/>
              <a:ext cx="2688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51C5439-5C63-AA39-9348-4BAEADF3B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170" y="1307320"/>
            <a:ext cx="3127674" cy="176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36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>
          <a:extLst>
            <a:ext uri="{FF2B5EF4-FFF2-40B4-BE49-F238E27FC236}">
              <a16:creationId xmlns:a16="http://schemas.microsoft.com/office/drawing/2014/main" id="{571FB4E4-E3BC-07A9-7913-E3C57B7C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>
            <a:extLst>
              <a:ext uri="{FF2B5EF4-FFF2-40B4-BE49-F238E27FC236}">
                <a16:creationId xmlns:a16="http://schemas.microsoft.com/office/drawing/2014/main" id="{3157003F-871E-E6DB-31C2-1BFECD9B25E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22121" y="1245681"/>
            <a:ext cx="8400138" cy="31466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accent2"/>
                </a:solidFill>
              </a:rPr>
              <a:t>Caracteristicile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fișier</a:t>
            </a:r>
            <a:r>
              <a:rPr lang="en-US" dirty="0"/>
              <a:t> FIFO:</a:t>
            </a:r>
          </a:p>
          <a:p>
            <a:pPr marL="457200" lvl="1" indent="0">
              <a:lnSpc>
                <a:spcPct val="150000"/>
              </a:lnSpc>
            </a:pPr>
            <a:endParaRPr lang="en-US" dirty="0"/>
          </a:p>
          <a:p>
            <a:pPr marL="457200" lvl="1" indent="0">
              <a:lnSpc>
                <a:spcPct val="150000"/>
              </a:lnSpc>
            </a:pPr>
            <a:r>
              <a:rPr lang="en-US" sz="1100" dirty="0"/>
              <a:t>&lt; Canal de </a:t>
            </a:r>
            <a:r>
              <a:rPr lang="en-US" sz="1100" dirty="0" err="1"/>
              <a:t>comunicare</a:t>
            </a:r>
            <a:r>
              <a:rPr lang="en-US" sz="1100" dirty="0"/>
              <a:t> </a:t>
            </a:r>
            <a:r>
              <a:rPr lang="en-US" sz="1100" dirty="0" err="1"/>
              <a:t>unidirecțional</a:t>
            </a:r>
            <a:r>
              <a:rPr lang="en-US" sz="1100" dirty="0"/>
              <a:t> </a:t>
            </a:r>
            <a:r>
              <a:rPr lang="en-US" sz="1100" dirty="0" err="1"/>
              <a:t>între</a:t>
            </a:r>
            <a:r>
              <a:rPr lang="en-US" sz="1100" dirty="0"/>
              <a:t> </a:t>
            </a:r>
            <a:r>
              <a:rPr lang="en-US" sz="1100" dirty="0" err="1"/>
              <a:t>procese</a:t>
            </a:r>
            <a:r>
              <a:rPr lang="en-US" sz="1100" dirty="0"/>
              <a:t>.&gt;</a:t>
            </a:r>
          </a:p>
          <a:p>
            <a:pPr marL="457200" lvl="1" indent="0">
              <a:lnSpc>
                <a:spcPct val="150000"/>
              </a:lnSpc>
            </a:pPr>
            <a:r>
              <a:rPr lang="en-US" sz="1100" dirty="0"/>
              <a:t>&lt; Se </a:t>
            </a:r>
            <a:r>
              <a:rPr lang="en-US" sz="1100" dirty="0" err="1"/>
              <a:t>comportă</a:t>
            </a:r>
            <a:r>
              <a:rPr lang="en-US" sz="1100" dirty="0"/>
              <a:t> ca o </a:t>
            </a:r>
            <a:r>
              <a:rPr lang="en-US" sz="1100" dirty="0" err="1"/>
              <a:t>țeavă</a:t>
            </a:r>
            <a:r>
              <a:rPr lang="en-US" sz="1100" dirty="0"/>
              <a:t> (pipe): un </a:t>
            </a:r>
            <a:r>
              <a:rPr lang="en-US" sz="1100" dirty="0" err="1"/>
              <a:t>proces</a:t>
            </a:r>
            <a:r>
              <a:rPr lang="en-US" sz="1100" dirty="0"/>
              <a:t> </a:t>
            </a:r>
            <a:r>
              <a:rPr lang="en-US" sz="1100" dirty="0" err="1"/>
              <a:t>scrie</a:t>
            </a:r>
            <a:r>
              <a:rPr lang="en-US" sz="1100" dirty="0"/>
              <a:t> </a:t>
            </a:r>
            <a:r>
              <a:rPr lang="en-US" sz="1100" dirty="0" err="1"/>
              <a:t>într</a:t>
            </a:r>
            <a:r>
              <a:rPr lang="en-US" sz="1100" dirty="0"/>
              <a:t>-un FIFO, </a:t>
            </a:r>
            <a:r>
              <a:rPr lang="en-US" sz="1100" dirty="0" err="1"/>
              <a:t>iar</a:t>
            </a:r>
            <a:r>
              <a:rPr lang="en-US" sz="1100" dirty="0"/>
              <a:t> alt </a:t>
            </a:r>
            <a:r>
              <a:rPr lang="en-US" sz="1100" dirty="0" err="1"/>
              <a:t>proces</a:t>
            </a:r>
            <a:r>
              <a:rPr lang="en-US" sz="1100" dirty="0"/>
              <a:t> </a:t>
            </a:r>
            <a:r>
              <a:rPr lang="en-US" sz="1100" dirty="0" err="1"/>
              <a:t>citește</a:t>
            </a:r>
            <a:r>
              <a:rPr lang="en-US" sz="1100" dirty="0"/>
              <a:t> din el.&gt;</a:t>
            </a:r>
          </a:p>
          <a:p>
            <a:pPr marL="457200" lvl="1" indent="0">
              <a:lnSpc>
                <a:spcPct val="150000"/>
              </a:lnSpc>
            </a:pPr>
            <a:r>
              <a:rPr lang="en-US" sz="1100" dirty="0"/>
              <a:t>&lt; Nu are </a:t>
            </a:r>
            <a:r>
              <a:rPr lang="en-US" sz="1100" dirty="0" err="1"/>
              <a:t>logică</a:t>
            </a:r>
            <a:r>
              <a:rPr lang="en-US" sz="1100" dirty="0"/>
              <a:t> </a:t>
            </a:r>
            <a:r>
              <a:rPr lang="en-US" sz="1100" dirty="0" err="1"/>
              <a:t>proprie</a:t>
            </a:r>
            <a:r>
              <a:rPr lang="en-US" sz="1100" dirty="0"/>
              <a:t> de </a:t>
            </a:r>
            <a:r>
              <a:rPr lang="en-US" sz="1100" dirty="0" err="1"/>
              <a:t>prelucrare</a:t>
            </a:r>
            <a:r>
              <a:rPr lang="en-US" sz="1100" dirty="0"/>
              <a:t> – </a:t>
            </a:r>
            <a:r>
              <a:rPr lang="en-US" sz="1100" dirty="0" err="1"/>
              <a:t>pur</a:t>
            </a:r>
            <a:r>
              <a:rPr lang="en-US" sz="1100" dirty="0"/>
              <a:t> </a:t>
            </a:r>
            <a:r>
              <a:rPr lang="en-US" sz="1100" dirty="0" err="1"/>
              <a:t>și</a:t>
            </a:r>
            <a:r>
              <a:rPr lang="en-US" sz="1100" dirty="0"/>
              <a:t> </a:t>
            </a:r>
            <a:r>
              <a:rPr lang="en-US" sz="1100" dirty="0" err="1"/>
              <a:t>simplu</a:t>
            </a:r>
            <a:r>
              <a:rPr lang="en-US" sz="1100" dirty="0"/>
              <a:t> </a:t>
            </a:r>
            <a:r>
              <a:rPr lang="en-US" sz="1100" dirty="0" err="1"/>
              <a:t>transmite</a:t>
            </a:r>
            <a:r>
              <a:rPr lang="en-US" sz="1100" dirty="0"/>
              <a:t> date.&gt;</a:t>
            </a:r>
          </a:p>
          <a:p>
            <a:pPr marL="457200" lvl="1" indent="0">
              <a:lnSpc>
                <a:spcPct val="150000"/>
              </a:lnSpc>
            </a:pPr>
            <a:r>
              <a:rPr lang="en-US" sz="1100" dirty="0"/>
              <a:t>&lt; Este un </a:t>
            </a:r>
            <a:r>
              <a:rPr lang="en-US" sz="1100" dirty="0" err="1"/>
              <a:t>fișier</a:t>
            </a:r>
            <a:r>
              <a:rPr lang="en-US" sz="1100" dirty="0"/>
              <a:t> special, </a:t>
            </a:r>
            <a:r>
              <a:rPr lang="en-US" sz="1100" b="1" dirty="0" err="1">
                <a:solidFill>
                  <a:schemeClr val="accent1">
                    <a:lumMod val="75000"/>
                  </a:schemeClr>
                </a:solidFill>
              </a:rPr>
              <a:t>creat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 cu </a:t>
            </a:r>
            <a:r>
              <a:rPr lang="en-US" sz="1100" b="1" dirty="0" err="1">
                <a:solidFill>
                  <a:schemeClr val="accent1">
                    <a:lumMod val="75000"/>
                  </a:schemeClr>
                </a:solidFill>
              </a:rPr>
              <a:t>comanda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100" b="1" dirty="0" err="1">
                <a:solidFill>
                  <a:schemeClr val="accent1">
                    <a:lumMod val="75000"/>
                  </a:schemeClr>
                </a:solidFill>
              </a:rPr>
              <a:t>mkfifo</a:t>
            </a:r>
            <a:r>
              <a:rPr lang="en-US" sz="1100" dirty="0"/>
              <a:t>.&gt;</a:t>
            </a:r>
          </a:p>
          <a:p>
            <a:pPr marL="457200" lvl="1" indent="0">
              <a:lnSpc>
                <a:spcPct val="150000"/>
              </a:lnSpc>
            </a:pPr>
            <a:r>
              <a:rPr lang="en-US" sz="1100" dirty="0"/>
              <a:t>&lt;</a:t>
            </a:r>
            <a:r>
              <a:rPr lang="en-US" sz="1100" dirty="0" err="1"/>
              <a:t>Blochează</a:t>
            </a:r>
            <a:r>
              <a:rPr lang="en-US" sz="1100" dirty="0"/>
              <a:t> </a:t>
            </a:r>
            <a:r>
              <a:rPr lang="en-US" sz="1100" dirty="0" err="1"/>
              <a:t>procesele</a:t>
            </a:r>
            <a:r>
              <a:rPr lang="en-US" sz="1100" dirty="0"/>
              <a:t> </a:t>
            </a:r>
            <a:r>
              <a:rPr lang="en-US" sz="1100" dirty="0" err="1"/>
              <a:t>până</a:t>
            </a:r>
            <a:r>
              <a:rPr lang="en-US" sz="1100" dirty="0"/>
              <a:t> </a:t>
            </a:r>
            <a:r>
              <a:rPr lang="en-US" sz="1100" dirty="0" err="1"/>
              <a:t>când</a:t>
            </a:r>
            <a:r>
              <a:rPr lang="en-US" sz="1100" dirty="0"/>
              <a:t> </a:t>
            </a:r>
            <a:r>
              <a:rPr lang="en-US" sz="1100" dirty="0" err="1"/>
              <a:t>există</a:t>
            </a:r>
            <a:r>
              <a:rPr lang="en-US" sz="1100" dirty="0"/>
              <a:t> date </a:t>
            </a:r>
            <a:r>
              <a:rPr lang="en-US" sz="1100" dirty="0" err="1"/>
              <a:t>disponibile</a:t>
            </a:r>
            <a:r>
              <a:rPr lang="en-US" sz="1100" dirty="0"/>
              <a:t> </a:t>
            </a:r>
            <a:r>
              <a:rPr lang="en-US" sz="1100" dirty="0" err="1"/>
              <a:t>pentru</a:t>
            </a:r>
            <a:r>
              <a:rPr lang="en-US" sz="1100" dirty="0"/>
              <a:t> </a:t>
            </a:r>
            <a:r>
              <a:rPr lang="en-US" sz="1100" dirty="0" err="1"/>
              <a:t>citire</a:t>
            </a:r>
            <a:r>
              <a:rPr lang="en-US" sz="1100" dirty="0"/>
              <a:t> </a:t>
            </a:r>
            <a:r>
              <a:rPr lang="en-US" sz="1100" dirty="0" err="1"/>
              <a:t>sau</a:t>
            </a:r>
            <a:r>
              <a:rPr lang="en-US" sz="1100" dirty="0"/>
              <a:t> un loc </a:t>
            </a:r>
            <a:r>
              <a:rPr lang="en-US" sz="1100" dirty="0" err="1"/>
              <a:t>disponibil</a:t>
            </a:r>
            <a:r>
              <a:rPr lang="en-US" sz="1100" dirty="0"/>
              <a:t> </a:t>
            </a:r>
            <a:r>
              <a:rPr lang="en-US" sz="1100" dirty="0" err="1"/>
              <a:t>pentru</a:t>
            </a:r>
            <a:r>
              <a:rPr lang="en-US" sz="1100" dirty="0"/>
              <a:t> </a:t>
            </a:r>
            <a:r>
              <a:rPr lang="en-US" sz="1100" dirty="0" err="1"/>
              <a:t>scriere</a:t>
            </a:r>
            <a:r>
              <a:rPr lang="en-US" sz="1100" dirty="0"/>
              <a:t> (</a:t>
            </a:r>
            <a:r>
              <a:rPr lang="en-US" sz="1100" dirty="0" err="1"/>
              <a:t>adică</a:t>
            </a:r>
            <a:r>
              <a:rPr lang="en-US" sz="1100" dirty="0"/>
              <a:t> </a:t>
            </a:r>
            <a:r>
              <a:rPr lang="en-US" sz="1100" dirty="0" err="1"/>
              <a:t>citirea</a:t>
            </a:r>
            <a:r>
              <a:rPr lang="en-US" sz="1100" dirty="0"/>
              <a:t> </a:t>
            </a:r>
            <a:r>
              <a:rPr lang="en-US" sz="1100" dirty="0" err="1"/>
              <a:t>sau</a:t>
            </a:r>
            <a:r>
              <a:rPr lang="en-US" sz="1100" dirty="0"/>
              <a:t> </a:t>
            </a:r>
            <a:r>
              <a:rPr lang="en-US" sz="1100" dirty="0" err="1"/>
              <a:t>scrierea</a:t>
            </a:r>
            <a:r>
              <a:rPr lang="en-US" sz="1100" dirty="0"/>
              <a:t> </a:t>
            </a:r>
            <a:r>
              <a:rPr lang="en-US" sz="1100" dirty="0" err="1"/>
              <a:t>într</a:t>
            </a:r>
            <a:r>
              <a:rPr lang="en-US" sz="1100" dirty="0"/>
              <a:t>-un FIFO nu </a:t>
            </a:r>
            <a:r>
              <a:rPr lang="en-US" sz="1100" dirty="0" err="1"/>
              <a:t>poate</a:t>
            </a:r>
            <a:r>
              <a:rPr lang="en-US" sz="1100" dirty="0"/>
              <a:t> </a:t>
            </a:r>
            <a:r>
              <a:rPr lang="en-US" sz="1100" dirty="0" err="1"/>
              <a:t>avea</a:t>
            </a:r>
            <a:r>
              <a:rPr lang="en-US" sz="1100" dirty="0"/>
              <a:t> loc </a:t>
            </a:r>
            <a:r>
              <a:rPr lang="en-US" sz="1100" dirty="0" err="1"/>
              <a:t>decât</a:t>
            </a:r>
            <a:r>
              <a:rPr lang="en-US" sz="1100" dirty="0"/>
              <a:t> </a:t>
            </a:r>
            <a:r>
              <a:rPr lang="en-US" sz="1100" dirty="0" err="1"/>
              <a:t>dacă</a:t>
            </a:r>
            <a:r>
              <a:rPr lang="en-US" sz="1100" dirty="0"/>
              <a:t> </a:t>
            </a:r>
            <a:r>
              <a:rPr lang="en-US" sz="1100" dirty="0" err="1"/>
              <a:t>celălalt</a:t>
            </a:r>
            <a:r>
              <a:rPr lang="en-US" sz="1100" dirty="0"/>
              <a:t> </a:t>
            </a:r>
            <a:r>
              <a:rPr lang="en-US" sz="1100" dirty="0" err="1"/>
              <a:t>proces</a:t>
            </a:r>
            <a:r>
              <a:rPr lang="en-US" sz="1100" dirty="0"/>
              <a:t> </a:t>
            </a:r>
            <a:r>
              <a:rPr lang="en-US" sz="1100" dirty="0" err="1"/>
              <a:t>este</a:t>
            </a:r>
            <a:r>
              <a:rPr lang="en-US" sz="1100" dirty="0"/>
              <a:t> </a:t>
            </a:r>
            <a:r>
              <a:rPr lang="en-US" sz="1100" dirty="0" err="1"/>
              <a:t>pregătit</a:t>
            </a:r>
            <a:r>
              <a:rPr lang="en-US" sz="1100" dirty="0"/>
              <a:t> </a:t>
            </a:r>
            <a:r>
              <a:rPr lang="en-US" sz="1100" dirty="0" err="1"/>
              <a:t>să</a:t>
            </a:r>
            <a:r>
              <a:rPr lang="en-US" sz="1100" dirty="0"/>
              <a:t> </a:t>
            </a:r>
            <a:r>
              <a:rPr lang="en-US" sz="1100" dirty="0" err="1"/>
              <a:t>participe</a:t>
            </a:r>
            <a:r>
              <a:rPr lang="en-US" sz="1100" dirty="0"/>
              <a:t>). &gt;</a:t>
            </a:r>
          </a:p>
          <a:p>
            <a:pPr marL="457200" lvl="1" indent="0">
              <a:lnSpc>
                <a:spcPct val="150000"/>
              </a:lnSpc>
            </a:pP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515" name="Google Shape;515;p31">
            <a:extLst>
              <a:ext uri="{FF2B5EF4-FFF2-40B4-BE49-F238E27FC236}">
                <a16:creationId xmlns:a16="http://schemas.microsoft.com/office/drawing/2014/main" id="{29803CB1-EB7B-2C27-B5A6-6A0D6029DF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4825" y="590281"/>
            <a:ext cx="4285338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&lt; /</a:t>
            </a:r>
            <a:r>
              <a:rPr lang="ro-RO" sz="2400" dirty="0"/>
              <a:t>2</a:t>
            </a:r>
            <a:r>
              <a:rPr lang="en" sz="2400" dirty="0"/>
              <a:t> &gt; </a:t>
            </a:r>
            <a:r>
              <a:rPr lang="ro-RO" sz="2400" dirty="0"/>
              <a:t>Fișierul FIFO</a:t>
            </a:r>
            <a:r>
              <a:rPr lang="en" sz="2400" dirty="0"/>
              <a:t> </a:t>
            </a:r>
            <a:r>
              <a:rPr lang="en" sz="2400" dirty="0">
                <a:solidFill>
                  <a:schemeClr val="accent6"/>
                </a:solidFill>
              </a:rPr>
              <a:t>{</a:t>
            </a:r>
            <a:r>
              <a:rPr lang="en" sz="2400" dirty="0"/>
              <a:t> </a:t>
            </a:r>
            <a:endParaRPr sz="2400" dirty="0"/>
          </a:p>
        </p:txBody>
      </p:sp>
      <p:sp>
        <p:nvSpPr>
          <p:cNvPr id="542" name="Google Shape;542;p31">
            <a:extLst>
              <a:ext uri="{FF2B5EF4-FFF2-40B4-BE49-F238E27FC236}">
                <a16:creationId xmlns:a16="http://schemas.microsoft.com/office/drawing/2014/main" id="{CA4A3FFC-95B6-7F64-226C-0C15A488343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43" name="Google Shape;543;p31">
            <a:extLst>
              <a:ext uri="{FF2B5EF4-FFF2-40B4-BE49-F238E27FC236}">
                <a16:creationId xmlns:a16="http://schemas.microsoft.com/office/drawing/2014/main" id="{FC3456B2-7D41-B9F1-AA5E-0C68EE2F436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544" name="Google Shape;544;p31">
            <a:extLst>
              <a:ext uri="{FF2B5EF4-FFF2-40B4-BE49-F238E27FC236}">
                <a16:creationId xmlns:a16="http://schemas.microsoft.com/office/drawing/2014/main" id="{E39BF8E8-4485-6FDF-F448-BFFF27E1513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53" name="Google Shape;553;p31">
            <a:extLst>
              <a:ext uri="{FF2B5EF4-FFF2-40B4-BE49-F238E27FC236}">
                <a16:creationId xmlns:a16="http://schemas.microsoft.com/office/drawing/2014/main" id="{D667327F-A1A1-11CA-BCDF-F91734FD6A9D}"/>
              </a:ext>
            </a:extLst>
          </p:cNvPr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3814731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 txBox="1">
            <a:spLocks noGrp="1"/>
          </p:cNvSpPr>
          <p:nvPr>
            <p:ph type="title"/>
          </p:nvPr>
        </p:nvSpPr>
        <p:spPr>
          <a:xfrm>
            <a:off x="1193493" y="796425"/>
            <a:ext cx="7625042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$ </a:t>
            </a:r>
            <a:r>
              <a:rPr lang="en" sz="2400" dirty="0"/>
              <a:t>Ce se </a:t>
            </a:r>
            <a:r>
              <a:rPr lang="ro-RO" sz="2400" dirty="0"/>
              <a:t>întâmplă când un client trimite o cerere</a:t>
            </a:r>
            <a:r>
              <a:rPr lang="en-US" sz="2400" dirty="0"/>
              <a:t>?</a:t>
            </a:r>
            <a:r>
              <a:rPr lang="en" sz="2400" dirty="0"/>
              <a:t> </a:t>
            </a:r>
            <a:r>
              <a:rPr lang="en" sz="2400" dirty="0">
                <a:solidFill>
                  <a:schemeClr val="accent6"/>
                </a:solidFill>
              </a:rPr>
              <a:t>{</a:t>
            </a:r>
            <a:endParaRPr sz="2400" dirty="0">
              <a:solidFill>
                <a:schemeClr val="accent6"/>
              </a:solidFill>
            </a:endParaRPr>
          </a:p>
        </p:txBody>
      </p:sp>
      <p:sp>
        <p:nvSpPr>
          <p:cNvPr id="562" name="Google Shape;562;p32"/>
          <p:cNvSpPr txBox="1">
            <a:spLocks noGrp="1"/>
          </p:cNvSpPr>
          <p:nvPr>
            <p:ph type="subTitle" idx="1"/>
          </p:nvPr>
        </p:nvSpPr>
        <p:spPr>
          <a:xfrm>
            <a:off x="1590925" y="2007608"/>
            <a:ext cx="7015384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2"/>
                </a:solidFill>
              </a:rPr>
              <a:t>BEGIN-REQ [client-</a:t>
            </a:r>
            <a:r>
              <a:rPr lang="en-US" sz="1800" dirty="0" err="1">
                <a:solidFill>
                  <a:schemeClr val="accent2"/>
                </a:solidFill>
              </a:rPr>
              <a:t>pid</a:t>
            </a:r>
            <a:r>
              <a:rPr lang="en-US" sz="1800" dirty="0">
                <a:solidFill>
                  <a:schemeClr val="accent2"/>
                </a:solidFill>
              </a:rPr>
              <a:t>: command-name] END-REQ</a:t>
            </a:r>
            <a:endParaRPr sz="1800" dirty="0">
              <a:solidFill>
                <a:schemeClr val="accent2"/>
              </a:solidFill>
            </a:endParaRPr>
          </a:p>
        </p:txBody>
      </p:sp>
      <p:grpSp>
        <p:nvGrpSpPr>
          <p:cNvPr id="563" name="Google Shape;563;p32"/>
          <p:cNvGrpSpPr/>
          <p:nvPr/>
        </p:nvGrpSpPr>
        <p:grpSpPr>
          <a:xfrm>
            <a:off x="1084825" y="1503336"/>
            <a:ext cx="506100" cy="3097589"/>
            <a:chOff x="1084825" y="1168950"/>
            <a:chExt cx="506100" cy="3431975"/>
          </a:xfrm>
        </p:grpSpPr>
        <p:sp>
          <p:nvSpPr>
            <p:cNvPr id="564" name="Google Shape;564;p32"/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/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8" name="Google Shape;568;p32"/>
          <p:cNvSpPr txBox="1"/>
          <p:nvPr/>
        </p:nvSpPr>
        <p:spPr>
          <a:xfrm>
            <a:off x="1220325" y="1923559"/>
            <a:ext cx="521388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Clientul va trimite cererea în formatul:</a:t>
            </a:r>
            <a:endParaRPr lang="it-IT" sz="110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</p:txBody>
      </p:sp>
      <p:sp>
        <p:nvSpPr>
          <p:cNvPr id="569" name="Google Shape;569;p32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571" name="Google Shape;571;p32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>
          <a:extLst>
            <a:ext uri="{FF2B5EF4-FFF2-40B4-BE49-F238E27FC236}">
              <a16:creationId xmlns:a16="http://schemas.microsoft.com/office/drawing/2014/main" id="{3EA10CD9-CD2F-65FA-9C3A-93399F17F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" name="Google Shape;563;p32">
            <a:extLst>
              <a:ext uri="{FF2B5EF4-FFF2-40B4-BE49-F238E27FC236}">
                <a16:creationId xmlns:a16="http://schemas.microsoft.com/office/drawing/2014/main" id="{41F6C02C-A0A9-0480-B294-8E3228FFA4FB}"/>
              </a:ext>
            </a:extLst>
          </p:cNvPr>
          <p:cNvGrpSpPr/>
          <p:nvPr/>
        </p:nvGrpSpPr>
        <p:grpSpPr>
          <a:xfrm>
            <a:off x="1053828" y="757752"/>
            <a:ext cx="506100" cy="3904311"/>
            <a:chOff x="1084825" y="1168950"/>
            <a:chExt cx="506100" cy="3431975"/>
          </a:xfrm>
        </p:grpSpPr>
        <p:sp>
          <p:nvSpPr>
            <p:cNvPr id="564" name="Google Shape;564;p32">
              <a:extLst>
                <a:ext uri="{FF2B5EF4-FFF2-40B4-BE49-F238E27FC236}">
                  <a16:creationId xmlns:a16="http://schemas.microsoft.com/office/drawing/2014/main" id="{AEEB104D-4ADD-B44F-7109-0F5F3A3F0273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>
              <a:extLst>
                <a:ext uri="{FF2B5EF4-FFF2-40B4-BE49-F238E27FC236}">
                  <a16:creationId xmlns:a16="http://schemas.microsoft.com/office/drawing/2014/main" id="{17196ADD-F1BE-D5F7-C1D1-FDF61B04988C}"/>
                </a:ext>
              </a:extLst>
            </p:cNvPr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9" name="Google Shape;569;p32">
            <a:extLst>
              <a:ext uri="{FF2B5EF4-FFF2-40B4-BE49-F238E27FC236}">
                <a16:creationId xmlns:a16="http://schemas.microsoft.com/office/drawing/2014/main" id="{9AFCB465-2AA9-50ED-B565-5E280FBD240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>
            <a:extLst>
              <a:ext uri="{FF2B5EF4-FFF2-40B4-BE49-F238E27FC236}">
                <a16:creationId xmlns:a16="http://schemas.microsoft.com/office/drawing/2014/main" id="{EFF6651F-8052-7971-9F25-EA41BC60C93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571" name="Google Shape;571;p32">
            <a:extLst>
              <a:ext uri="{FF2B5EF4-FFF2-40B4-BE49-F238E27FC236}">
                <a16:creationId xmlns:a16="http://schemas.microsoft.com/office/drawing/2014/main" id="{393AFF99-9FF3-445C-F099-8BB994C05EB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1282;p61">
            <a:extLst>
              <a:ext uri="{FF2B5EF4-FFF2-40B4-BE49-F238E27FC236}">
                <a16:creationId xmlns:a16="http://schemas.microsoft.com/office/drawing/2014/main" id="{F05602FF-C9F2-7A51-58FA-F72F2B4AAFDC}"/>
              </a:ext>
            </a:extLst>
          </p:cNvPr>
          <p:cNvSpPr txBox="1"/>
          <p:nvPr/>
        </p:nvSpPr>
        <p:spPr>
          <a:xfrm>
            <a:off x="1646425" y="2142847"/>
            <a:ext cx="633600" cy="551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yncopate"/>
              </a:rPr>
              <a:t>01</a:t>
            </a:r>
            <a:endParaRPr sz="21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Syncopate"/>
            </a:endParaRPr>
          </a:p>
        </p:txBody>
      </p:sp>
      <p:sp>
        <p:nvSpPr>
          <p:cNvPr id="8" name="Google Shape;1282;p61">
            <a:extLst>
              <a:ext uri="{FF2B5EF4-FFF2-40B4-BE49-F238E27FC236}">
                <a16:creationId xmlns:a16="http://schemas.microsoft.com/office/drawing/2014/main" id="{85B8BAEF-FA6C-F6EE-4D53-3FE235AAC728}"/>
              </a:ext>
            </a:extLst>
          </p:cNvPr>
          <p:cNvSpPr txBox="1"/>
          <p:nvPr/>
        </p:nvSpPr>
        <p:spPr>
          <a:xfrm>
            <a:off x="3700128" y="2142847"/>
            <a:ext cx="633600" cy="551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yncopate"/>
              </a:rPr>
              <a:t>02</a:t>
            </a:r>
            <a:endParaRPr sz="21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Syncopate"/>
            </a:endParaRPr>
          </a:p>
        </p:txBody>
      </p:sp>
      <p:sp>
        <p:nvSpPr>
          <p:cNvPr id="10" name="Google Shape;1282;p61">
            <a:extLst>
              <a:ext uri="{FF2B5EF4-FFF2-40B4-BE49-F238E27FC236}">
                <a16:creationId xmlns:a16="http://schemas.microsoft.com/office/drawing/2014/main" id="{A11682EA-760D-458C-CCE7-4BD793F44C4E}"/>
              </a:ext>
            </a:extLst>
          </p:cNvPr>
          <p:cNvSpPr txBox="1"/>
          <p:nvPr/>
        </p:nvSpPr>
        <p:spPr>
          <a:xfrm>
            <a:off x="5709085" y="2142847"/>
            <a:ext cx="633600" cy="551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yncopate"/>
              </a:rPr>
              <a:t>03</a:t>
            </a:r>
            <a:endParaRPr sz="21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Syncopate"/>
            </a:endParaRPr>
          </a:p>
        </p:txBody>
      </p:sp>
      <p:sp>
        <p:nvSpPr>
          <p:cNvPr id="12" name="Google Shape;1282;p61">
            <a:extLst>
              <a:ext uri="{FF2B5EF4-FFF2-40B4-BE49-F238E27FC236}">
                <a16:creationId xmlns:a16="http://schemas.microsoft.com/office/drawing/2014/main" id="{2B7E8F99-F1BF-03D3-24CF-DD718517B9E5}"/>
              </a:ext>
            </a:extLst>
          </p:cNvPr>
          <p:cNvSpPr txBox="1"/>
          <p:nvPr/>
        </p:nvSpPr>
        <p:spPr>
          <a:xfrm>
            <a:off x="7704436" y="2142847"/>
            <a:ext cx="633600" cy="551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yncopate"/>
              </a:rPr>
              <a:t>04</a:t>
            </a:r>
            <a:endParaRPr sz="21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Syncopate"/>
            </a:endParaRPr>
          </a:p>
        </p:txBody>
      </p:sp>
      <p:grpSp>
        <p:nvGrpSpPr>
          <p:cNvPr id="13" name="Google Shape;3274;p57">
            <a:extLst>
              <a:ext uri="{FF2B5EF4-FFF2-40B4-BE49-F238E27FC236}">
                <a16:creationId xmlns:a16="http://schemas.microsoft.com/office/drawing/2014/main" id="{3F0EFF4E-AEA6-52F5-EE19-85B0D0476A3B}"/>
              </a:ext>
            </a:extLst>
          </p:cNvPr>
          <p:cNvGrpSpPr/>
          <p:nvPr/>
        </p:nvGrpSpPr>
        <p:grpSpPr>
          <a:xfrm>
            <a:off x="2293631" y="2331774"/>
            <a:ext cx="1361751" cy="189706"/>
            <a:chOff x="6336019" y="3733725"/>
            <a:chExt cx="2566206" cy="351310"/>
          </a:xfrm>
        </p:grpSpPr>
        <p:sp>
          <p:nvSpPr>
            <p:cNvPr id="14" name="Google Shape;3275;p57">
              <a:extLst>
                <a:ext uri="{FF2B5EF4-FFF2-40B4-BE49-F238E27FC236}">
                  <a16:creationId xmlns:a16="http://schemas.microsoft.com/office/drawing/2014/main" id="{AF381242-6447-4DBC-E275-AD0BDE5E3EC2}"/>
                </a:ext>
              </a:extLst>
            </p:cNvPr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5" name="Google Shape;3276;p57">
              <a:extLst>
                <a:ext uri="{FF2B5EF4-FFF2-40B4-BE49-F238E27FC236}">
                  <a16:creationId xmlns:a16="http://schemas.microsoft.com/office/drawing/2014/main" id="{483BD0B0-8ED9-0971-1DED-18D2D2766F9E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6" name="Google Shape;3277;p57">
              <a:extLst>
                <a:ext uri="{FF2B5EF4-FFF2-40B4-BE49-F238E27FC236}">
                  <a16:creationId xmlns:a16="http://schemas.microsoft.com/office/drawing/2014/main" id="{441207AA-50F6-01FE-0EE2-E924A7F67DF5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7" name="Google Shape;3278;p57">
              <a:extLst>
                <a:ext uri="{FF2B5EF4-FFF2-40B4-BE49-F238E27FC236}">
                  <a16:creationId xmlns:a16="http://schemas.microsoft.com/office/drawing/2014/main" id="{3463D7C3-7112-B9BA-A12E-56B20E08056C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oogle Shape;3274;p57">
            <a:extLst>
              <a:ext uri="{FF2B5EF4-FFF2-40B4-BE49-F238E27FC236}">
                <a16:creationId xmlns:a16="http://schemas.microsoft.com/office/drawing/2014/main" id="{DFF72406-5B94-BF12-FB07-21D7EA458138}"/>
              </a:ext>
            </a:extLst>
          </p:cNvPr>
          <p:cNvGrpSpPr/>
          <p:nvPr/>
        </p:nvGrpSpPr>
        <p:grpSpPr>
          <a:xfrm>
            <a:off x="4333728" y="2331769"/>
            <a:ext cx="1361751" cy="189706"/>
            <a:chOff x="6336019" y="3733725"/>
            <a:chExt cx="2566206" cy="351310"/>
          </a:xfrm>
        </p:grpSpPr>
        <p:sp>
          <p:nvSpPr>
            <p:cNvPr id="19" name="Google Shape;3275;p57">
              <a:extLst>
                <a:ext uri="{FF2B5EF4-FFF2-40B4-BE49-F238E27FC236}">
                  <a16:creationId xmlns:a16="http://schemas.microsoft.com/office/drawing/2014/main" id="{7A7B704E-92F5-41F7-8749-F22123910C40}"/>
                </a:ext>
              </a:extLst>
            </p:cNvPr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0" name="Google Shape;3276;p57">
              <a:extLst>
                <a:ext uri="{FF2B5EF4-FFF2-40B4-BE49-F238E27FC236}">
                  <a16:creationId xmlns:a16="http://schemas.microsoft.com/office/drawing/2014/main" id="{014DB823-3B32-1F1E-9038-8F69772ADC1A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1" name="Google Shape;3277;p57">
              <a:extLst>
                <a:ext uri="{FF2B5EF4-FFF2-40B4-BE49-F238E27FC236}">
                  <a16:creationId xmlns:a16="http://schemas.microsoft.com/office/drawing/2014/main" id="{E574643A-C9F0-9B91-6033-E7E3907C78D8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2" name="Google Shape;3278;p57">
              <a:extLst>
                <a:ext uri="{FF2B5EF4-FFF2-40B4-BE49-F238E27FC236}">
                  <a16:creationId xmlns:a16="http://schemas.microsoft.com/office/drawing/2014/main" id="{5C042B35-40E8-DC58-8EB0-81F484C5FFFE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oogle Shape;3274;p57">
            <a:extLst>
              <a:ext uri="{FF2B5EF4-FFF2-40B4-BE49-F238E27FC236}">
                <a16:creationId xmlns:a16="http://schemas.microsoft.com/office/drawing/2014/main" id="{8F1D73CD-B22F-7E90-5C58-93BB5878C9A0}"/>
              </a:ext>
            </a:extLst>
          </p:cNvPr>
          <p:cNvGrpSpPr/>
          <p:nvPr/>
        </p:nvGrpSpPr>
        <p:grpSpPr>
          <a:xfrm>
            <a:off x="6356291" y="2323694"/>
            <a:ext cx="1361751" cy="189706"/>
            <a:chOff x="6336019" y="3733725"/>
            <a:chExt cx="2566206" cy="351310"/>
          </a:xfrm>
        </p:grpSpPr>
        <p:sp>
          <p:nvSpPr>
            <p:cNvPr id="24" name="Google Shape;3275;p57">
              <a:extLst>
                <a:ext uri="{FF2B5EF4-FFF2-40B4-BE49-F238E27FC236}">
                  <a16:creationId xmlns:a16="http://schemas.microsoft.com/office/drawing/2014/main" id="{E5758BD6-54F0-EB18-A278-8D742EFA13EB}"/>
                </a:ext>
              </a:extLst>
            </p:cNvPr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5" name="Google Shape;3276;p57">
              <a:extLst>
                <a:ext uri="{FF2B5EF4-FFF2-40B4-BE49-F238E27FC236}">
                  <a16:creationId xmlns:a16="http://schemas.microsoft.com/office/drawing/2014/main" id="{756BE8DD-315A-137F-5782-4B22ADEF4C3A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" name="Google Shape;3277;p57">
              <a:extLst>
                <a:ext uri="{FF2B5EF4-FFF2-40B4-BE49-F238E27FC236}">
                  <a16:creationId xmlns:a16="http://schemas.microsoft.com/office/drawing/2014/main" id="{4551A399-BBDC-D123-752B-1E06522371BE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7" name="Google Shape;3278;p57">
              <a:extLst>
                <a:ext uri="{FF2B5EF4-FFF2-40B4-BE49-F238E27FC236}">
                  <a16:creationId xmlns:a16="http://schemas.microsoft.com/office/drawing/2014/main" id="{D55C909B-99A9-EFF3-1A68-F544C9EC2A7F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</p:grpSp>
      <p:cxnSp>
        <p:nvCxnSpPr>
          <p:cNvPr id="45" name="Google Shape;1278;p61">
            <a:extLst>
              <a:ext uri="{FF2B5EF4-FFF2-40B4-BE49-F238E27FC236}">
                <a16:creationId xmlns:a16="http://schemas.microsoft.com/office/drawing/2014/main" id="{9C5B3281-D335-D753-EC2B-A1BAB1A45306}"/>
              </a:ext>
            </a:extLst>
          </p:cNvPr>
          <p:cNvCxnSpPr>
            <a:cxnSpLocks/>
          </p:cNvCxnSpPr>
          <p:nvPr/>
        </p:nvCxnSpPr>
        <p:spPr>
          <a:xfrm flipH="1" flipV="1">
            <a:off x="1952520" y="1573078"/>
            <a:ext cx="10116" cy="569769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7" name="Google Shape;570;p32">
            <a:extLst>
              <a:ext uri="{FF2B5EF4-FFF2-40B4-BE49-F238E27FC236}">
                <a16:creationId xmlns:a16="http://schemas.microsoft.com/office/drawing/2014/main" id="{80D74BB4-640D-BA08-4EC4-FE8D5FC40E58}"/>
              </a:ext>
            </a:extLst>
          </p:cNvPr>
          <p:cNvSpPr txBox="1">
            <a:spLocks/>
          </p:cNvSpPr>
          <p:nvPr/>
        </p:nvSpPr>
        <p:spPr>
          <a:xfrm>
            <a:off x="1343497" y="649887"/>
            <a:ext cx="2098644" cy="81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-US" dirty="0" err="1">
                <a:solidFill>
                  <a:schemeClr val="tx2"/>
                </a:solidFill>
              </a:rPr>
              <a:t>Clientul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trimite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cererea</a:t>
            </a:r>
            <a:r>
              <a:rPr lang="en-US" dirty="0">
                <a:solidFill>
                  <a:schemeClr val="tx2"/>
                </a:solidFill>
              </a:rPr>
              <a:t> c</a:t>
            </a:r>
            <a:r>
              <a:rPr lang="ro-RO" dirty="0">
                <a:solidFill>
                  <a:schemeClr val="tx2"/>
                </a:solidFill>
              </a:rPr>
              <a:t>ă</a:t>
            </a:r>
            <a:r>
              <a:rPr lang="en-US" dirty="0" err="1">
                <a:solidFill>
                  <a:schemeClr val="tx2"/>
                </a:solidFill>
              </a:rPr>
              <a:t>tre</a:t>
            </a:r>
            <a:r>
              <a:rPr lang="en-US" dirty="0">
                <a:solidFill>
                  <a:schemeClr val="tx2"/>
                </a:solidFill>
              </a:rPr>
              <a:t> FIFO-</a:t>
            </a:r>
            <a:r>
              <a:rPr lang="en-US" dirty="0" err="1">
                <a:solidFill>
                  <a:schemeClr val="tx2"/>
                </a:solidFill>
              </a:rPr>
              <a:t>ul</a:t>
            </a:r>
            <a:r>
              <a:rPr lang="en-US" dirty="0">
                <a:solidFill>
                  <a:schemeClr val="tx2"/>
                </a:solidFill>
              </a:rPr>
              <a:t> principal.</a:t>
            </a:r>
          </a:p>
        </p:txBody>
      </p:sp>
      <p:sp>
        <p:nvSpPr>
          <p:cNvPr id="48" name="Google Shape;570;p32">
            <a:extLst>
              <a:ext uri="{FF2B5EF4-FFF2-40B4-BE49-F238E27FC236}">
                <a16:creationId xmlns:a16="http://schemas.microsoft.com/office/drawing/2014/main" id="{19335E49-116D-4214-D4EA-F8E2641F497D}"/>
              </a:ext>
            </a:extLst>
          </p:cNvPr>
          <p:cNvSpPr txBox="1">
            <a:spLocks/>
          </p:cNvSpPr>
          <p:nvPr/>
        </p:nvSpPr>
        <p:spPr>
          <a:xfrm>
            <a:off x="3058119" y="3471340"/>
            <a:ext cx="2210879" cy="96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it-IT" dirty="0">
                <a:solidFill>
                  <a:schemeClr val="accent1"/>
                </a:solidFill>
              </a:rPr>
              <a:t>Serverul preia cererea, extrage PID-ul clientului și numele comenzii. 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49" name="Google Shape;1278;p61">
            <a:extLst>
              <a:ext uri="{FF2B5EF4-FFF2-40B4-BE49-F238E27FC236}">
                <a16:creationId xmlns:a16="http://schemas.microsoft.com/office/drawing/2014/main" id="{8C4D396C-A31A-C6C9-A460-BD83B8B0A05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027544" y="2724322"/>
            <a:ext cx="10116" cy="569769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0" name="Google Shape;1278;p61">
            <a:extLst>
              <a:ext uri="{FF2B5EF4-FFF2-40B4-BE49-F238E27FC236}">
                <a16:creationId xmlns:a16="http://schemas.microsoft.com/office/drawing/2014/main" id="{108D390A-9654-43A7-C5C7-94B4AED1F003}"/>
              </a:ext>
            </a:extLst>
          </p:cNvPr>
          <p:cNvCxnSpPr>
            <a:cxnSpLocks/>
          </p:cNvCxnSpPr>
          <p:nvPr/>
        </p:nvCxnSpPr>
        <p:spPr>
          <a:xfrm flipH="1" flipV="1">
            <a:off x="6015769" y="1573077"/>
            <a:ext cx="10116" cy="569769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" name="Google Shape;1278;p61">
            <a:extLst>
              <a:ext uri="{FF2B5EF4-FFF2-40B4-BE49-F238E27FC236}">
                <a16:creationId xmlns:a16="http://schemas.microsoft.com/office/drawing/2014/main" id="{508A484D-D5EA-B915-AC99-C62C6A84C060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8011120" y="2694247"/>
            <a:ext cx="10116" cy="569769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3" name="Google Shape;570;p32">
            <a:extLst>
              <a:ext uri="{FF2B5EF4-FFF2-40B4-BE49-F238E27FC236}">
                <a16:creationId xmlns:a16="http://schemas.microsoft.com/office/drawing/2014/main" id="{4727C706-7BBE-CCB6-E3BB-1D218A7DFF4F}"/>
              </a:ext>
            </a:extLst>
          </p:cNvPr>
          <p:cNvSpPr txBox="1">
            <a:spLocks/>
          </p:cNvSpPr>
          <p:nvPr/>
        </p:nvSpPr>
        <p:spPr>
          <a:xfrm>
            <a:off x="4631934" y="535546"/>
            <a:ext cx="3126570" cy="994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it-IT" dirty="0">
                <a:solidFill>
                  <a:schemeClr val="accent2"/>
                </a:solidFill>
              </a:rPr>
              <a:t>Serverul execut</a:t>
            </a:r>
            <a:r>
              <a:rPr lang="ro-RO" dirty="0">
                <a:solidFill>
                  <a:schemeClr val="accent2"/>
                </a:solidFill>
              </a:rPr>
              <a:t>ă</a:t>
            </a:r>
            <a:r>
              <a:rPr lang="ro-RO" b="1" dirty="0">
                <a:solidFill>
                  <a:schemeClr val="accent3"/>
                </a:solidFill>
              </a:rPr>
              <a:t> </a:t>
            </a:r>
            <a:r>
              <a:rPr lang="it-IT" b="1" dirty="0">
                <a:solidFill>
                  <a:schemeClr val="accent3"/>
                </a:solidFill>
              </a:rPr>
              <a:t>man </a:t>
            </a:r>
            <a:r>
              <a:rPr lang="it-IT" dirty="0">
                <a:solidFill>
                  <a:schemeClr val="accent2"/>
                </a:solidFill>
              </a:rPr>
              <a:t>pe acea comandă și  trimite rezultatul în FIFO-ul personalizat al clientului.</a:t>
            </a:r>
          </a:p>
        </p:txBody>
      </p:sp>
      <p:sp>
        <p:nvSpPr>
          <p:cNvPr id="54" name="Google Shape;570;p32">
            <a:extLst>
              <a:ext uri="{FF2B5EF4-FFF2-40B4-BE49-F238E27FC236}">
                <a16:creationId xmlns:a16="http://schemas.microsoft.com/office/drawing/2014/main" id="{77F77397-7083-8A5B-C9F4-2C6228EC9C44}"/>
              </a:ext>
            </a:extLst>
          </p:cNvPr>
          <p:cNvSpPr txBox="1">
            <a:spLocks/>
          </p:cNvSpPr>
          <p:nvPr/>
        </p:nvSpPr>
        <p:spPr>
          <a:xfrm>
            <a:off x="6563533" y="3464609"/>
            <a:ext cx="2580467" cy="88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Clientul cite</a:t>
            </a:r>
            <a:r>
              <a:rPr lang="ro-RO" dirty="0">
                <a:solidFill>
                  <a:schemeClr val="bg1">
                    <a:lumMod val="75000"/>
                  </a:schemeClr>
                </a:solidFill>
              </a:rPr>
              <a:t>ș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te</a:t>
            </a:r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 rezultatul din FIFO-ul său personalizat și afi</a:t>
            </a:r>
            <a:r>
              <a:rPr lang="ro-RO" dirty="0">
                <a:solidFill>
                  <a:schemeClr val="bg1">
                    <a:lumMod val="75000"/>
                  </a:schemeClr>
                </a:solidFill>
              </a:rPr>
              <a:t>ș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eaz</a:t>
            </a:r>
            <a:r>
              <a:rPr lang="ro-RO" dirty="0">
                <a:solidFill>
                  <a:schemeClr val="bg1">
                    <a:lumMod val="75000"/>
                  </a:schemeClr>
                </a:solidFill>
              </a:rPr>
              <a:t>ă</a:t>
            </a:r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 informațiile.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487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4">
          <a:extLst>
            <a:ext uri="{FF2B5EF4-FFF2-40B4-BE49-F238E27FC236}">
              <a16:creationId xmlns:a16="http://schemas.microsoft.com/office/drawing/2014/main" id="{B7BFF7C0-9369-8E0A-CC8B-E2D60875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p51">
            <a:extLst>
              <a:ext uri="{FF2B5EF4-FFF2-40B4-BE49-F238E27FC236}">
                <a16:creationId xmlns:a16="http://schemas.microsoft.com/office/drawing/2014/main" id="{AAAAD8A9-DD12-F177-66C5-69CE39687B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49" y="582700"/>
            <a:ext cx="7776019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3"/>
                </a:solidFill>
              </a:rPr>
              <a:t>$</a:t>
            </a:r>
            <a:r>
              <a:rPr lang="en-US" sz="2000" dirty="0"/>
              <a:t> </a:t>
            </a:r>
            <a:r>
              <a:rPr lang="en" sz="2000" dirty="0"/>
              <a:t>Cerin</a:t>
            </a:r>
            <a:r>
              <a:rPr lang="ro-RO" sz="2000" dirty="0"/>
              <a:t>țe de sistem și</a:t>
            </a:r>
            <a:r>
              <a:rPr lang="en" sz="2000" dirty="0"/>
              <a:t> </a:t>
            </a:r>
            <a:r>
              <a:rPr lang="ro-RO" sz="2000" dirty="0">
                <a:solidFill>
                  <a:schemeClr val="accent2"/>
                </a:solidFill>
              </a:rPr>
              <a:t>mediu de operare</a:t>
            </a:r>
            <a:r>
              <a:rPr lang="en-US" sz="2000" dirty="0">
                <a:solidFill>
                  <a:schemeClr val="accent2"/>
                </a:solidFill>
              </a:rPr>
              <a:t> 1/2</a:t>
            </a:r>
            <a:r>
              <a:rPr lang="en" sz="2000" dirty="0">
                <a:solidFill>
                  <a:schemeClr val="accent6"/>
                </a:solidFill>
              </a:rPr>
              <a:t>{</a:t>
            </a:r>
            <a:endParaRPr sz="2000" dirty="0">
              <a:solidFill>
                <a:schemeClr val="accent6"/>
              </a:solidFill>
            </a:endParaRPr>
          </a:p>
        </p:txBody>
      </p:sp>
      <p:sp>
        <p:nvSpPr>
          <p:cNvPr id="3117" name="Google Shape;3117;p51">
            <a:extLst>
              <a:ext uri="{FF2B5EF4-FFF2-40B4-BE49-F238E27FC236}">
                <a16:creationId xmlns:a16="http://schemas.microsoft.com/office/drawing/2014/main" id="{1369417B-E1E2-3226-C7C5-3C8FCC64503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37875" y="925113"/>
            <a:ext cx="7675767" cy="33371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 err="1">
                <a:solidFill>
                  <a:schemeClr val="bg2"/>
                </a:solidFill>
              </a:rPr>
              <a:t>Sistem</a:t>
            </a:r>
            <a:r>
              <a:rPr lang="en-US" sz="1100" b="1" dirty="0">
                <a:solidFill>
                  <a:schemeClr val="bg2"/>
                </a:solidFill>
              </a:rPr>
              <a:t> de </a:t>
            </a:r>
            <a:r>
              <a:rPr lang="en-US" sz="1100" b="1" dirty="0" err="1">
                <a:solidFill>
                  <a:schemeClr val="bg2"/>
                </a:solidFill>
              </a:rPr>
              <a:t>operare</a:t>
            </a:r>
            <a:r>
              <a:rPr lang="en-US" sz="1100" b="1" dirty="0">
                <a:solidFill>
                  <a:schemeClr val="bg2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   &lt; </a:t>
            </a:r>
            <a:r>
              <a:rPr lang="en-US" sz="1000" dirty="0" err="1"/>
              <a:t>Scriptul</a:t>
            </a:r>
            <a:r>
              <a:rPr lang="en-US" sz="1000" dirty="0"/>
              <a:t> </a:t>
            </a:r>
            <a:r>
              <a:rPr lang="en-US" sz="1000" dirty="0" err="1"/>
              <a:t>este</a:t>
            </a:r>
            <a:r>
              <a:rPr lang="en-US" sz="1000" dirty="0"/>
              <a:t> </a:t>
            </a:r>
            <a:r>
              <a:rPr lang="en-US" sz="1000" dirty="0" err="1"/>
              <a:t>destinat</a:t>
            </a:r>
            <a:r>
              <a:rPr lang="en-US" sz="1000" dirty="0"/>
              <a:t> </a:t>
            </a:r>
            <a:r>
              <a:rPr lang="en-US" sz="1000" dirty="0" err="1"/>
              <a:t>platformelor</a:t>
            </a:r>
            <a:r>
              <a:rPr lang="en-US" sz="1000" dirty="0"/>
              <a:t> Linux/Unix, </a:t>
            </a:r>
            <a:r>
              <a:rPr lang="en-US" sz="1000" dirty="0" err="1"/>
              <a:t>întrucât</a:t>
            </a:r>
            <a:r>
              <a:rPr lang="en-US" sz="1000" dirty="0"/>
              <a:t> </a:t>
            </a:r>
            <a:r>
              <a:rPr lang="en-US" sz="1000" dirty="0" err="1"/>
              <a:t>utilizează</a:t>
            </a:r>
            <a:r>
              <a:rPr lang="en-US" sz="1000" dirty="0"/>
              <a:t> </a:t>
            </a:r>
            <a:r>
              <a:rPr lang="en-US" sz="1000" dirty="0" err="1"/>
              <a:t>funcționalități</a:t>
            </a:r>
            <a:r>
              <a:rPr lang="en-US" sz="1000" dirty="0"/>
              <a:t> native precum FIFO (</a:t>
            </a:r>
            <a:r>
              <a:rPr lang="en-US" sz="1000" dirty="0" err="1"/>
              <a:t>mkfifo</a:t>
            </a:r>
            <a:r>
              <a:rPr lang="en-US" sz="1000" dirty="0"/>
              <a:t>), </a:t>
            </a:r>
            <a:r>
              <a:rPr lang="en-US" sz="1000" dirty="0" err="1"/>
              <a:t>fișiere</a:t>
            </a:r>
            <a:r>
              <a:rPr lang="en-US" sz="1000" dirty="0"/>
              <a:t> de </a:t>
            </a:r>
            <a:r>
              <a:rPr lang="en-US" sz="1000" dirty="0" err="1"/>
              <a:t>configurare</a:t>
            </a:r>
            <a:r>
              <a:rPr lang="en-US" sz="1000" dirty="0"/>
              <a:t>, </a:t>
            </a:r>
            <a:r>
              <a:rPr lang="en-US" sz="1000" dirty="0" err="1"/>
              <a:t>și</a:t>
            </a:r>
            <a:r>
              <a:rPr lang="en-US" sz="1000" dirty="0"/>
              <a:t> </a:t>
            </a:r>
            <a:r>
              <a:rPr lang="en-US" sz="1000" dirty="0" err="1"/>
              <a:t>comenzi</a:t>
            </a:r>
            <a:r>
              <a:rPr lang="en-US" sz="1000" dirty="0"/>
              <a:t> precum awk, man, etc.&gt;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   &lt; </a:t>
            </a:r>
            <a:r>
              <a:rPr lang="en-US" sz="1000" dirty="0" err="1"/>
              <a:t>Distribuții</a:t>
            </a:r>
            <a:r>
              <a:rPr lang="en-US" sz="1000" dirty="0"/>
              <a:t> testate: Ubuntu 20.04/22.04+ (</a:t>
            </a:r>
            <a:r>
              <a:rPr lang="en-US" sz="1000" dirty="0" err="1"/>
              <a:t>recomandat</a:t>
            </a:r>
            <a:r>
              <a:rPr lang="en-US" sz="1000" dirty="0"/>
              <a:t> </a:t>
            </a:r>
            <a:r>
              <a:rPr lang="en-US" sz="1000" dirty="0" err="1"/>
              <a:t>pentru</a:t>
            </a:r>
            <a:r>
              <a:rPr lang="en-US" sz="1000" dirty="0"/>
              <a:t> </a:t>
            </a:r>
            <a:r>
              <a:rPr lang="en-US" sz="1000" dirty="0" err="1"/>
              <a:t>suport</a:t>
            </a:r>
            <a:r>
              <a:rPr lang="en-US" sz="1000" dirty="0"/>
              <a:t> de </a:t>
            </a:r>
            <a:r>
              <a:rPr lang="en-US" sz="1000" dirty="0" err="1"/>
              <a:t>lungă</a:t>
            </a:r>
            <a:r>
              <a:rPr lang="en-US" sz="1000" dirty="0"/>
              <a:t> </a:t>
            </a:r>
            <a:r>
              <a:rPr lang="en-US" sz="1000" dirty="0" err="1"/>
              <a:t>durată</a:t>
            </a:r>
            <a:r>
              <a:rPr lang="en-US" sz="1000" dirty="0"/>
              <a:t>); a</a:t>
            </a:r>
            <a:r>
              <a:rPr lang="it-IT" sz="1000" dirty="0"/>
              <a:t>lte distribuții bazate pe Linux: Debian, Fedora, CentOS.&gt;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chemeClr val="bg2"/>
                </a:solidFill>
              </a:rPr>
              <a:t>Resurse hardware: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dirty="0"/>
              <a:t>   &lt; Memorie </a:t>
            </a:r>
            <a:r>
              <a:rPr lang="it-IT" sz="1000" b="1" dirty="0">
                <a:solidFill>
                  <a:schemeClr val="accent1">
                    <a:lumMod val="75000"/>
                  </a:schemeClr>
                </a:solidFill>
              </a:rPr>
              <a:t>RAM</a:t>
            </a:r>
            <a:r>
              <a:rPr lang="it-IT" sz="1000" dirty="0"/>
              <a:t>: minim 512 MB pentru funcționarea de bază a scriptului.&gt;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dirty="0"/>
              <a:t>   &lt; </a:t>
            </a:r>
            <a:r>
              <a:rPr lang="it-IT" sz="1000" b="1" dirty="0">
                <a:solidFill>
                  <a:schemeClr val="accent1">
                    <a:lumMod val="75000"/>
                  </a:schemeClr>
                </a:solidFill>
              </a:rPr>
              <a:t>CPU</a:t>
            </a:r>
            <a:r>
              <a:rPr lang="it-IT" sz="1000" dirty="0"/>
              <a:t>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dirty="0"/>
              <a:t>       &lt; Minim: 1 core (funcționează secvențial fără optimizări specifice pentru multithreading).&gt;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dirty="0"/>
              <a:t>       &lt; </a:t>
            </a:r>
            <a:r>
              <a:rPr lang="pt-BR" sz="1000" dirty="0"/>
              <a:t>Recomandat: Sistem cu 2-4 nuclee pentru a permite procesarea simultană (dacă este extins 	pe viitor).&gt;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/>
              <a:t>   &lt; </a:t>
            </a:r>
            <a:r>
              <a:rPr lang="pt-BR" sz="1000" b="1" dirty="0">
                <a:solidFill>
                  <a:schemeClr val="accent1">
                    <a:lumMod val="75000"/>
                  </a:schemeClr>
                </a:solidFill>
              </a:rPr>
              <a:t>Stocare</a:t>
            </a:r>
            <a:r>
              <a:rPr lang="pt-BR" sz="1000" dirty="0"/>
              <a:t>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/>
              <a:t>       &lt; Spațiu necesar este minim (doar pentru stocarea fișierului FIFO temporar, fișierelor de 	log și fișierului de configurare).&gt;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/>
              <a:t>       &lt; Spațiu recomandat: 1-2 MB pentru FIFO-uri + loguri.&gt;</a:t>
            </a:r>
            <a:endParaRPr lang="it-IT" sz="1000" dirty="0"/>
          </a:p>
        </p:txBody>
      </p:sp>
      <p:sp>
        <p:nvSpPr>
          <p:cNvPr id="3118" name="Google Shape;3118;p51">
            <a:extLst>
              <a:ext uri="{FF2B5EF4-FFF2-40B4-BE49-F238E27FC236}">
                <a16:creationId xmlns:a16="http://schemas.microsoft.com/office/drawing/2014/main" id="{90965C08-56AC-4CF4-2EC2-AFC0FDB6C70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119" name="Google Shape;3119;p51">
            <a:extLst>
              <a:ext uri="{FF2B5EF4-FFF2-40B4-BE49-F238E27FC236}">
                <a16:creationId xmlns:a16="http://schemas.microsoft.com/office/drawing/2014/main" id="{84808034-01F0-9036-5D84-764B2BF54C0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3120" name="Google Shape;3120;p51">
            <a:extLst>
              <a:ext uri="{FF2B5EF4-FFF2-40B4-BE49-F238E27FC236}">
                <a16:creationId xmlns:a16="http://schemas.microsoft.com/office/drawing/2014/main" id="{FEF20502-B909-966E-9ED0-190499E40E0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grpSp>
        <p:nvGrpSpPr>
          <p:cNvPr id="3121" name="Google Shape;3121;p51">
            <a:extLst>
              <a:ext uri="{FF2B5EF4-FFF2-40B4-BE49-F238E27FC236}">
                <a16:creationId xmlns:a16="http://schemas.microsoft.com/office/drawing/2014/main" id="{BC57EBF2-B4A8-C899-C919-DF79267B1C62}"/>
              </a:ext>
            </a:extLst>
          </p:cNvPr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3122" name="Google Shape;3122;p51">
              <a:extLst>
                <a:ext uri="{FF2B5EF4-FFF2-40B4-BE49-F238E27FC236}">
                  <a16:creationId xmlns:a16="http://schemas.microsoft.com/office/drawing/2014/main" id="{6B563DFA-978D-9A84-06B9-3029F6608FB6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3123" name="Google Shape;3123;p51">
              <a:extLst>
                <a:ext uri="{FF2B5EF4-FFF2-40B4-BE49-F238E27FC236}">
                  <a16:creationId xmlns:a16="http://schemas.microsoft.com/office/drawing/2014/main" id="{0CB442C2-EF1D-DFA7-3ECA-249F241EE342}"/>
                </a:ext>
              </a:extLst>
            </p:cNvPr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968207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p51"/>
          <p:cNvSpPr txBox="1">
            <a:spLocks noGrp="1"/>
          </p:cNvSpPr>
          <p:nvPr>
            <p:ph type="title"/>
          </p:nvPr>
        </p:nvSpPr>
        <p:spPr>
          <a:xfrm>
            <a:off x="1143249" y="582700"/>
            <a:ext cx="7776019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3"/>
                </a:solidFill>
              </a:rPr>
              <a:t>$</a:t>
            </a:r>
            <a:r>
              <a:rPr lang="en-US" sz="2000" dirty="0"/>
              <a:t> </a:t>
            </a:r>
            <a:r>
              <a:rPr lang="en" sz="2000" dirty="0"/>
              <a:t>Cerin</a:t>
            </a:r>
            <a:r>
              <a:rPr lang="ro-RO" sz="2000" dirty="0"/>
              <a:t>țe de sistem și</a:t>
            </a:r>
            <a:r>
              <a:rPr lang="en" sz="2000" dirty="0"/>
              <a:t> </a:t>
            </a:r>
            <a:r>
              <a:rPr lang="ro-RO" sz="2000" dirty="0">
                <a:solidFill>
                  <a:schemeClr val="accent2"/>
                </a:solidFill>
              </a:rPr>
              <a:t>mediu de operare</a:t>
            </a:r>
            <a:r>
              <a:rPr lang="en-US" sz="2000" dirty="0">
                <a:solidFill>
                  <a:schemeClr val="accent2"/>
                </a:solidFill>
              </a:rPr>
              <a:t> 2/2</a:t>
            </a:r>
            <a:r>
              <a:rPr lang="en" sz="2000" dirty="0">
                <a:solidFill>
                  <a:schemeClr val="accent6"/>
                </a:solidFill>
              </a:rPr>
              <a:t>{</a:t>
            </a:r>
            <a:endParaRPr sz="2000" dirty="0">
              <a:solidFill>
                <a:schemeClr val="accent6"/>
              </a:solidFill>
            </a:endParaRPr>
          </a:p>
        </p:txBody>
      </p:sp>
      <p:sp>
        <p:nvSpPr>
          <p:cNvPr id="3117" name="Google Shape;3117;p51"/>
          <p:cNvSpPr txBox="1">
            <a:spLocks noGrp="1"/>
          </p:cNvSpPr>
          <p:nvPr>
            <p:ph type="subTitle" idx="2"/>
          </p:nvPr>
        </p:nvSpPr>
        <p:spPr>
          <a:xfrm>
            <a:off x="1402594" y="930050"/>
            <a:ext cx="7675767" cy="34775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 err="1">
                <a:solidFill>
                  <a:schemeClr val="bg2"/>
                </a:solidFill>
              </a:rPr>
              <a:t>Biblioteci</a:t>
            </a:r>
            <a:r>
              <a:rPr lang="en-US" sz="1100" b="1" dirty="0">
                <a:solidFill>
                  <a:schemeClr val="bg2"/>
                </a:solidFill>
              </a:rPr>
              <a:t> software: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</a:t>
            </a:r>
            <a:r>
              <a:rPr lang="en-US" sz="1050" dirty="0" err="1"/>
              <a:t>Bibliotecile</a:t>
            </a:r>
            <a:r>
              <a:rPr lang="en-US" sz="1050" dirty="0"/>
              <a:t> </a:t>
            </a:r>
            <a:r>
              <a:rPr lang="en-US" sz="1050" dirty="0" err="1"/>
              <a:t>utilizate</a:t>
            </a:r>
            <a:r>
              <a:rPr lang="en-US" sz="1050" dirty="0"/>
              <a:t> fac </a:t>
            </a:r>
            <a:r>
              <a:rPr lang="en-US" sz="1050" dirty="0" err="1"/>
              <a:t>parte</a:t>
            </a:r>
            <a:r>
              <a:rPr lang="en-US" sz="1050" dirty="0"/>
              <a:t> din </a:t>
            </a:r>
            <a:r>
              <a:rPr lang="en-US" sz="1050" dirty="0" err="1"/>
              <a:t>majoritatea</a:t>
            </a:r>
            <a:r>
              <a:rPr lang="en-US" sz="1050" dirty="0"/>
              <a:t> </a:t>
            </a:r>
            <a:r>
              <a:rPr lang="en-US" sz="1050" dirty="0" err="1"/>
              <a:t>sistemelor</a:t>
            </a:r>
            <a:r>
              <a:rPr lang="en-US" sz="1050" dirty="0"/>
              <a:t> Unix/Linux: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    &lt; </a:t>
            </a:r>
            <a:r>
              <a:rPr lang="en-US" sz="1050" b="1" dirty="0">
                <a:solidFill>
                  <a:schemeClr val="accent1">
                    <a:lumMod val="75000"/>
                  </a:schemeClr>
                </a:solidFill>
              </a:rPr>
              <a:t>awk</a:t>
            </a:r>
            <a:r>
              <a:rPr lang="en-US" sz="1050" dirty="0"/>
              <a:t> - </a:t>
            </a:r>
            <a:r>
              <a:rPr lang="en-US" sz="1050" dirty="0" err="1"/>
              <a:t>Pentru</a:t>
            </a:r>
            <a:r>
              <a:rPr lang="en-US" sz="1050" dirty="0"/>
              <a:t> </a:t>
            </a:r>
            <a:r>
              <a:rPr lang="en-US" sz="1050" dirty="0" err="1"/>
              <a:t>extragerea</a:t>
            </a:r>
            <a:r>
              <a:rPr lang="en-US" sz="1050" dirty="0"/>
              <a:t> PID-</a:t>
            </a:r>
            <a:r>
              <a:rPr lang="en-US" sz="1050" dirty="0" err="1"/>
              <a:t>ului</a:t>
            </a:r>
            <a:r>
              <a:rPr lang="en-US" sz="1050" dirty="0"/>
              <a:t> </a:t>
            </a:r>
            <a:r>
              <a:rPr lang="en-US" sz="1050" dirty="0" err="1"/>
              <a:t>și</a:t>
            </a:r>
            <a:r>
              <a:rPr lang="en-US" sz="1050" dirty="0"/>
              <a:t> </a:t>
            </a:r>
            <a:r>
              <a:rPr lang="en-US" sz="1050" dirty="0" err="1"/>
              <a:t>comenzii</a:t>
            </a:r>
            <a:r>
              <a:rPr lang="en-US" sz="1050" dirty="0"/>
              <a:t> din </a:t>
            </a:r>
            <a:r>
              <a:rPr lang="en-US" sz="1050" dirty="0" err="1"/>
              <a:t>cerere</a:t>
            </a:r>
            <a:r>
              <a:rPr lang="en-US" sz="1050" dirty="0"/>
              <a:t>.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    &lt; </a:t>
            </a:r>
            <a:r>
              <a:rPr lang="en-US" sz="1050" b="1" dirty="0">
                <a:solidFill>
                  <a:schemeClr val="accent1">
                    <a:lumMod val="75000"/>
                  </a:schemeClr>
                </a:solidFill>
              </a:rPr>
              <a:t>man</a:t>
            </a:r>
            <a:r>
              <a:rPr lang="en-US" sz="1050" dirty="0"/>
              <a:t> - </a:t>
            </a:r>
            <a:r>
              <a:rPr lang="en-US" sz="1050" dirty="0" err="1"/>
              <a:t>Pentru</a:t>
            </a:r>
            <a:r>
              <a:rPr lang="en-US" sz="1050" dirty="0"/>
              <a:t> a </a:t>
            </a:r>
            <a:r>
              <a:rPr lang="en-US" sz="1050" dirty="0" err="1"/>
              <a:t>oferi</a:t>
            </a:r>
            <a:r>
              <a:rPr lang="en-US" sz="1050" dirty="0"/>
              <a:t> </a:t>
            </a:r>
            <a:r>
              <a:rPr lang="en-US" sz="1050" dirty="0" err="1"/>
              <a:t>informații</a:t>
            </a:r>
            <a:r>
              <a:rPr lang="en-US" sz="1050" dirty="0"/>
              <a:t> </a:t>
            </a:r>
            <a:r>
              <a:rPr lang="en-US" sz="1050" dirty="0" err="1"/>
              <a:t>despre</a:t>
            </a:r>
            <a:r>
              <a:rPr lang="en-US" sz="1050" dirty="0"/>
              <a:t> </a:t>
            </a:r>
            <a:r>
              <a:rPr lang="en-US" sz="1050" dirty="0" err="1"/>
              <a:t>comenzile</a:t>
            </a:r>
            <a:r>
              <a:rPr lang="en-US" sz="1050" dirty="0"/>
              <a:t> </a:t>
            </a:r>
            <a:r>
              <a:rPr lang="en-US" sz="1050" dirty="0" err="1"/>
              <a:t>cerute</a:t>
            </a:r>
            <a:r>
              <a:rPr lang="en-US" sz="1050" dirty="0"/>
              <a:t>.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    &lt; </a:t>
            </a:r>
            <a:r>
              <a:rPr lang="en-US" sz="1050" b="1" dirty="0" err="1">
                <a:solidFill>
                  <a:schemeClr val="accent1">
                    <a:lumMod val="75000"/>
                  </a:schemeClr>
                </a:solidFill>
              </a:rPr>
              <a:t>mkfifo</a:t>
            </a:r>
            <a:r>
              <a:rPr lang="en-US" sz="1050" dirty="0"/>
              <a:t> - </a:t>
            </a:r>
            <a:r>
              <a:rPr lang="en-US" sz="1050" dirty="0" err="1"/>
              <a:t>Pentru</a:t>
            </a:r>
            <a:r>
              <a:rPr lang="en-US" sz="1050" dirty="0"/>
              <a:t> a </a:t>
            </a:r>
            <a:r>
              <a:rPr lang="en-US" sz="1050" dirty="0" err="1"/>
              <a:t>crea</a:t>
            </a:r>
            <a:r>
              <a:rPr lang="en-US" sz="1050" dirty="0"/>
              <a:t> </a:t>
            </a:r>
            <a:r>
              <a:rPr lang="en-US" sz="1050" dirty="0" err="1"/>
              <a:t>fișiere</a:t>
            </a:r>
            <a:r>
              <a:rPr lang="en-US" sz="1050" dirty="0"/>
              <a:t> FIFO </a:t>
            </a:r>
            <a:r>
              <a:rPr lang="en-US" sz="1050" dirty="0" err="1"/>
              <a:t>necesare</a:t>
            </a:r>
            <a:r>
              <a:rPr lang="en-US" sz="1050" dirty="0"/>
              <a:t>.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    &lt; </a:t>
            </a:r>
            <a:r>
              <a:rPr lang="en-US" sz="1050" b="1" dirty="0">
                <a:solidFill>
                  <a:schemeClr val="accent1">
                    <a:lumMod val="75000"/>
                  </a:schemeClr>
                </a:solidFill>
              </a:rPr>
              <a:t>cat, grep, echo </a:t>
            </a:r>
            <a:r>
              <a:rPr lang="en-US" sz="1050" dirty="0"/>
              <a:t>- </a:t>
            </a:r>
            <a:r>
              <a:rPr lang="en-US" sz="1050" dirty="0" err="1"/>
              <a:t>Utilitare</a:t>
            </a:r>
            <a:r>
              <a:rPr lang="en-US" sz="1050" dirty="0"/>
              <a:t> standard </a:t>
            </a:r>
            <a:r>
              <a:rPr lang="en-US" sz="1050" dirty="0" err="1"/>
              <a:t>pentru</a:t>
            </a:r>
            <a:r>
              <a:rPr lang="en-US" sz="1050" dirty="0"/>
              <a:t> </a:t>
            </a:r>
            <a:r>
              <a:rPr lang="en-US" sz="1050" dirty="0" err="1"/>
              <a:t>gestionarea</a:t>
            </a:r>
            <a:r>
              <a:rPr lang="en-US" sz="1050" dirty="0"/>
              <a:t> </a:t>
            </a:r>
            <a:r>
              <a:rPr lang="en-US" sz="1050" dirty="0" err="1"/>
              <a:t>fișierelor</a:t>
            </a:r>
            <a:r>
              <a:rPr lang="en-US" sz="1050" dirty="0"/>
              <a:t> </a:t>
            </a:r>
            <a:r>
              <a:rPr lang="en-US" sz="1050" dirty="0" err="1"/>
              <a:t>și</a:t>
            </a:r>
            <a:r>
              <a:rPr lang="en-US" sz="1050" dirty="0"/>
              <a:t> </a:t>
            </a:r>
            <a:r>
              <a:rPr lang="en-US" sz="1050" dirty="0" err="1"/>
              <a:t>textului</a:t>
            </a:r>
            <a:r>
              <a:rPr lang="en-US" sz="1050" dirty="0"/>
              <a:t>.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 err="1">
                <a:solidFill>
                  <a:schemeClr val="bg2"/>
                </a:solidFill>
              </a:rPr>
              <a:t>Configurare</a:t>
            </a:r>
            <a:r>
              <a:rPr lang="en-US" sz="1100" b="1" dirty="0">
                <a:solidFill>
                  <a:schemeClr val="bg2"/>
                </a:solidFill>
              </a:rPr>
              <a:t> </a:t>
            </a:r>
            <a:r>
              <a:rPr lang="en-US" sz="1100" b="1" dirty="0" err="1">
                <a:solidFill>
                  <a:schemeClr val="bg2"/>
                </a:solidFill>
              </a:rPr>
              <a:t>și</a:t>
            </a:r>
            <a:r>
              <a:rPr lang="en-US" sz="1100" b="1" dirty="0">
                <a:solidFill>
                  <a:schemeClr val="bg2"/>
                </a:solidFill>
              </a:rPr>
              <a:t> </a:t>
            </a:r>
            <a:r>
              <a:rPr lang="en-US" sz="1100" b="1" dirty="0" err="1">
                <a:solidFill>
                  <a:schemeClr val="bg2"/>
                </a:solidFill>
              </a:rPr>
              <a:t>rulare</a:t>
            </a:r>
            <a:r>
              <a:rPr lang="en-US" sz="1100" b="1" dirty="0">
                <a:solidFill>
                  <a:schemeClr val="bg2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    &lt; </a:t>
            </a:r>
            <a:r>
              <a:rPr lang="en-US" sz="1050" dirty="0" err="1"/>
              <a:t>Scriptul</a:t>
            </a:r>
            <a:r>
              <a:rPr lang="en-US" sz="1050" dirty="0"/>
              <a:t> server </a:t>
            </a:r>
            <a:r>
              <a:rPr lang="en-US" sz="1050" dirty="0" err="1"/>
              <a:t>utilizează</a:t>
            </a:r>
            <a:r>
              <a:rPr lang="en-US" sz="1050" dirty="0"/>
              <a:t> un </a:t>
            </a:r>
            <a:r>
              <a:rPr lang="en-US" sz="1050" dirty="0" err="1"/>
              <a:t>fișier</a:t>
            </a:r>
            <a:r>
              <a:rPr lang="en-US" sz="1050" dirty="0"/>
              <a:t> de </a:t>
            </a:r>
            <a:r>
              <a:rPr lang="en-US" sz="1050" dirty="0" err="1"/>
              <a:t>configurare</a:t>
            </a:r>
            <a:r>
              <a:rPr lang="en-US" sz="1050" dirty="0"/>
              <a:t> (</a:t>
            </a:r>
            <a:r>
              <a:rPr lang="en-US" sz="1050" dirty="0" err="1"/>
              <a:t>în</a:t>
            </a:r>
            <a:r>
              <a:rPr lang="en-US" sz="1050" dirty="0"/>
              <a:t> </a:t>
            </a:r>
            <a:r>
              <a:rPr lang="en-US" sz="1050" dirty="0" err="1"/>
              <a:t>exemplu</a:t>
            </a:r>
            <a:r>
              <a:rPr lang="en-US" sz="1050" dirty="0"/>
              <a:t>, </a:t>
            </a:r>
            <a:r>
              <a:rPr lang="en-US" sz="1050" dirty="0" err="1"/>
              <a:t>server_config.cfg</a:t>
            </a:r>
            <a:r>
              <a:rPr lang="en-US" sz="1050" dirty="0"/>
              <a:t>), </a:t>
            </a:r>
            <a:r>
              <a:rPr lang="en-US" sz="1050" dirty="0" err="1"/>
              <a:t>ceea</a:t>
            </a:r>
            <a:r>
              <a:rPr lang="en-US" sz="1050" dirty="0"/>
              <a:t> </a:t>
            </a:r>
            <a:r>
              <a:rPr lang="en-US" sz="1050" dirty="0" err="1"/>
              <a:t>ce</a:t>
            </a:r>
            <a:r>
              <a:rPr lang="en-US" sz="1050" dirty="0"/>
              <a:t> face </a:t>
            </a:r>
            <a:r>
              <a:rPr lang="en-US" sz="1050" dirty="0" err="1"/>
              <a:t>soluția</a:t>
            </a:r>
            <a:r>
              <a:rPr lang="en-US" sz="1050" dirty="0"/>
              <a:t> </a:t>
            </a:r>
            <a:r>
              <a:rPr lang="en-US" sz="1050" dirty="0" err="1"/>
              <a:t>portabilă</a:t>
            </a:r>
            <a:r>
              <a:rPr lang="en-US" sz="1050" dirty="0"/>
              <a:t>.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     &lt; </a:t>
            </a:r>
            <a:r>
              <a:rPr lang="en-US" sz="1050" dirty="0" err="1"/>
              <a:t>Fișierele</a:t>
            </a:r>
            <a:r>
              <a:rPr lang="en-US" sz="1050" dirty="0"/>
              <a:t> FIFO (de ex. </a:t>
            </a:r>
            <a:r>
              <a:rPr lang="en-US" sz="1050" dirty="0" err="1"/>
              <a:t>server_fifo</a:t>
            </a:r>
            <a:r>
              <a:rPr lang="en-US" sz="1050" dirty="0"/>
              <a:t> </a:t>
            </a:r>
            <a:r>
              <a:rPr lang="en-US" sz="1050" dirty="0" err="1"/>
              <a:t>și</a:t>
            </a:r>
            <a:r>
              <a:rPr lang="en-US" sz="1050" dirty="0"/>
              <a:t> </a:t>
            </a:r>
            <a:r>
              <a:rPr lang="en-US" sz="1050" dirty="0" err="1"/>
              <a:t>client_fifo</a:t>
            </a:r>
            <a:r>
              <a:rPr lang="en-US" sz="1050" dirty="0"/>
              <a:t>) </a:t>
            </a:r>
            <a:r>
              <a:rPr lang="en-US" sz="1050" dirty="0" err="1"/>
              <a:t>necesită</a:t>
            </a:r>
            <a:r>
              <a:rPr lang="en-US" sz="1050" dirty="0"/>
              <a:t> </a:t>
            </a:r>
            <a:r>
              <a:rPr lang="en-US" sz="1050" dirty="0" err="1"/>
              <a:t>locații</a:t>
            </a:r>
            <a:r>
              <a:rPr lang="en-US" sz="1050" dirty="0"/>
              <a:t> </a:t>
            </a:r>
            <a:r>
              <a:rPr lang="en-US" sz="1050" dirty="0" err="1"/>
              <a:t>accesibile</a:t>
            </a:r>
            <a:r>
              <a:rPr lang="en-US" sz="1050" dirty="0"/>
              <a:t>.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 err="1">
                <a:solidFill>
                  <a:schemeClr val="bg2"/>
                </a:solidFill>
              </a:rPr>
              <a:t>Resurse</a:t>
            </a:r>
            <a:r>
              <a:rPr lang="en-US" sz="1100" b="1" dirty="0">
                <a:solidFill>
                  <a:schemeClr val="bg2"/>
                </a:solidFill>
              </a:rPr>
              <a:t> </a:t>
            </a:r>
            <a:r>
              <a:rPr lang="en-US" sz="1100" b="1" dirty="0" err="1">
                <a:solidFill>
                  <a:schemeClr val="bg2"/>
                </a:solidFill>
              </a:rPr>
              <a:t>minime</a:t>
            </a:r>
            <a:r>
              <a:rPr lang="en-US" sz="1100" b="1" dirty="0">
                <a:solidFill>
                  <a:schemeClr val="bg2"/>
                </a:solidFill>
              </a:rPr>
              <a:t> de </a:t>
            </a:r>
            <a:r>
              <a:rPr lang="en-US" sz="1100" b="1" dirty="0" err="1">
                <a:solidFill>
                  <a:schemeClr val="bg2"/>
                </a:solidFill>
              </a:rPr>
              <a:t>testare</a:t>
            </a:r>
            <a:r>
              <a:rPr lang="en-US" sz="1100" b="1" dirty="0">
                <a:solidFill>
                  <a:schemeClr val="bg2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   </a:t>
            </a:r>
            <a:r>
              <a:rPr lang="es-ES" sz="1050" dirty="0"/>
              <a:t>Un </a:t>
            </a:r>
            <a:r>
              <a:rPr lang="es-ES" sz="1050" dirty="0" err="1"/>
              <a:t>calculator</a:t>
            </a:r>
            <a:r>
              <a:rPr lang="es-ES" sz="1050" dirty="0"/>
              <a:t> </a:t>
            </a:r>
            <a:r>
              <a:rPr lang="es-ES" sz="1050" dirty="0" err="1"/>
              <a:t>sau</a:t>
            </a:r>
            <a:r>
              <a:rPr lang="es-ES" sz="1050" dirty="0"/>
              <a:t> VM </a:t>
            </a:r>
            <a:r>
              <a:rPr lang="es-ES" sz="1050" dirty="0" err="1"/>
              <a:t>cu</a:t>
            </a:r>
            <a:r>
              <a:rPr lang="es-ES" sz="1050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/>
              <a:t>       &lt; 1 GB RAM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/>
              <a:t>       &lt; 10 MB </a:t>
            </a:r>
            <a:r>
              <a:rPr lang="es-ES" sz="1050" dirty="0" err="1"/>
              <a:t>spațiu</a:t>
            </a:r>
            <a:r>
              <a:rPr lang="es-ES" sz="1050" dirty="0"/>
              <a:t> </a:t>
            </a:r>
            <a:r>
              <a:rPr lang="es-ES" sz="1050" dirty="0" err="1"/>
              <a:t>liber</a:t>
            </a:r>
            <a:r>
              <a:rPr lang="es-ES" sz="1050" dirty="0"/>
              <a:t>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/>
              <a:t>       &lt; Un </a:t>
            </a:r>
            <a:r>
              <a:rPr lang="es-ES" sz="1050" dirty="0" err="1"/>
              <a:t>procesor</a:t>
            </a:r>
            <a:r>
              <a:rPr lang="es-ES" sz="1050" dirty="0"/>
              <a:t> </a:t>
            </a:r>
            <a:r>
              <a:rPr lang="es-ES" sz="1050" dirty="0" err="1"/>
              <a:t>simplu</a:t>
            </a:r>
            <a:r>
              <a:rPr lang="es-ES" sz="1050" dirty="0"/>
              <a:t> (1 </a:t>
            </a:r>
            <a:r>
              <a:rPr lang="es-ES" sz="1050" dirty="0" err="1"/>
              <a:t>core</a:t>
            </a:r>
            <a:r>
              <a:rPr lang="es-ES" sz="1050" dirty="0"/>
              <a:t>)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/>
              <a:t>       &lt; </a:t>
            </a:r>
            <a:r>
              <a:rPr lang="es-ES" sz="1050" dirty="0" err="1"/>
              <a:t>Acces</a:t>
            </a:r>
            <a:r>
              <a:rPr lang="es-ES" sz="1050" dirty="0"/>
              <a:t> la un </a:t>
            </a:r>
            <a:r>
              <a:rPr lang="es-ES" sz="1050" dirty="0" err="1"/>
              <a:t>shell</a:t>
            </a:r>
            <a:r>
              <a:rPr lang="es-ES" sz="1050" dirty="0"/>
              <a:t> Linux </a:t>
            </a:r>
            <a:r>
              <a:rPr lang="es-ES" sz="1050" dirty="0" err="1"/>
              <a:t>complet</a:t>
            </a:r>
            <a:r>
              <a:rPr lang="es-ES" sz="1050" dirty="0"/>
              <a:t> (</a:t>
            </a:r>
            <a:r>
              <a:rPr lang="es-ES" sz="1050" dirty="0" err="1"/>
              <a:t>bash</a:t>
            </a:r>
            <a:r>
              <a:rPr lang="es-ES" sz="1050" dirty="0"/>
              <a:t>). &gt;</a:t>
            </a:r>
            <a:endParaRPr lang="en-US" sz="1050" dirty="0"/>
          </a:p>
        </p:txBody>
      </p:sp>
      <p:sp>
        <p:nvSpPr>
          <p:cNvPr id="3118" name="Google Shape;3118;p51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119" name="Google Shape;3119;p51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3120" name="Google Shape;3120;p51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grpSp>
        <p:nvGrpSpPr>
          <p:cNvPr id="3121" name="Google Shape;3121;p51"/>
          <p:cNvGrpSpPr/>
          <p:nvPr/>
        </p:nvGrpSpPr>
        <p:grpSpPr>
          <a:xfrm>
            <a:off x="1084825" y="1152525"/>
            <a:ext cx="472752" cy="3417423"/>
            <a:chOff x="1084825" y="1152525"/>
            <a:chExt cx="472752" cy="3417423"/>
          </a:xfrm>
        </p:grpSpPr>
        <p:sp>
          <p:nvSpPr>
            <p:cNvPr id="3122" name="Google Shape;3122;p51"/>
            <p:cNvSpPr txBox="1"/>
            <p:nvPr/>
          </p:nvSpPr>
          <p:spPr>
            <a:xfrm>
              <a:off x="1084825" y="3954425"/>
              <a:ext cx="472752" cy="6155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3123" name="Google Shape;3123;p51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E886DE5C-6A3B-4AE0-5D81-69D26FB8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7632D699-3171-97ED-D5AE-247A71F228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02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>
            <a:extLst>
              <a:ext uri="{FF2B5EF4-FFF2-40B4-BE49-F238E27FC236}">
                <a16:creationId xmlns:a16="http://schemas.microsoft.com/office/drawing/2014/main" id="{EB3D762B-0D83-FF89-8D74-97D04A2B3EA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01326" y="2103575"/>
            <a:ext cx="5747797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-US" dirty="0">
                <a:solidFill>
                  <a:schemeClr val="accent1"/>
                </a:solidFill>
              </a:rPr>
              <a:t> Design </a:t>
            </a:r>
            <a:r>
              <a:rPr lang="en-US" dirty="0" err="1">
                <a:solidFill>
                  <a:schemeClr val="accent1"/>
                </a:solidFill>
              </a:rPr>
              <a:t>solu</a:t>
            </a:r>
            <a:r>
              <a:rPr lang="ro-RO" dirty="0">
                <a:solidFill>
                  <a:schemeClr val="accent1"/>
                </a:solidFill>
              </a:rPr>
              <a:t>ț</a:t>
            </a:r>
            <a:r>
              <a:rPr lang="en-US" dirty="0" err="1">
                <a:solidFill>
                  <a:schemeClr val="accent1"/>
                </a:solidFill>
              </a:rPr>
              <a:t>ie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CC7B39F2-48C8-740B-CEB0-111F68AB752F}"/>
              </a:ext>
            </a:extLst>
          </p:cNvPr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8732A0E1-9B1B-3481-6ADC-4A8AC1CE5D01}"/>
              </a:ext>
            </a:extLst>
          </p:cNvPr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95B2244A-E6AE-9A88-E7C9-E3BC36CB209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0C7CB5E6-CB80-36DF-5A18-65B34A37F99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serverFIFO@serverFIFO-VirtualBox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07B5351E-2ED6-1786-E754-5FB6AB5B07D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817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47"/>
          <p:cNvSpPr txBox="1">
            <a:spLocks noGrp="1"/>
          </p:cNvSpPr>
          <p:nvPr>
            <p:ph type="title"/>
          </p:nvPr>
        </p:nvSpPr>
        <p:spPr>
          <a:xfrm>
            <a:off x="1120003" y="52009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$</a:t>
            </a:r>
            <a:r>
              <a:rPr lang="en" sz="2400" dirty="0"/>
              <a:t> Design</a:t>
            </a:r>
            <a:r>
              <a:rPr lang="en" sz="2400" dirty="0">
                <a:solidFill>
                  <a:schemeClr val="accent2"/>
                </a:solidFill>
              </a:rPr>
              <a:t> solu</a:t>
            </a:r>
            <a:r>
              <a:rPr lang="ro-RO" sz="2400" dirty="0">
                <a:solidFill>
                  <a:schemeClr val="accent2"/>
                </a:solidFill>
              </a:rPr>
              <a:t>ție </a:t>
            </a:r>
            <a:r>
              <a:rPr lang="en" sz="2400" dirty="0">
                <a:solidFill>
                  <a:schemeClr val="accent6"/>
                </a:solidFill>
              </a:rPr>
              <a:t>{ </a:t>
            </a:r>
            <a:r>
              <a:rPr lang="en" sz="1400" dirty="0">
                <a:solidFill>
                  <a:schemeClr val="accent3"/>
                </a:solidFill>
              </a:rPr>
              <a:t>Algoritmii folosi</a:t>
            </a:r>
            <a:r>
              <a:rPr lang="ro-RO" sz="1400" dirty="0">
                <a:solidFill>
                  <a:schemeClr val="accent3"/>
                </a:solidFill>
              </a:rPr>
              <a:t>ț</a:t>
            </a:r>
            <a:r>
              <a:rPr lang="en-US" sz="1400" dirty="0" err="1">
                <a:solidFill>
                  <a:schemeClr val="accent3"/>
                </a:solidFill>
              </a:rPr>
              <a:t>i</a:t>
            </a:r>
            <a:r>
              <a:rPr lang="en-US" sz="1400" dirty="0">
                <a:solidFill>
                  <a:schemeClr val="accent3"/>
                </a:solidFill>
              </a:rPr>
              <a:t> sunt:</a:t>
            </a:r>
            <a:endParaRPr sz="2400" dirty="0">
              <a:solidFill>
                <a:schemeClr val="accent3"/>
              </a:solidFill>
            </a:endParaRPr>
          </a:p>
        </p:txBody>
      </p:sp>
      <p:sp>
        <p:nvSpPr>
          <p:cNvPr id="2501" name="Google Shape;2501;p47"/>
          <p:cNvSpPr txBox="1">
            <a:spLocks noGrp="1"/>
          </p:cNvSpPr>
          <p:nvPr>
            <p:ph type="subTitle" idx="2"/>
          </p:nvPr>
        </p:nvSpPr>
        <p:spPr>
          <a:xfrm>
            <a:off x="1221694" y="1662540"/>
            <a:ext cx="4064422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/>
              <a:t>Pas 1: </a:t>
            </a:r>
            <a:r>
              <a:rPr lang="en-US" sz="1400" dirty="0" err="1">
                <a:solidFill>
                  <a:schemeClr val="accent3"/>
                </a:solidFill>
              </a:rPr>
              <a:t>Deschide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și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inițializează</a:t>
            </a:r>
            <a:r>
              <a:rPr lang="en-US" sz="1400" dirty="0">
                <a:solidFill>
                  <a:schemeClr val="accent3"/>
                </a:solidFill>
              </a:rPr>
              <a:t> FIFO-</a:t>
            </a:r>
            <a:r>
              <a:rPr lang="en-US" sz="1400" dirty="0" err="1">
                <a:solidFill>
                  <a:schemeClr val="accent3"/>
                </a:solidFill>
              </a:rPr>
              <a:t>ul</a:t>
            </a:r>
            <a:r>
              <a:rPr lang="en-US" sz="1400" dirty="0">
                <a:solidFill>
                  <a:schemeClr val="accent3"/>
                </a:solidFill>
              </a:rPr>
              <a:t> bine </a:t>
            </a:r>
            <a:r>
              <a:rPr lang="en-US" sz="1400" dirty="0" err="1">
                <a:solidFill>
                  <a:schemeClr val="accent3"/>
                </a:solidFill>
              </a:rPr>
              <a:t>cunoscut</a:t>
            </a:r>
            <a:r>
              <a:rPr lang="en-US" sz="1400" dirty="0">
                <a:solidFill>
                  <a:schemeClr val="accent3"/>
                </a:solidFill>
              </a:rPr>
              <a:t>.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03" name="Google Shape;2503;p47"/>
          <p:cNvSpPr txBox="1">
            <a:spLocks noGrp="1"/>
          </p:cNvSpPr>
          <p:nvPr>
            <p:ph type="subTitle" idx="4"/>
          </p:nvPr>
        </p:nvSpPr>
        <p:spPr>
          <a:xfrm>
            <a:off x="1221694" y="4009063"/>
            <a:ext cx="3901066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1" dirty="0"/>
              <a:t>Pas 3: </a:t>
            </a:r>
            <a:r>
              <a:rPr lang="it-IT" sz="1400" dirty="0">
                <a:solidFill>
                  <a:schemeClr val="accent3"/>
                </a:solidFill>
              </a:rPr>
              <a:t>Continuă procesarea pentru alte cereri.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05" name="Google Shape;2505;p47"/>
          <p:cNvSpPr txBox="1">
            <a:spLocks noGrp="1"/>
          </p:cNvSpPr>
          <p:nvPr>
            <p:ph type="subTitle" idx="6"/>
          </p:nvPr>
        </p:nvSpPr>
        <p:spPr>
          <a:xfrm>
            <a:off x="5195583" y="1626752"/>
            <a:ext cx="3948417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/>
              <a:t>Pas 1: </a:t>
            </a:r>
            <a:r>
              <a:rPr lang="en-US" sz="1400" dirty="0" err="1">
                <a:solidFill>
                  <a:schemeClr val="accent3"/>
                </a:solidFill>
              </a:rPr>
              <a:t>Creează</a:t>
            </a:r>
            <a:r>
              <a:rPr lang="en-US" sz="1400" dirty="0">
                <a:solidFill>
                  <a:schemeClr val="accent3"/>
                </a:solidFill>
              </a:rPr>
              <a:t> un </a:t>
            </a:r>
            <a:r>
              <a:rPr lang="en-US" sz="1400" dirty="0" err="1">
                <a:solidFill>
                  <a:schemeClr val="accent3"/>
                </a:solidFill>
              </a:rPr>
              <a:t>mesaj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formatat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și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îl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trimite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în</a:t>
            </a:r>
            <a:r>
              <a:rPr lang="en-US" sz="1400" dirty="0">
                <a:solidFill>
                  <a:schemeClr val="accent3"/>
                </a:solidFill>
              </a:rPr>
              <a:t> FIFO-</a:t>
            </a:r>
            <a:r>
              <a:rPr lang="en-US" sz="1400" dirty="0" err="1">
                <a:solidFill>
                  <a:schemeClr val="accent3"/>
                </a:solidFill>
              </a:rPr>
              <a:t>ul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serverului</a:t>
            </a:r>
            <a:r>
              <a:rPr lang="en-US" sz="1400" dirty="0">
                <a:solidFill>
                  <a:schemeClr val="accent3"/>
                </a:solidFill>
              </a:rPr>
              <a:t>.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07" name="Google Shape;2507;p47"/>
          <p:cNvSpPr txBox="1">
            <a:spLocks noGrp="1"/>
          </p:cNvSpPr>
          <p:nvPr>
            <p:ph type="subTitle" idx="8"/>
          </p:nvPr>
        </p:nvSpPr>
        <p:spPr>
          <a:xfrm>
            <a:off x="1231898" y="2158627"/>
            <a:ext cx="3821553" cy="15964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dirty="0"/>
              <a:t>Pas 2: </a:t>
            </a:r>
            <a:r>
              <a:rPr lang="fr-FR" sz="1400" dirty="0" err="1">
                <a:solidFill>
                  <a:schemeClr val="accent3"/>
                </a:solidFill>
              </a:rPr>
              <a:t>Buclă</a:t>
            </a:r>
            <a:r>
              <a:rPr lang="fr-FR" sz="1400" dirty="0">
                <a:solidFill>
                  <a:schemeClr val="accent3"/>
                </a:solidFill>
              </a:rPr>
              <a:t> </a:t>
            </a:r>
            <a:r>
              <a:rPr lang="fr-FR" sz="1400" dirty="0" err="1">
                <a:solidFill>
                  <a:schemeClr val="accent3"/>
                </a:solidFill>
              </a:rPr>
              <a:t>infinită</a:t>
            </a:r>
            <a:r>
              <a:rPr lang="fr-FR" sz="1400" dirty="0">
                <a:solidFill>
                  <a:schemeClr val="accent3"/>
                </a:solidFill>
              </a:rPr>
              <a:t> care: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&lt; </a:t>
            </a:r>
            <a:r>
              <a:rPr lang="en-US" sz="1200" dirty="0" err="1">
                <a:solidFill>
                  <a:schemeClr val="accent3"/>
                </a:solidFill>
              </a:rPr>
              <a:t>Citește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cererea</a:t>
            </a:r>
            <a:r>
              <a:rPr lang="en-US" sz="1200" dirty="0">
                <a:solidFill>
                  <a:schemeClr val="accent3"/>
                </a:solidFill>
              </a:rPr>
              <a:t> de la client.&gt;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&lt; </a:t>
            </a:r>
            <a:r>
              <a:rPr lang="en-US" sz="1200" dirty="0" err="1">
                <a:solidFill>
                  <a:schemeClr val="accent3"/>
                </a:solidFill>
              </a:rPr>
              <a:t>Parsează</a:t>
            </a:r>
            <a:r>
              <a:rPr lang="en-US" sz="1200" dirty="0">
                <a:solidFill>
                  <a:schemeClr val="accent3"/>
                </a:solidFill>
              </a:rPr>
              <a:t> PID-</a:t>
            </a:r>
            <a:r>
              <a:rPr lang="en-US" sz="1200" dirty="0" err="1">
                <a:solidFill>
                  <a:schemeClr val="accent3"/>
                </a:solidFill>
              </a:rPr>
              <a:t>ul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și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numele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comenzii</a:t>
            </a:r>
            <a:r>
              <a:rPr lang="en-US" sz="1200" dirty="0">
                <a:solidFill>
                  <a:schemeClr val="accent3"/>
                </a:solidFill>
              </a:rPr>
              <a:t>.&gt;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&lt; </a:t>
            </a:r>
            <a:r>
              <a:rPr lang="en-US" sz="1200" dirty="0" err="1">
                <a:solidFill>
                  <a:schemeClr val="accent3"/>
                </a:solidFill>
              </a:rPr>
              <a:t>Creează</a:t>
            </a:r>
            <a:r>
              <a:rPr lang="en-US" sz="1200" dirty="0">
                <a:solidFill>
                  <a:schemeClr val="accent3"/>
                </a:solidFill>
              </a:rPr>
              <a:t> FIFO-</a:t>
            </a:r>
            <a:r>
              <a:rPr lang="en-US" sz="1200" dirty="0" err="1">
                <a:solidFill>
                  <a:schemeClr val="accent3"/>
                </a:solidFill>
              </a:rPr>
              <a:t>ul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personalizat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dacă</a:t>
            </a:r>
            <a:r>
              <a:rPr lang="en-US" sz="1200" dirty="0">
                <a:solidFill>
                  <a:schemeClr val="accent3"/>
                </a:solidFill>
              </a:rPr>
              <a:t> nu </a:t>
            </a:r>
            <a:r>
              <a:rPr lang="en-US" sz="1200" dirty="0" err="1">
                <a:solidFill>
                  <a:schemeClr val="accent3"/>
                </a:solidFill>
              </a:rPr>
              <a:t>există</a:t>
            </a:r>
            <a:r>
              <a:rPr lang="en-US" sz="1200" dirty="0">
                <a:solidFill>
                  <a:schemeClr val="accent3"/>
                </a:solidFill>
              </a:rPr>
              <a:t>.&gt;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&lt; </a:t>
            </a:r>
            <a:r>
              <a:rPr lang="en-US" sz="1200" dirty="0" err="1">
                <a:solidFill>
                  <a:schemeClr val="accent3"/>
                </a:solidFill>
              </a:rPr>
              <a:t>Execută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comanda</a:t>
            </a:r>
            <a:r>
              <a:rPr lang="en-US" sz="1200" dirty="0">
                <a:solidFill>
                  <a:schemeClr val="accent3"/>
                </a:solidFill>
              </a:rPr>
              <a:t> man </a:t>
            </a:r>
            <a:r>
              <a:rPr lang="en-US" sz="1200" dirty="0" err="1">
                <a:solidFill>
                  <a:schemeClr val="accent3"/>
                </a:solidFill>
              </a:rPr>
              <a:t>pentru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numele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cerut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și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scrie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răspunsul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în</a:t>
            </a:r>
            <a:r>
              <a:rPr lang="en-US" sz="1200" dirty="0">
                <a:solidFill>
                  <a:schemeClr val="accent3"/>
                </a:solidFill>
              </a:rPr>
              <a:t> FIFO-</a:t>
            </a:r>
            <a:r>
              <a:rPr lang="en-US" sz="1200" dirty="0" err="1">
                <a:solidFill>
                  <a:schemeClr val="accent3"/>
                </a:solidFill>
              </a:rPr>
              <a:t>ul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clientului</a:t>
            </a:r>
            <a:r>
              <a:rPr lang="en-US" sz="1200" dirty="0">
                <a:solidFill>
                  <a:schemeClr val="accent3"/>
                </a:solidFill>
              </a:rPr>
              <a:t>.&gt;</a:t>
            </a:r>
            <a:endParaRPr sz="1200" dirty="0">
              <a:solidFill>
                <a:schemeClr val="accent3"/>
              </a:solidFill>
            </a:endParaRPr>
          </a:p>
        </p:txBody>
      </p:sp>
      <p:sp>
        <p:nvSpPr>
          <p:cNvPr id="2509" name="Google Shape;2509;p47"/>
          <p:cNvSpPr txBox="1">
            <a:spLocks noGrp="1"/>
          </p:cNvSpPr>
          <p:nvPr>
            <p:ph type="subTitle" idx="13"/>
          </p:nvPr>
        </p:nvSpPr>
        <p:spPr>
          <a:xfrm>
            <a:off x="5208649" y="2768721"/>
            <a:ext cx="3948415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/>
              <a:t>Pas 2: </a:t>
            </a:r>
            <a:r>
              <a:rPr lang="en-US" sz="1400" dirty="0" err="1">
                <a:solidFill>
                  <a:schemeClr val="accent3"/>
                </a:solidFill>
              </a:rPr>
              <a:t>Așteaptă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și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citește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răspunsul</a:t>
            </a:r>
            <a:r>
              <a:rPr lang="en-US" sz="1400" dirty="0">
                <a:solidFill>
                  <a:schemeClr val="accent3"/>
                </a:solidFill>
              </a:rPr>
              <a:t> din FIFO-</a:t>
            </a:r>
            <a:r>
              <a:rPr lang="en-US" sz="1400" dirty="0" err="1">
                <a:solidFill>
                  <a:schemeClr val="accent3"/>
                </a:solidFill>
              </a:rPr>
              <a:t>ul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personalizat</a:t>
            </a:r>
            <a:r>
              <a:rPr lang="en-US" sz="1400" dirty="0">
                <a:solidFill>
                  <a:schemeClr val="accent3"/>
                </a:solidFill>
              </a:rPr>
              <a:t>.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11" name="Google Shape;2511;p47"/>
          <p:cNvSpPr txBox="1">
            <a:spLocks noGrp="1"/>
          </p:cNvSpPr>
          <p:nvPr>
            <p:ph type="subTitle" idx="15"/>
          </p:nvPr>
        </p:nvSpPr>
        <p:spPr>
          <a:xfrm>
            <a:off x="5208649" y="4000200"/>
            <a:ext cx="3645971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/>
              <a:t>Pas 3: </a:t>
            </a:r>
            <a:r>
              <a:rPr lang="en-US" sz="1400" dirty="0" err="1">
                <a:solidFill>
                  <a:schemeClr val="accent3"/>
                </a:solidFill>
              </a:rPr>
              <a:t>Afișează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răspunsul</a:t>
            </a:r>
            <a:r>
              <a:rPr lang="en-US" sz="1400" dirty="0">
                <a:solidFill>
                  <a:schemeClr val="accent3"/>
                </a:solidFill>
              </a:rPr>
              <a:t>, </a:t>
            </a:r>
            <a:r>
              <a:rPr lang="en-US" sz="1400" dirty="0" err="1">
                <a:solidFill>
                  <a:schemeClr val="accent3"/>
                </a:solidFill>
              </a:rPr>
              <a:t>apoi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șterge</a:t>
            </a:r>
            <a:r>
              <a:rPr lang="en-US" sz="1400" dirty="0">
                <a:solidFill>
                  <a:schemeClr val="accent3"/>
                </a:solidFill>
              </a:rPr>
              <a:t> FIFO-</a:t>
            </a:r>
            <a:r>
              <a:rPr lang="en-US" sz="1400" dirty="0" err="1">
                <a:solidFill>
                  <a:schemeClr val="accent3"/>
                </a:solidFill>
              </a:rPr>
              <a:t>ul</a:t>
            </a:r>
            <a:r>
              <a:rPr lang="en-US" sz="1400" dirty="0">
                <a:solidFill>
                  <a:schemeClr val="accent3"/>
                </a:solidFill>
              </a:rPr>
              <a:t> personal.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12" name="Google Shape;2512;p47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2513" name="Google Shape;2513;p4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2514" name="Google Shape;2514;p4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cxnSp>
        <p:nvCxnSpPr>
          <p:cNvPr id="2517" name="Google Shape;2517;p47"/>
          <p:cNvCxnSpPr>
            <a:cxnSpLocks/>
          </p:cNvCxnSpPr>
          <p:nvPr/>
        </p:nvCxnSpPr>
        <p:spPr>
          <a:xfrm>
            <a:off x="5033066" y="1143300"/>
            <a:ext cx="0" cy="3382205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0DD262-CA73-1B10-6AB3-A1F15BEE3450}"/>
              </a:ext>
            </a:extLst>
          </p:cNvPr>
          <p:cNvSpPr txBox="1"/>
          <p:nvPr/>
        </p:nvSpPr>
        <p:spPr>
          <a:xfrm>
            <a:off x="1663772" y="1225098"/>
            <a:ext cx="3014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FF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Algoritmul</a:t>
            </a:r>
            <a:r>
              <a:rPr lang="en-US" sz="1600" dirty="0">
                <a:solidFill>
                  <a:srgbClr val="FFFF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serverului</a:t>
            </a:r>
            <a:r>
              <a:rPr lang="en-US" sz="1600" dirty="0">
                <a:solidFill>
                  <a:srgbClr val="FFFF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8FF9C6-9E75-B0A3-82F1-54288C118C37}"/>
              </a:ext>
            </a:extLst>
          </p:cNvPr>
          <p:cNvSpPr txBox="1"/>
          <p:nvPr/>
        </p:nvSpPr>
        <p:spPr>
          <a:xfrm>
            <a:off x="5575225" y="1206049"/>
            <a:ext cx="3014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FF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Algoritmul</a:t>
            </a:r>
            <a:r>
              <a:rPr lang="en-US" sz="1600" dirty="0">
                <a:solidFill>
                  <a:srgbClr val="FFFF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clientului</a:t>
            </a:r>
            <a:r>
              <a:rPr lang="en-US" sz="1600" dirty="0">
                <a:solidFill>
                  <a:srgbClr val="FFFF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>
          <a:extLst>
            <a:ext uri="{FF2B5EF4-FFF2-40B4-BE49-F238E27FC236}">
              <a16:creationId xmlns:a16="http://schemas.microsoft.com/office/drawing/2014/main" id="{A314A55E-9322-77E3-B3CB-7770FFBE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>
            <a:extLst>
              <a:ext uri="{FF2B5EF4-FFF2-40B4-BE49-F238E27FC236}">
                <a16:creationId xmlns:a16="http://schemas.microsoft.com/office/drawing/2014/main" id="{5E2BC84E-B43B-C98E-9D14-B39F0125F80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13814" y="1481386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&lt; Un server </a:t>
            </a:r>
            <a:r>
              <a:rPr lang="en-US" dirty="0" err="1"/>
              <a:t>este</a:t>
            </a:r>
            <a:r>
              <a:rPr lang="en-US" dirty="0"/>
              <a:t> un program </a:t>
            </a:r>
            <a:r>
              <a:rPr lang="en-US" dirty="0" err="1"/>
              <a:t>sau</a:t>
            </a:r>
            <a:r>
              <a:rPr lang="en-US" dirty="0"/>
              <a:t> un </a:t>
            </a:r>
            <a:r>
              <a:rPr lang="en-US" dirty="0" err="1"/>
              <a:t>proces</a:t>
            </a:r>
            <a:r>
              <a:rPr lang="en-US" dirty="0"/>
              <a:t> care </a:t>
            </a:r>
            <a:r>
              <a:rPr lang="en-US" dirty="0" err="1"/>
              <a:t>ascultă</a:t>
            </a:r>
            <a:r>
              <a:rPr lang="en-US" dirty="0"/>
              <a:t> </a:t>
            </a:r>
            <a:r>
              <a:rPr lang="en-US" dirty="0" err="1"/>
              <a:t>cereri</a:t>
            </a:r>
            <a:r>
              <a:rPr lang="en-US" dirty="0"/>
              <a:t> de la </a:t>
            </a:r>
            <a:r>
              <a:rPr lang="en-US" dirty="0" err="1"/>
              <a:t>clienți</a:t>
            </a:r>
            <a:r>
              <a:rPr lang="en-US" dirty="0"/>
              <a:t>, le </a:t>
            </a:r>
            <a:r>
              <a:rPr lang="en-US" dirty="0" err="1"/>
              <a:t>prelucrează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răspunde</a:t>
            </a:r>
            <a:r>
              <a:rPr lang="en-US" dirty="0"/>
              <a:t> la </a:t>
            </a:r>
            <a:r>
              <a:rPr lang="en-US" dirty="0" err="1"/>
              <a:t>ele</a:t>
            </a:r>
            <a:r>
              <a:rPr lang="en-US" dirty="0"/>
              <a:t>. </a:t>
            </a:r>
            <a:r>
              <a:rPr lang="en-US" dirty="0" err="1"/>
              <a:t>Serverul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activ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rulat</a:t>
            </a:r>
            <a:r>
              <a:rPr lang="en-US" dirty="0"/>
              <a:t> </a:t>
            </a:r>
            <a:r>
              <a:rPr lang="en-US" dirty="0" err="1"/>
              <a:t>înainte</a:t>
            </a:r>
            <a:r>
              <a:rPr lang="en-US" dirty="0"/>
              <a:t> ca </a:t>
            </a:r>
            <a:r>
              <a:rPr lang="en-US" dirty="0" err="1"/>
              <a:t>clienții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poată</a:t>
            </a:r>
            <a:r>
              <a:rPr lang="en-US" dirty="0"/>
              <a:t> </a:t>
            </a:r>
            <a:r>
              <a:rPr lang="en-US" dirty="0" err="1"/>
              <a:t>trimite</a:t>
            </a:r>
            <a:r>
              <a:rPr lang="en-US" dirty="0"/>
              <a:t> </a:t>
            </a:r>
            <a:r>
              <a:rPr lang="en-US" dirty="0" err="1"/>
              <a:t>cereri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server </a:t>
            </a:r>
            <a:r>
              <a:rPr lang="en-US" dirty="0" err="1"/>
              <a:t>bazat</a:t>
            </a:r>
            <a:r>
              <a:rPr lang="en-US" dirty="0"/>
              <a:t> pe FIFO, </a:t>
            </a:r>
            <a:r>
              <a:rPr lang="en-US" dirty="0" err="1"/>
              <a:t>serverul</a:t>
            </a:r>
            <a:r>
              <a:rPr lang="en-US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&gt;</a:t>
            </a:r>
          </a:p>
        </p:txBody>
      </p:sp>
      <p:sp>
        <p:nvSpPr>
          <p:cNvPr id="513" name="Google Shape;513;p31">
            <a:extLst>
              <a:ext uri="{FF2B5EF4-FFF2-40B4-BE49-F238E27FC236}">
                <a16:creationId xmlns:a16="http://schemas.microsoft.com/office/drawing/2014/main" id="{7088DA9A-0460-B76D-6972-64EF922E53B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Venus has a beautiful name and is the second planet from the Sun. It’s hot and has a poisonous atmosphere &gt;</a:t>
            </a:r>
            <a:endParaRPr dirty="0"/>
          </a:p>
        </p:txBody>
      </p:sp>
      <p:grpSp>
        <p:nvGrpSpPr>
          <p:cNvPr id="532" name="Google Shape;532;p31">
            <a:extLst>
              <a:ext uri="{FF2B5EF4-FFF2-40B4-BE49-F238E27FC236}">
                <a16:creationId xmlns:a16="http://schemas.microsoft.com/office/drawing/2014/main" id="{826168F7-400D-BD8E-AE8D-A7E0D75CAFA0}"/>
              </a:ext>
            </a:extLst>
          </p:cNvPr>
          <p:cNvGrpSpPr/>
          <p:nvPr/>
        </p:nvGrpSpPr>
        <p:grpSpPr>
          <a:xfrm>
            <a:off x="1707878" y="3444511"/>
            <a:ext cx="320088" cy="260682"/>
            <a:chOff x="5899913" y="4248925"/>
            <a:chExt cx="639025" cy="524300"/>
          </a:xfrm>
        </p:grpSpPr>
        <p:sp>
          <p:nvSpPr>
            <p:cNvPr id="533" name="Google Shape;533;p31">
              <a:extLst>
                <a:ext uri="{FF2B5EF4-FFF2-40B4-BE49-F238E27FC236}">
                  <a16:creationId xmlns:a16="http://schemas.microsoft.com/office/drawing/2014/main" id="{3F3AFE7E-3BC0-B5D1-5CE3-CF1814C185C4}"/>
                </a:ext>
              </a:extLst>
            </p:cNvPr>
            <p:cNvSpPr/>
            <p:nvPr/>
          </p:nvSpPr>
          <p:spPr>
            <a:xfrm>
              <a:off x="5937363" y="4261725"/>
              <a:ext cx="564600" cy="399175"/>
            </a:xfrm>
            <a:custGeom>
              <a:avLst/>
              <a:gdLst/>
              <a:ahLst/>
              <a:cxnLst/>
              <a:rect l="l" t="t" r="r" b="b"/>
              <a:pathLst>
                <a:path w="22584" h="15967" extrusionOk="0">
                  <a:moveTo>
                    <a:pt x="1005" y="1"/>
                  </a:moveTo>
                  <a:cubicBezTo>
                    <a:pt x="455" y="1"/>
                    <a:pt x="0" y="437"/>
                    <a:pt x="19" y="986"/>
                  </a:cubicBezTo>
                  <a:lnTo>
                    <a:pt x="19" y="15966"/>
                  </a:lnTo>
                  <a:lnTo>
                    <a:pt x="22584" y="15966"/>
                  </a:lnTo>
                  <a:lnTo>
                    <a:pt x="22584" y="986"/>
                  </a:lnTo>
                  <a:cubicBezTo>
                    <a:pt x="22584" y="437"/>
                    <a:pt x="22128" y="1"/>
                    <a:pt x="215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1">
              <a:extLst>
                <a:ext uri="{FF2B5EF4-FFF2-40B4-BE49-F238E27FC236}">
                  <a16:creationId xmlns:a16="http://schemas.microsoft.com/office/drawing/2014/main" id="{A9FE137D-F041-7202-323B-E6586C9EB55C}"/>
                </a:ext>
              </a:extLst>
            </p:cNvPr>
            <p:cNvSpPr/>
            <p:nvPr/>
          </p:nvSpPr>
          <p:spPr>
            <a:xfrm>
              <a:off x="6070088" y="44987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498"/>
                  </a:lnTo>
                  <a:lnTo>
                    <a:pt x="5992" y="4494"/>
                  </a:lnTo>
                  <a:lnTo>
                    <a:pt x="11965" y="1498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1">
              <a:extLst>
                <a:ext uri="{FF2B5EF4-FFF2-40B4-BE49-F238E27FC236}">
                  <a16:creationId xmlns:a16="http://schemas.microsoft.com/office/drawing/2014/main" id="{45436A85-D669-C42D-054F-509A315BC7FD}"/>
                </a:ext>
              </a:extLst>
            </p:cNvPr>
            <p:cNvSpPr/>
            <p:nvPr/>
          </p:nvSpPr>
          <p:spPr>
            <a:xfrm>
              <a:off x="6070088" y="44238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517"/>
                  </a:lnTo>
                  <a:lnTo>
                    <a:pt x="5992" y="4494"/>
                  </a:lnTo>
                  <a:lnTo>
                    <a:pt x="11965" y="1517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rgbClr val="DBA0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1">
              <a:extLst>
                <a:ext uri="{FF2B5EF4-FFF2-40B4-BE49-F238E27FC236}">
                  <a16:creationId xmlns:a16="http://schemas.microsoft.com/office/drawing/2014/main" id="{AAEF8E20-3529-1811-D3E0-0E9966AA25A8}"/>
                </a:ext>
              </a:extLst>
            </p:cNvPr>
            <p:cNvSpPr/>
            <p:nvPr/>
          </p:nvSpPr>
          <p:spPr>
            <a:xfrm>
              <a:off x="6070088" y="4311975"/>
              <a:ext cx="299150" cy="149825"/>
            </a:xfrm>
            <a:custGeom>
              <a:avLst/>
              <a:gdLst/>
              <a:ahLst/>
              <a:cxnLst/>
              <a:rect l="l" t="t" r="r" b="b"/>
              <a:pathLst>
                <a:path w="11966" h="5993" extrusionOk="0">
                  <a:moveTo>
                    <a:pt x="5992" y="0"/>
                  </a:moveTo>
                  <a:lnTo>
                    <a:pt x="1" y="2996"/>
                  </a:lnTo>
                  <a:lnTo>
                    <a:pt x="5992" y="5992"/>
                  </a:lnTo>
                  <a:lnTo>
                    <a:pt x="11965" y="2977"/>
                  </a:lnTo>
                  <a:lnTo>
                    <a:pt x="59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1">
              <a:extLst>
                <a:ext uri="{FF2B5EF4-FFF2-40B4-BE49-F238E27FC236}">
                  <a16:creationId xmlns:a16="http://schemas.microsoft.com/office/drawing/2014/main" id="{3892A602-2E54-156E-8117-C863ED961B36}"/>
                </a:ext>
              </a:extLst>
            </p:cNvPr>
            <p:cNvSpPr/>
            <p:nvPr/>
          </p:nvSpPr>
          <p:spPr>
            <a:xfrm>
              <a:off x="5912713" y="4660875"/>
              <a:ext cx="613900" cy="100025"/>
            </a:xfrm>
            <a:custGeom>
              <a:avLst/>
              <a:gdLst/>
              <a:ahLst/>
              <a:cxnLst/>
              <a:rect l="l" t="t" r="r" b="b"/>
              <a:pathLst>
                <a:path w="24556" h="4001" extrusionOk="0">
                  <a:moveTo>
                    <a:pt x="0" y="0"/>
                  </a:moveTo>
                  <a:lnTo>
                    <a:pt x="0" y="1005"/>
                  </a:lnTo>
                  <a:cubicBezTo>
                    <a:pt x="0" y="2655"/>
                    <a:pt x="1347" y="4001"/>
                    <a:pt x="2996" y="4001"/>
                  </a:cubicBezTo>
                  <a:lnTo>
                    <a:pt x="21560" y="4001"/>
                  </a:lnTo>
                  <a:cubicBezTo>
                    <a:pt x="23209" y="4001"/>
                    <a:pt x="24556" y="2655"/>
                    <a:pt x="24556" y="1005"/>
                  </a:cubicBezTo>
                  <a:lnTo>
                    <a:pt x="245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1">
              <a:extLst>
                <a:ext uri="{FF2B5EF4-FFF2-40B4-BE49-F238E27FC236}">
                  <a16:creationId xmlns:a16="http://schemas.microsoft.com/office/drawing/2014/main" id="{551FFBA8-7AA5-057E-7D71-4D49B884129E}"/>
                </a:ext>
              </a:extLst>
            </p:cNvPr>
            <p:cNvSpPr/>
            <p:nvPr/>
          </p:nvSpPr>
          <p:spPr>
            <a:xfrm>
              <a:off x="6157313" y="4698300"/>
              <a:ext cx="29425" cy="25150"/>
            </a:xfrm>
            <a:custGeom>
              <a:avLst/>
              <a:gdLst/>
              <a:ahLst/>
              <a:cxnLst/>
              <a:rect l="l" t="t" r="r" b="b"/>
              <a:pathLst>
                <a:path w="1177" h="1006" extrusionOk="0">
                  <a:moveTo>
                    <a:pt x="498" y="1"/>
                  </a:moveTo>
                  <a:cubicBezTo>
                    <a:pt x="242" y="1"/>
                    <a:pt x="1" y="200"/>
                    <a:pt x="1" y="494"/>
                  </a:cubicBezTo>
                  <a:cubicBezTo>
                    <a:pt x="1" y="778"/>
                    <a:pt x="228" y="1006"/>
                    <a:pt x="494" y="1006"/>
                  </a:cubicBezTo>
                  <a:cubicBezTo>
                    <a:pt x="949" y="1006"/>
                    <a:pt x="1176" y="456"/>
                    <a:pt x="854" y="153"/>
                  </a:cubicBezTo>
                  <a:cubicBezTo>
                    <a:pt x="749" y="48"/>
                    <a:pt x="621" y="1"/>
                    <a:pt x="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1">
              <a:extLst>
                <a:ext uri="{FF2B5EF4-FFF2-40B4-BE49-F238E27FC236}">
                  <a16:creationId xmlns:a16="http://schemas.microsoft.com/office/drawing/2014/main" id="{38E3C867-100E-D154-87A3-A5937F2F23D5}"/>
                </a:ext>
              </a:extLst>
            </p:cNvPr>
            <p:cNvSpPr/>
            <p:nvPr/>
          </p:nvSpPr>
          <p:spPr>
            <a:xfrm>
              <a:off x="5899913" y="4248925"/>
              <a:ext cx="639025" cy="524300"/>
            </a:xfrm>
            <a:custGeom>
              <a:avLst/>
              <a:gdLst/>
              <a:ahLst/>
              <a:cxnLst/>
              <a:rect l="l" t="t" r="r" b="b"/>
              <a:pathLst>
                <a:path w="25561" h="20972" extrusionOk="0">
                  <a:moveTo>
                    <a:pt x="23077" y="1006"/>
                  </a:moveTo>
                  <a:cubicBezTo>
                    <a:pt x="23342" y="1006"/>
                    <a:pt x="23570" y="1233"/>
                    <a:pt x="23570" y="1498"/>
                  </a:cubicBezTo>
                  <a:lnTo>
                    <a:pt x="23570" y="15985"/>
                  </a:lnTo>
                  <a:lnTo>
                    <a:pt x="2010" y="15985"/>
                  </a:lnTo>
                  <a:lnTo>
                    <a:pt x="2010" y="1498"/>
                  </a:lnTo>
                  <a:cubicBezTo>
                    <a:pt x="2010" y="1233"/>
                    <a:pt x="2238" y="1006"/>
                    <a:pt x="2503" y="1006"/>
                  </a:cubicBezTo>
                  <a:close/>
                  <a:moveTo>
                    <a:pt x="24575" y="16971"/>
                  </a:moveTo>
                  <a:lnTo>
                    <a:pt x="24575" y="17483"/>
                  </a:lnTo>
                  <a:cubicBezTo>
                    <a:pt x="24575" y="18848"/>
                    <a:pt x="23456" y="19967"/>
                    <a:pt x="22072" y="19967"/>
                  </a:cubicBezTo>
                  <a:lnTo>
                    <a:pt x="3508" y="19967"/>
                  </a:lnTo>
                  <a:cubicBezTo>
                    <a:pt x="2124" y="19967"/>
                    <a:pt x="1005" y="18848"/>
                    <a:pt x="1005" y="17483"/>
                  </a:cubicBezTo>
                  <a:lnTo>
                    <a:pt x="1005" y="16971"/>
                  </a:lnTo>
                  <a:close/>
                  <a:moveTo>
                    <a:pt x="2503" y="1"/>
                  </a:moveTo>
                  <a:cubicBezTo>
                    <a:pt x="1688" y="1"/>
                    <a:pt x="1005" y="683"/>
                    <a:pt x="1005" y="1498"/>
                  </a:cubicBezTo>
                  <a:lnTo>
                    <a:pt x="1005" y="15985"/>
                  </a:lnTo>
                  <a:lnTo>
                    <a:pt x="512" y="15985"/>
                  </a:lnTo>
                  <a:cubicBezTo>
                    <a:pt x="228" y="15985"/>
                    <a:pt x="0" y="16194"/>
                    <a:pt x="0" y="16478"/>
                  </a:cubicBezTo>
                  <a:lnTo>
                    <a:pt x="0" y="17483"/>
                  </a:lnTo>
                  <a:cubicBezTo>
                    <a:pt x="19" y="19398"/>
                    <a:pt x="1574" y="20972"/>
                    <a:pt x="3508" y="20972"/>
                  </a:cubicBezTo>
                  <a:lnTo>
                    <a:pt x="22072" y="20972"/>
                  </a:lnTo>
                  <a:cubicBezTo>
                    <a:pt x="24006" y="20972"/>
                    <a:pt x="25561" y="19417"/>
                    <a:pt x="25561" y="17483"/>
                  </a:cubicBezTo>
                  <a:lnTo>
                    <a:pt x="25561" y="16478"/>
                  </a:lnTo>
                  <a:cubicBezTo>
                    <a:pt x="25561" y="16194"/>
                    <a:pt x="25352" y="15985"/>
                    <a:pt x="25068" y="15985"/>
                  </a:cubicBezTo>
                  <a:lnTo>
                    <a:pt x="24575" y="15985"/>
                  </a:lnTo>
                  <a:lnTo>
                    <a:pt x="24575" y="1498"/>
                  </a:lnTo>
                  <a:cubicBezTo>
                    <a:pt x="24575" y="683"/>
                    <a:pt x="23892" y="1"/>
                    <a:pt x="230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1">
              <a:extLst>
                <a:ext uri="{FF2B5EF4-FFF2-40B4-BE49-F238E27FC236}">
                  <a16:creationId xmlns:a16="http://schemas.microsoft.com/office/drawing/2014/main" id="{F5E4E7E5-655A-4872-16BB-24268999F6E1}"/>
                </a:ext>
              </a:extLst>
            </p:cNvPr>
            <p:cNvSpPr/>
            <p:nvPr/>
          </p:nvSpPr>
          <p:spPr>
            <a:xfrm>
              <a:off x="6202813" y="4698325"/>
              <a:ext cx="83475" cy="25125"/>
            </a:xfrm>
            <a:custGeom>
              <a:avLst/>
              <a:gdLst/>
              <a:ahLst/>
              <a:cxnLst/>
              <a:rect l="l" t="t" r="r" b="b"/>
              <a:pathLst>
                <a:path w="3339" h="1005" extrusionOk="0">
                  <a:moveTo>
                    <a:pt x="683" y="0"/>
                  </a:moveTo>
                  <a:cubicBezTo>
                    <a:pt x="1" y="0"/>
                    <a:pt x="1" y="1005"/>
                    <a:pt x="683" y="1005"/>
                  </a:cubicBezTo>
                  <a:lnTo>
                    <a:pt x="2674" y="1005"/>
                  </a:lnTo>
                  <a:cubicBezTo>
                    <a:pt x="3338" y="1005"/>
                    <a:pt x="3338" y="0"/>
                    <a:pt x="26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1">
              <a:extLst>
                <a:ext uri="{FF2B5EF4-FFF2-40B4-BE49-F238E27FC236}">
                  <a16:creationId xmlns:a16="http://schemas.microsoft.com/office/drawing/2014/main" id="{FC87B0F7-E7EF-B26D-A607-DAB63CCB860C}"/>
                </a:ext>
              </a:extLst>
            </p:cNvPr>
            <p:cNvSpPr/>
            <p:nvPr/>
          </p:nvSpPr>
          <p:spPr>
            <a:xfrm>
              <a:off x="6054913" y="4299050"/>
              <a:ext cx="329500" cy="324400"/>
            </a:xfrm>
            <a:custGeom>
              <a:avLst/>
              <a:gdLst/>
              <a:ahLst/>
              <a:cxnLst/>
              <a:rect l="l" t="t" r="r" b="b"/>
              <a:pathLst>
                <a:path w="13180" h="12976" extrusionOk="0">
                  <a:moveTo>
                    <a:pt x="6599" y="1048"/>
                  </a:moveTo>
                  <a:lnTo>
                    <a:pt x="11454" y="3494"/>
                  </a:lnTo>
                  <a:lnTo>
                    <a:pt x="6599" y="5921"/>
                  </a:lnTo>
                  <a:lnTo>
                    <a:pt x="1707" y="3494"/>
                  </a:lnTo>
                  <a:lnTo>
                    <a:pt x="6599" y="1048"/>
                  </a:lnTo>
                  <a:close/>
                  <a:moveTo>
                    <a:pt x="9595" y="5561"/>
                  </a:moveTo>
                  <a:lnTo>
                    <a:pt x="11454" y="6490"/>
                  </a:lnTo>
                  <a:lnTo>
                    <a:pt x="6599" y="8917"/>
                  </a:lnTo>
                  <a:lnTo>
                    <a:pt x="1707" y="6509"/>
                  </a:lnTo>
                  <a:lnTo>
                    <a:pt x="3604" y="5561"/>
                  </a:lnTo>
                  <a:lnTo>
                    <a:pt x="6372" y="6945"/>
                  </a:lnTo>
                  <a:cubicBezTo>
                    <a:pt x="6429" y="6964"/>
                    <a:pt x="6505" y="6983"/>
                    <a:pt x="6599" y="6983"/>
                  </a:cubicBezTo>
                  <a:cubicBezTo>
                    <a:pt x="6675" y="6983"/>
                    <a:pt x="6751" y="6964"/>
                    <a:pt x="6808" y="6945"/>
                  </a:cubicBezTo>
                  <a:lnTo>
                    <a:pt x="9595" y="5561"/>
                  </a:lnTo>
                  <a:close/>
                  <a:moveTo>
                    <a:pt x="9595" y="8538"/>
                  </a:moveTo>
                  <a:lnTo>
                    <a:pt x="11454" y="9486"/>
                  </a:lnTo>
                  <a:lnTo>
                    <a:pt x="6599" y="11913"/>
                  </a:lnTo>
                  <a:lnTo>
                    <a:pt x="1707" y="9486"/>
                  </a:lnTo>
                  <a:lnTo>
                    <a:pt x="3585" y="8538"/>
                  </a:lnTo>
                  <a:lnTo>
                    <a:pt x="6372" y="9922"/>
                  </a:lnTo>
                  <a:cubicBezTo>
                    <a:pt x="6429" y="9960"/>
                    <a:pt x="6505" y="9979"/>
                    <a:pt x="6599" y="9979"/>
                  </a:cubicBezTo>
                  <a:cubicBezTo>
                    <a:pt x="6675" y="9979"/>
                    <a:pt x="6751" y="9960"/>
                    <a:pt x="6808" y="9922"/>
                  </a:cubicBezTo>
                  <a:lnTo>
                    <a:pt x="9595" y="8538"/>
                  </a:lnTo>
                  <a:close/>
                  <a:moveTo>
                    <a:pt x="6590" y="1"/>
                  </a:moveTo>
                  <a:cubicBezTo>
                    <a:pt x="6514" y="1"/>
                    <a:pt x="6438" y="15"/>
                    <a:pt x="6372" y="43"/>
                  </a:cubicBezTo>
                  <a:lnTo>
                    <a:pt x="380" y="3039"/>
                  </a:lnTo>
                  <a:cubicBezTo>
                    <a:pt x="209" y="3134"/>
                    <a:pt x="96" y="3305"/>
                    <a:pt x="96" y="3494"/>
                  </a:cubicBezTo>
                  <a:cubicBezTo>
                    <a:pt x="96" y="3684"/>
                    <a:pt x="209" y="3855"/>
                    <a:pt x="380" y="3930"/>
                  </a:cubicBezTo>
                  <a:lnTo>
                    <a:pt x="2485" y="4992"/>
                  </a:lnTo>
                  <a:lnTo>
                    <a:pt x="380" y="6035"/>
                  </a:lnTo>
                  <a:cubicBezTo>
                    <a:pt x="1" y="6225"/>
                    <a:pt x="1" y="6756"/>
                    <a:pt x="380" y="6926"/>
                  </a:cubicBezTo>
                  <a:lnTo>
                    <a:pt x="2485" y="7988"/>
                  </a:lnTo>
                  <a:lnTo>
                    <a:pt x="380" y="9031"/>
                  </a:lnTo>
                  <a:cubicBezTo>
                    <a:pt x="1" y="9221"/>
                    <a:pt x="1" y="9752"/>
                    <a:pt x="380" y="9922"/>
                  </a:cubicBezTo>
                  <a:lnTo>
                    <a:pt x="6372" y="12918"/>
                  </a:lnTo>
                  <a:cubicBezTo>
                    <a:pt x="6448" y="12956"/>
                    <a:pt x="6524" y="12975"/>
                    <a:pt x="6599" y="12975"/>
                  </a:cubicBezTo>
                  <a:cubicBezTo>
                    <a:pt x="6675" y="12975"/>
                    <a:pt x="6751" y="12956"/>
                    <a:pt x="6827" y="12918"/>
                  </a:cubicBezTo>
                  <a:lnTo>
                    <a:pt x="12800" y="9922"/>
                  </a:lnTo>
                  <a:cubicBezTo>
                    <a:pt x="13179" y="9752"/>
                    <a:pt x="13179" y="9221"/>
                    <a:pt x="12800" y="9031"/>
                  </a:cubicBezTo>
                  <a:lnTo>
                    <a:pt x="10714" y="7988"/>
                  </a:lnTo>
                  <a:lnTo>
                    <a:pt x="12800" y="6926"/>
                  </a:lnTo>
                  <a:cubicBezTo>
                    <a:pt x="13179" y="6756"/>
                    <a:pt x="13179" y="6225"/>
                    <a:pt x="12800" y="6035"/>
                  </a:cubicBezTo>
                  <a:lnTo>
                    <a:pt x="10714" y="4992"/>
                  </a:lnTo>
                  <a:lnTo>
                    <a:pt x="12800" y="3930"/>
                  </a:lnTo>
                  <a:cubicBezTo>
                    <a:pt x="12971" y="3855"/>
                    <a:pt x="13084" y="3684"/>
                    <a:pt x="13084" y="3494"/>
                  </a:cubicBezTo>
                  <a:cubicBezTo>
                    <a:pt x="13084" y="3305"/>
                    <a:pt x="12971" y="3134"/>
                    <a:pt x="12800" y="3039"/>
                  </a:cubicBezTo>
                  <a:lnTo>
                    <a:pt x="6808" y="43"/>
                  </a:lnTo>
                  <a:cubicBezTo>
                    <a:pt x="6742" y="15"/>
                    <a:pt x="6666" y="1"/>
                    <a:pt x="65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2" name="Google Shape;542;p31">
            <a:extLst>
              <a:ext uri="{FF2B5EF4-FFF2-40B4-BE49-F238E27FC236}">
                <a16:creationId xmlns:a16="http://schemas.microsoft.com/office/drawing/2014/main" id="{67DFAA14-1727-E4B5-9080-9E81A0B4697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43" name="Google Shape;543;p31">
            <a:extLst>
              <a:ext uri="{FF2B5EF4-FFF2-40B4-BE49-F238E27FC236}">
                <a16:creationId xmlns:a16="http://schemas.microsoft.com/office/drawing/2014/main" id="{245941F8-647E-5C3F-7E9C-72DBE755914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544" name="Google Shape;544;p31">
            <a:extLst>
              <a:ext uri="{FF2B5EF4-FFF2-40B4-BE49-F238E27FC236}">
                <a16:creationId xmlns:a16="http://schemas.microsoft.com/office/drawing/2014/main" id="{166B827E-A712-AC29-594E-7C99C3AF1F3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grpSp>
        <p:nvGrpSpPr>
          <p:cNvPr id="545" name="Google Shape;545;p31">
            <a:extLst>
              <a:ext uri="{FF2B5EF4-FFF2-40B4-BE49-F238E27FC236}">
                <a16:creationId xmlns:a16="http://schemas.microsoft.com/office/drawing/2014/main" id="{7391A9D9-9FD3-F6BE-693E-E599C274CEBE}"/>
              </a:ext>
            </a:extLst>
          </p:cNvPr>
          <p:cNvGrpSpPr/>
          <p:nvPr/>
        </p:nvGrpSpPr>
        <p:grpSpPr>
          <a:xfrm>
            <a:off x="1614876" y="1364434"/>
            <a:ext cx="506092" cy="426611"/>
            <a:chOff x="1665363" y="1706700"/>
            <a:chExt cx="578325" cy="487500"/>
          </a:xfrm>
        </p:grpSpPr>
        <p:sp>
          <p:nvSpPr>
            <p:cNvPr id="546" name="Google Shape;546;p31">
              <a:extLst>
                <a:ext uri="{FF2B5EF4-FFF2-40B4-BE49-F238E27FC236}">
                  <a16:creationId xmlns:a16="http://schemas.microsoft.com/office/drawing/2014/main" id="{200D0F5F-8C20-C9BE-801A-0308A6EFA422}"/>
                </a:ext>
              </a:extLst>
            </p:cNvPr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1">
              <a:extLst>
                <a:ext uri="{FF2B5EF4-FFF2-40B4-BE49-F238E27FC236}">
                  <a16:creationId xmlns:a16="http://schemas.microsoft.com/office/drawing/2014/main" id="{D14CDE17-43D9-E4A7-3217-E2A402BD3177}"/>
                </a:ext>
              </a:extLst>
            </p:cNvPr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548;p31">
            <a:extLst>
              <a:ext uri="{FF2B5EF4-FFF2-40B4-BE49-F238E27FC236}">
                <a16:creationId xmlns:a16="http://schemas.microsoft.com/office/drawing/2014/main" id="{DB21AD94-8698-9BAA-E10E-7A020730C04F}"/>
              </a:ext>
            </a:extLst>
          </p:cNvPr>
          <p:cNvGrpSpPr/>
          <p:nvPr/>
        </p:nvGrpSpPr>
        <p:grpSpPr>
          <a:xfrm>
            <a:off x="1614876" y="3361546"/>
            <a:ext cx="506092" cy="426611"/>
            <a:chOff x="1665363" y="1706700"/>
            <a:chExt cx="578325" cy="487500"/>
          </a:xfrm>
        </p:grpSpPr>
        <p:sp>
          <p:nvSpPr>
            <p:cNvPr id="549" name="Google Shape;549;p31">
              <a:extLst>
                <a:ext uri="{FF2B5EF4-FFF2-40B4-BE49-F238E27FC236}">
                  <a16:creationId xmlns:a16="http://schemas.microsoft.com/office/drawing/2014/main" id="{96032A81-634B-75EB-CF0A-2D18B44C7582}"/>
                </a:ext>
              </a:extLst>
            </p:cNvPr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1">
              <a:extLst>
                <a:ext uri="{FF2B5EF4-FFF2-40B4-BE49-F238E27FC236}">
                  <a16:creationId xmlns:a16="http://schemas.microsoft.com/office/drawing/2014/main" id="{BA62B63C-52E7-7F3B-10A6-900104D3442B}"/>
                </a:ext>
              </a:extLst>
            </p:cNvPr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52" name="Google Shape;552;p31">
            <a:extLst>
              <a:ext uri="{FF2B5EF4-FFF2-40B4-BE49-F238E27FC236}">
                <a16:creationId xmlns:a16="http://schemas.microsoft.com/office/drawing/2014/main" id="{469FB268-8083-4BD3-3F54-1E3C550204A5}"/>
              </a:ext>
            </a:extLst>
          </p:cNvPr>
          <p:cNvCxnSpPr/>
          <p:nvPr/>
        </p:nvCxnSpPr>
        <p:spPr>
          <a:xfrm>
            <a:off x="1337875" y="3203163"/>
            <a:ext cx="0" cy="7317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4" name="Google Shape;554;p31">
            <a:extLst>
              <a:ext uri="{FF2B5EF4-FFF2-40B4-BE49-F238E27FC236}">
                <a16:creationId xmlns:a16="http://schemas.microsoft.com/office/drawing/2014/main" id="{2B989678-8B81-F037-4FD8-A0DBC6B95498}"/>
              </a:ext>
            </a:extLst>
          </p:cNvPr>
          <p:cNvGrpSpPr/>
          <p:nvPr/>
        </p:nvGrpSpPr>
        <p:grpSpPr>
          <a:xfrm>
            <a:off x="1084825" y="1208049"/>
            <a:ext cx="506100" cy="1366863"/>
            <a:chOff x="1084825" y="3203163"/>
            <a:chExt cx="506100" cy="1366863"/>
          </a:xfrm>
        </p:grpSpPr>
        <p:cxnSp>
          <p:nvCxnSpPr>
            <p:cNvPr id="555" name="Google Shape;555;p31">
              <a:extLst>
                <a:ext uri="{FF2B5EF4-FFF2-40B4-BE49-F238E27FC236}">
                  <a16:creationId xmlns:a16="http://schemas.microsoft.com/office/drawing/2014/main" id="{8AC0993E-E109-2262-A672-95EF08D996F9}"/>
                </a:ext>
              </a:extLst>
            </p:cNvPr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6" name="Google Shape;556;p31">
              <a:extLst>
                <a:ext uri="{FF2B5EF4-FFF2-40B4-BE49-F238E27FC236}">
                  <a16:creationId xmlns:a16="http://schemas.microsoft.com/office/drawing/2014/main" id="{B38C38D0-3934-0F0A-9A56-6D5799A7BAB0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6" name="Google Shape;11405;p63">
            <a:extLst>
              <a:ext uri="{FF2B5EF4-FFF2-40B4-BE49-F238E27FC236}">
                <a16:creationId xmlns:a16="http://schemas.microsoft.com/office/drawing/2014/main" id="{BC342BFA-8096-EA82-6CB0-700A293655B9}"/>
              </a:ext>
            </a:extLst>
          </p:cNvPr>
          <p:cNvGrpSpPr/>
          <p:nvPr/>
        </p:nvGrpSpPr>
        <p:grpSpPr>
          <a:xfrm>
            <a:off x="1711800" y="1425653"/>
            <a:ext cx="359213" cy="327807"/>
            <a:chOff x="1958520" y="2302574"/>
            <a:chExt cx="359213" cy="327807"/>
          </a:xfrm>
        </p:grpSpPr>
        <p:sp>
          <p:nvSpPr>
            <p:cNvPr id="7" name="Google Shape;11406;p63">
              <a:extLst>
                <a:ext uri="{FF2B5EF4-FFF2-40B4-BE49-F238E27FC236}">
                  <a16:creationId xmlns:a16="http://schemas.microsoft.com/office/drawing/2014/main" id="{76689B1E-8AC4-8C13-8A0B-345D53CBC673}"/>
                </a:ext>
              </a:extLst>
            </p:cNvPr>
            <p:cNvSpPr/>
            <p:nvPr/>
          </p:nvSpPr>
          <p:spPr>
            <a:xfrm>
              <a:off x="1958520" y="2302574"/>
              <a:ext cx="359213" cy="327807"/>
            </a:xfrm>
            <a:custGeom>
              <a:avLst/>
              <a:gdLst/>
              <a:ahLst/>
              <a:cxnLst/>
              <a:rect l="l" t="t" r="r" b="b"/>
              <a:pathLst>
                <a:path w="11312" h="10323" extrusionOk="0">
                  <a:moveTo>
                    <a:pt x="7168" y="8132"/>
                  </a:moveTo>
                  <a:lnTo>
                    <a:pt x="7501" y="9204"/>
                  </a:lnTo>
                  <a:lnTo>
                    <a:pt x="3799" y="9204"/>
                  </a:lnTo>
                  <a:lnTo>
                    <a:pt x="4120" y="8132"/>
                  </a:lnTo>
                  <a:close/>
                  <a:moveTo>
                    <a:pt x="8466" y="9537"/>
                  </a:moveTo>
                  <a:cubicBezTo>
                    <a:pt x="8597" y="9537"/>
                    <a:pt x="8704" y="9656"/>
                    <a:pt x="8704" y="9775"/>
                  </a:cubicBezTo>
                  <a:cubicBezTo>
                    <a:pt x="8704" y="9906"/>
                    <a:pt x="8597" y="10013"/>
                    <a:pt x="8466" y="10013"/>
                  </a:cubicBezTo>
                  <a:lnTo>
                    <a:pt x="2810" y="10013"/>
                  </a:lnTo>
                  <a:cubicBezTo>
                    <a:pt x="2679" y="10013"/>
                    <a:pt x="2572" y="9906"/>
                    <a:pt x="2572" y="9775"/>
                  </a:cubicBezTo>
                  <a:cubicBezTo>
                    <a:pt x="2572" y="9644"/>
                    <a:pt x="2679" y="9537"/>
                    <a:pt x="2810" y="9537"/>
                  </a:cubicBezTo>
                  <a:close/>
                  <a:moveTo>
                    <a:pt x="1072" y="0"/>
                  </a:moveTo>
                  <a:cubicBezTo>
                    <a:pt x="477" y="0"/>
                    <a:pt x="0" y="476"/>
                    <a:pt x="0" y="1072"/>
                  </a:cubicBezTo>
                  <a:lnTo>
                    <a:pt x="0" y="7049"/>
                  </a:lnTo>
                  <a:cubicBezTo>
                    <a:pt x="0" y="7644"/>
                    <a:pt x="477" y="8120"/>
                    <a:pt x="1072" y="8120"/>
                  </a:cubicBezTo>
                  <a:lnTo>
                    <a:pt x="3763" y="8120"/>
                  </a:lnTo>
                  <a:lnTo>
                    <a:pt x="3441" y="9192"/>
                  </a:lnTo>
                  <a:lnTo>
                    <a:pt x="2822" y="9192"/>
                  </a:lnTo>
                  <a:cubicBezTo>
                    <a:pt x="2513" y="9192"/>
                    <a:pt x="2263" y="9442"/>
                    <a:pt x="2263" y="9751"/>
                  </a:cubicBezTo>
                  <a:cubicBezTo>
                    <a:pt x="2263" y="10073"/>
                    <a:pt x="2513" y="10323"/>
                    <a:pt x="2822" y="10323"/>
                  </a:cubicBezTo>
                  <a:lnTo>
                    <a:pt x="8478" y="10323"/>
                  </a:lnTo>
                  <a:cubicBezTo>
                    <a:pt x="8799" y="10323"/>
                    <a:pt x="9049" y="10073"/>
                    <a:pt x="9049" y="9751"/>
                  </a:cubicBezTo>
                  <a:cubicBezTo>
                    <a:pt x="9049" y="9442"/>
                    <a:pt x="8799" y="9192"/>
                    <a:pt x="8478" y="9192"/>
                  </a:cubicBezTo>
                  <a:lnTo>
                    <a:pt x="7870" y="9192"/>
                  </a:lnTo>
                  <a:lnTo>
                    <a:pt x="7549" y="8120"/>
                  </a:lnTo>
                  <a:lnTo>
                    <a:pt x="10240" y="8120"/>
                  </a:lnTo>
                  <a:cubicBezTo>
                    <a:pt x="10835" y="8120"/>
                    <a:pt x="11311" y="7644"/>
                    <a:pt x="11311" y="7049"/>
                  </a:cubicBezTo>
                  <a:lnTo>
                    <a:pt x="11311" y="1072"/>
                  </a:lnTo>
                  <a:cubicBezTo>
                    <a:pt x="11299" y="488"/>
                    <a:pt x="10823" y="0"/>
                    <a:pt x="10228" y="0"/>
                  </a:cubicBezTo>
                  <a:lnTo>
                    <a:pt x="2786" y="0"/>
                  </a:lnTo>
                  <a:cubicBezTo>
                    <a:pt x="2691" y="0"/>
                    <a:pt x="2620" y="72"/>
                    <a:pt x="2620" y="155"/>
                  </a:cubicBezTo>
                  <a:cubicBezTo>
                    <a:pt x="2620" y="250"/>
                    <a:pt x="2691" y="322"/>
                    <a:pt x="2786" y="322"/>
                  </a:cubicBezTo>
                  <a:lnTo>
                    <a:pt x="10228" y="322"/>
                  </a:lnTo>
                  <a:cubicBezTo>
                    <a:pt x="10621" y="322"/>
                    <a:pt x="10966" y="655"/>
                    <a:pt x="10966" y="1072"/>
                  </a:cubicBezTo>
                  <a:lnTo>
                    <a:pt x="10966" y="7049"/>
                  </a:lnTo>
                  <a:cubicBezTo>
                    <a:pt x="10966" y="7453"/>
                    <a:pt x="10645" y="7799"/>
                    <a:pt x="10228" y="7799"/>
                  </a:cubicBezTo>
                  <a:lnTo>
                    <a:pt x="1072" y="7799"/>
                  </a:lnTo>
                  <a:cubicBezTo>
                    <a:pt x="667" y="7799"/>
                    <a:pt x="322" y="7465"/>
                    <a:pt x="322" y="7049"/>
                  </a:cubicBezTo>
                  <a:lnTo>
                    <a:pt x="322" y="1072"/>
                  </a:lnTo>
                  <a:cubicBezTo>
                    <a:pt x="322" y="667"/>
                    <a:pt x="655" y="322"/>
                    <a:pt x="1072" y="322"/>
                  </a:cubicBezTo>
                  <a:lnTo>
                    <a:pt x="2108" y="322"/>
                  </a:lnTo>
                  <a:cubicBezTo>
                    <a:pt x="2203" y="322"/>
                    <a:pt x="2275" y="250"/>
                    <a:pt x="2275" y="155"/>
                  </a:cubicBezTo>
                  <a:cubicBezTo>
                    <a:pt x="2275" y="72"/>
                    <a:pt x="2203" y="0"/>
                    <a:pt x="21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407;p63">
              <a:extLst>
                <a:ext uri="{FF2B5EF4-FFF2-40B4-BE49-F238E27FC236}">
                  <a16:creationId xmlns:a16="http://schemas.microsoft.com/office/drawing/2014/main" id="{73A932D6-642B-D9D3-8C7E-E0CF6FCE1175}"/>
                </a:ext>
              </a:extLst>
            </p:cNvPr>
            <p:cNvSpPr/>
            <p:nvPr/>
          </p:nvSpPr>
          <p:spPr>
            <a:xfrm>
              <a:off x="1986877" y="2331313"/>
              <a:ext cx="302117" cy="184909"/>
            </a:xfrm>
            <a:custGeom>
              <a:avLst/>
              <a:gdLst/>
              <a:ahLst/>
              <a:cxnLst/>
              <a:rect l="l" t="t" r="r" b="b"/>
              <a:pathLst>
                <a:path w="9514" h="5823" extrusionOk="0">
                  <a:moveTo>
                    <a:pt x="179" y="0"/>
                  </a:moveTo>
                  <a:cubicBezTo>
                    <a:pt x="72" y="0"/>
                    <a:pt x="0" y="71"/>
                    <a:pt x="0" y="179"/>
                  </a:cubicBezTo>
                  <a:lnTo>
                    <a:pt x="0" y="5656"/>
                  </a:lnTo>
                  <a:cubicBezTo>
                    <a:pt x="0" y="5739"/>
                    <a:pt x="72" y="5822"/>
                    <a:pt x="167" y="5822"/>
                  </a:cubicBezTo>
                  <a:lnTo>
                    <a:pt x="9347" y="5822"/>
                  </a:lnTo>
                  <a:cubicBezTo>
                    <a:pt x="9430" y="5822"/>
                    <a:pt x="9513" y="5739"/>
                    <a:pt x="9513" y="5656"/>
                  </a:cubicBezTo>
                  <a:lnTo>
                    <a:pt x="9513" y="5072"/>
                  </a:lnTo>
                  <a:cubicBezTo>
                    <a:pt x="9513" y="4989"/>
                    <a:pt x="9430" y="4905"/>
                    <a:pt x="9347" y="4905"/>
                  </a:cubicBezTo>
                  <a:cubicBezTo>
                    <a:pt x="9252" y="4905"/>
                    <a:pt x="9180" y="4989"/>
                    <a:pt x="9180" y="5072"/>
                  </a:cubicBezTo>
                  <a:lnTo>
                    <a:pt x="9180" y="5489"/>
                  </a:lnTo>
                  <a:lnTo>
                    <a:pt x="346" y="5489"/>
                  </a:lnTo>
                  <a:lnTo>
                    <a:pt x="346" y="345"/>
                  </a:lnTo>
                  <a:lnTo>
                    <a:pt x="9180" y="345"/>
                  </a:lnTo>
                  <a:lnTo>
                    <a:pt x="9180" y="4405"/>
                  </a:lnTo>
                  <a:cubicBezTo>
                    <a:pt x="9168" y="4489"/>
                    <a:pt x="9240" y="4572"/>
                    <a:pt x="9347" y="4572"/>
                  </a:cubicBezTo>
                  <a:cubicBezTo>
                    <a:pt x="9430" y="4572"/>
                    <a:pt x="9513" y="4489"/>
                    <a:pt x="9513" y="4405"/>
                  </a:cubicBezTo>
                  <a:lnTo>
                    <a:pt x="9513" y="179"/>
                  </a:lnTo>
                  <a:cubicBezTo>
                    <a:pt x="9513" y="71"/>
                    <a:pt x="9430" y="0"/>
                    <a:pt x="933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408;p63">
              <a:extLst>
                <a:ext uri="{FF2B5EF4-FFF2-40B4-BE49-F238E27FC236}">
                  <a16:creationId xmlns:a16="http://schemas.microsoft.com/office/drawing/2014/main" id="{0FA5C139-DF53-DB82-4E4D-AD5EF9B9B5D7}"/>
                </a:ext>
              </a:extLst>
            </p:cNvPr>
            <p:cNvSpPr/>
            <p:nvPr/>
          </p:nvSpPr>
          <p:spPr>
            <a:xfrm>
              <a:off x="2131521" y="2526701"/>
              <a:ext cx="11908" cy="10638"/>
            </a:xfrm>
            <a:custGeom>
              <a:avLst/>
              <a:gdLst/>
              <a:ahLst/>
              <a:cxnLst/>
              <a:rect l="l" t="t" r="r" b="b"/>
              <a:pathLst>
                <a:path w="375" h="335" extrusionOk="0">
                  <a:moveTo>
                    <a:pt x="176" y="0"/>
                  </a:moveTo>
                  <a:cubicBezTo>
                    <a:pt x="167" y="0"/>
                    <a:pt x="158" y="1"/>
                    <a:pt x="148" y="3"/>
                  </a:cubicBezTo>
                  <a:cubicBezTo>
                    <a:pt x="77" y="26"/>
                    <a:pt x="17" y="86"/>
                    <a:pt x="17" y="157"/>
                  </a:cubicBezTo>
                  <a:cubicBezTo>
                    <a:pt x="1" y="258"/>
                    <a:pt x="95" y="334"/>
                    <a:pt x="186" y="334"/>
                  </a:cubicBezTo>
                  <a:cubicBezTo>
                    <a:pt x="225" y="334"/>
                    <a:pt x="263" y="320"/>
                    <a:pt x="291" y="288"/>
                  </a:cubicBezTo>
                  <a:cubicBezTo>
                    <a:pt x="375" y="229"/>
                    <a:pt x="375" y="145"/>
                    <a:pt x="327" y="86"/>
                  </a:cubicBezTo>
                  <a:cubicBezTo>
                    <a:pt x="296" y="34"/>
                    <a:pt x="238" y="0"/>
                    <a:pt x="1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0F76C36-90AB-AA97-9E2E-4828FCB3F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26" y="666427"/>
            <a:ext cx="7813942" cy="379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40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B29DC42D-609F-B42D-B21F-A7F3DF5E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028ED654-E983-B468-3C95-7153EAE983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03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>
            <a:extLst>
              <a:ext uri="{FF2B5EF4-FFF2-40B4-BE49-F238E27FC236}">
                <a16:creationId xmlns:a16="http://schemas.microsoft.com/office/drawing/2014/main" id="{05F2C404-3679-42D4-7989-E1CAFE38F0E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01326" y="2103575"/>
            <a:ext cx="5747797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Implementare</a:t>
            </a:r>
            <a:r>
              <a:rPr lang="ro-RO" dirty="0">
                <a:solidFill>
                  <a:schemeClr val="accent1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64C3A9F9-6C0B-D367-24A8-68B85138E42C}"/>
              </a:ext>
            </a:extLst>
          </p:cNvPr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36D08B5B-ACE2-5E72-41BA-68F682EBA504}"/>
              </a:ext>
            </a:extLst>
          </p:cNvPr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BD159FC2-8F11-047F-3406-ABE9F4C1AA1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F82DA60C-1C70-786F-61AF-9A627B63264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serverFIFO@serverFIFO-VirtualBox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D01EB266-0E3E-0F73-A200-EA667BE2FC0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417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>
          <a:extLst>
            <a:ext uri="{FF2B5EF4-FFF2-40B4-BE49-F238E27FC236}">
              <a16:creationId xmlns:a16="http://schemas.microsoft.com/office/drawing/2014/main" id="{96DD9384-FCBD-69D6-FF93-571852055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>
            <a:extLst>
              <a:ext uri="{FF2B5EF4-FFF2-40B4-BE49-F238E27FC236}">
                <a16:creationId xmlns:a16="http://schemas.microsoft.com/office/drawing/2014/main" id="{71396B06-C2DB-40B8-3142-2186DDAC0A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3493" y="796425"/>
            <a:ext cx="7625042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$ </a:t>
            </a:r>
            <a:r>
              <a:rPr lang="en-US" sz="2400" dirty="0" err="1"/>
              <a:t>Implementare</a:t>
            </a:r>
            <a:r>
              <a:rPr lang="en-US" sz="2400" dirty="0"/>
              <a:t> </a:t>
            </a:r>
            <a:r>
              <a:rPr lang="en" sz="2400" dirty="0">
                <a:solidFill>
                  <a:schemeClr val="accent6"/>
                </a:solidFill>
              </a:rPr>
              <a:t>{</a:t>
            </a:r>
            <a:endParaRPr sz="2400" dirty="0">
              <a:solidFill>
                <a:schemeClr val="accent6"/>
              </a:solidFill>
            </a:endParaRPr>
          </a:p>
        </p:txBody>
      </p:sp>
      <p:grpSp>
        <p:nvGrpSpPr>
          <p:cNvPr id="563" name="Google Shape;563;p32">
            <a:extLst>
              <a:ext uri="{FF2B5EF4-FFF2-40B4-BE49-F238E27FC236}">
                <a16:creationId xmlns:a16="http://schemas.microsoft.com/office/drawing/2014/main" id="{C030D70F-B5AE-40E2-79A8-2F514D246127}"/>
              </a:ext>
            </a:extLst>
          </p:cNvPr>
          <p:cNvGrpSpPr/>
          <p:nvPr/>
        </p:nvGrpSpPr>
        <p:grpSpPr>
          <a:xfrm>
            <a:off x="1084825" y="1503336"/>
            <a:ext cx="506100" cy="3097589"/>
            <a:chOff x="1084825" y="1168950"/>
            <a:chExt cx="506100" cy="3431975"/>
          </a:xfrm>
        </p:grpSpPr>
        <p:sp>
          <p:nvSpPr>
            <p:cNvPr id="564" name="Google Shape;564;p32">
              <a:extLst>
                <a:ext uri="{FF2B5EF4-FFF2-40B4-BE49-F238E27FC236}">
                  <a16:creationId xmlns:a16="http://schemas.microsoft.com/office/drawing/2014/main" id="{47E034AE-2DF7-6B1F-75CA-441B8D183247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>
              <a:extLst>
                <a:ext uri="{FF2B5EF4-FFF2-40B4-BE49-F238E27FC236}">
                  <a16:creationId xmlns:a16="http://schemas.microsoft.com/office/drawing/2014/main" id="{C11566B2-49C0-AF3C-C732-1F17EDA48AFF}"/>
                </a:ext>
              </a:extLst>
            </p:cNvPr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8" name="Google Shape;568;p32">
            <a:extLst>
              <a:ext uri="{FF2B5EF4-FFF2-40B4-BE49-F238E27FC236}">
                <a16:creationId xmlns:a16="http://schemas.microsoft.com/office/drawing/2014/main" id="{638CFAB6-8B2E-7071-866B-A936ED4F5E13}"/>
              </a:ext>
            </a:extLst>
          </p:cNvPr>
          <p:cNvSpPr txBox="1"/>
          <p:nvPr/>
        </p:nvSpPr>
        <p:spPr>
          <a:xfrm>
            <a:off x="2673582" y="1503336"/>
            <a:ext cx="5213889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Implementarea const</a:t>
            </a:r>
            <a:r>
              <a:rPr lang="ro-RO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ă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ro-RO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î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 gestionarea cererilor </a:t>
            </a:r>
            <a:r>
              <a:rPr lang="ro-RO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î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ntr-o </a:t>
            </a:r>
            <a:r>
              <a:rPr lang="it-IT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bucl</a:t>
            </a:r>
            <a:r>
              <a:rPr lang="ro-RO" b="1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ă</a:t>
            </a:r>
            <a:r>
              <a:rPr lang="it-IT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secven</a:t>
            </a:r>
            <a:r>
              <a:rPr lang="ro-RO" b="1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ț</a:t>
            </a:r>
            <a:r>
              <a:rPr lang="it-IT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ial</a:t>
            </a:r>
            <a:r>
              <a:rPr lang="ro-RO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ă</a:t>
            </a:r>
            <a:r>
              <a:rPr lang="it-IT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ro-RO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ș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 proceseaz</a:t>
            </a:r>
            <a:r>
              <a:rPr lang="ro-RO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ă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</a:t>
            </a:r>
            <a:r>
              <a:rPr lang="ro-RO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â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te un singur </a:t>
            </a:r>
            <a:r>
              <a:rPr lang="it-IT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mesaj pe r</a:t>
            </a:r>
            <a:r>
              <a:rPr lang="ro-RO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â</a:t>
            </a:r>
            <a:r>
              <a:rPr lang="it-IT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nd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 </a:t>
            </a:r>
            <a:endParaRPr lang="it-IT" sz="110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</p:txBody>
      </p:sp>
      <p:sp>
        <p:nvSpPr>
          <p:cNvPr id="569" name="Google Shape;569;p32">
            <a:extLst>
              <a:ext uri="{FF2B5EF4-FFF2-40B4-BE49-F238E27FC236}">
                <a16:creationId xmlns:a16="http://schemas.microsoft.com/office/drawing/2014/main" id="{883DD36D-8A55-16F6-1F33-8681149B1F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>
            <a:extLst>
              <a:ext uri="{FF2B5EF4-FFF2-40B4-BE49-F238E27FC236}">
                <a16:creationId xmlns:a16="http://schemas.microsoft.com/office/drawing/2014/main" id="{4351D512-8CBF-0422-D547-E128A6542BD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571" name="Google Shape;571;p32">
            <a:extLst>
              <a:ext uri="{FF2B5EF4-FFF2-40B4-BE49-F238E27FC236}">
                <a16:creationId xmlns:a16="http://schemas.microsoft.com/office/drawing/2014/main" id="{B5C5E0B6-9837-EBF7-B1AF-D25DD484F35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grpSp>
        <p:nvGrpSpPr>
          <p:cNvPr id="4" name="Google Shape;702;p35">
            <a:extLst>
              <a:ext uri="{FF2B5EF4-FFF2-40B4-BE49-F238E27FC236}">
                <a16:creationId xmlns:a16="http://schemas.microsoft.com/office/drawing/2014/main" id="{6229C145-4954-3D6B-41E8-C0296C1767F3}"/>
              </a:ext>
            </a:extLst>
          </p:cNvPr>
          <p:cNvGrpSpPr/>
          <p:nvPr/>
        </p:nvGrpSpPr>
        <p:grpSpPr>
          <a:xfrm>
            <a:off x="1811064" y="1675069"/>
            <a:ext cx="578325" cy="487500"/>
            <a:chOff x="4764875" y="1706700"/>
            <a:chExt cx="578325" cy="487500"/>
          </a:xfrm>
        </p:grpSpPr>
        <p:sp>
          <p:nvSpPr>
            <p:cNvPr id="5" name="Google Shape;703;p35">
              <a:extLst>
                <a:ext uri="{FF2B5EF4-FFF2-40B4-BE49-F238E27FC236}">
                  <a16:creationId xmlns:a16="http://schemas.microsoft.com/office/drawing/2014/main" id="{8508AF66-2739-C099-27D6-DEBC39A5129A}"/>
                </a:ext>
              </a:extLst>
            </p:cNvPr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04;p35">
              <a:extLst>
                <a:ext uri="{FF2B5EF4-FFF2-40B4-BE49-F238E27FC236}">
                  <a16:creationId xmlns:a16="http://schemas.microsoft.com/office/drawing/2014/main" id="{97E77CCF-8896-041B-5652-EDCB212863D1}"/>
                </a:ext>
              </a:extLst>
            </p:cNvPr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3210;p57">
            <a:extLst>
              <a:ext uri="{FF2B5EF4-FFF2-40B4-BE49-F238E27FC236}">
                <a16:creationId xmlns:a16="http://schemas.microsoft.com/office/drawing/2014/main" id="{1FEA1B6D-41AC-754C-8154-435FE767770F}"/>
              </a:ext>
            </a:extLst>
          </p:cNvPr>
          <p:cNvGrpSpPr/>
          <p:nvPr/>
        </p:nvGrpSpPr>
        <p:grpSpPr>
          <a:xfrm>
            <a:off x="1859943" y="1674725"/>
            <a:ext cx="440918" cy="439174"/>
            <a:chOff x="4815575" y="1416800"/>
            <a:chExt cx="73750" cy="71400"/>
          </a:xfrm>
        </p:grpSpPr>
        <p:sp>
          <p:nvSpPr>
            <p:cNvPr id="8" name="Google Shape;3211;p57">
              <a:extLst>
                <a:ext uri="{FF2B5EF4-FFF2-40B4-BE49-F238E27FC236}">
                  <a16:creationId xmlns:a16="http://schemas.microsoft.com/office/drawing/2014/main" id="{E1636ACE-4B7A-521A-B2DE-379E5D6593D3}"/>
                </a:ext>
              </a:extLst>
            </p:cNvPr>
            <p:cNvSpPr/>
            <p:nvPr/>
          </p:nvSpPr>
          <p:spPr>
            <a:xfrm>
              <a:off x="4815575" y="1416800"/>
              <a:ext cx="43100" cy="52150"/>
            </a:xfrm>
            <a:custGeom>
              <a:avLst/>
              <a:gdLst/>
              <a:ahLst/>
              <a:cxnLst/>
              <a:rect l="l" t="t" r="r" b="b"/>
              <a:pathLst>
                <a:path w="1724" h="2086" extrusionOk="0">
                  <a:moveTo>
                    <a:pt x="1327" y="1"/>
                  </a:moveTo>
                  <a:lnTo>
                    <a:pt x="1327" y="181"/>
                  </a:lnTo>
                  <a:cubicBezTo>
                    <a:pt x="469" y="361"/>
                    <a:pt x="0" y="1299"/>
                    <a:pt x="375" y="2085"/>
                  </a:cubicBezTo>
                  <a:lnTo>
                    <a:pt x="772" y="1818"/>
                  </a:lnTo>
                  <a:cubicBezTo>
                    <a:pt x="729" y="1717"/>
                    <a:pt x="707" y="1609"/>
                    <a:pt x="707" y="1501"/>
                  </a:cubicBezTo>
                  <a:cubicBezTo>
                    <a:pt x="714" y="1111"/>
                    <a:pt x="959" y="772"/>
                    <a:pt x="1327" y="657"/>
                  </a:cubicBezTo>
                  <a:lnTo>
                    <a:pt x="1327" y="823"/>
                  </a:lnTo>
                  <a:lnTo>
                    <a:pt x="1724" y="426"/>
                  </a:lnTo>
                  <a:lnTo>
                    <a:pt x="132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212;p57">
              <a:extLst>
                <a:ext uri="{FF2B5EF4-FFF2-40B4-BE49-F238E27FC236}">
                  <a16:creationId xmlns:a16="http://schemas.microsoft.com/office/drawing/2014/main" id="{B2BC547C-56CC-0651-754A-3A60A1127A49}"/>
                </a:ext>
              </a:extLst>
            </p:cNvPr>
            <p:cNvSpPr/>
            <p:nvPr/>
          </p:nvSpPr>
          <p:spPr>
            <a:xfrm>
              <a:off x="4861725" y="1421125"/>
              <a:ext cx="27600" cy="51250"/>
            </a:xfrm>
            <a:custGeom>
              <a:avLst/>
              <a:gdLst/>
              <a:ahLst/>
              <a:cxnLst/>
              <a:rect l="l" t="t" r="r" b="b"/>
              <a:pathLst>
                <a:path w="1104" h="2050" extrusionOk="0">
                  <a:moveTo>
                    <a:pt x="0" y="1"/>
                  </a:moveTo>
                  <a:lnTo>
                    <a:pt x="0" y="477"/>
                  </a:lnTo>
                  <a:cubicBezTo>
                    <a:pt x="375" y="592"/>
                    <a:pt x="635" y="938"/>
                    <a:pt x="635" y="1328"/>
                  </a:cubicBezTo>
                  <a:cubicBezTo>
                    <a:pt x="635" y="1429"/>
                    <a:pt x="621" y="1530"/>
                    <a:pt x="585" y="1624"/>
                  </a:cubicBezTo>
                  <a:lnTo>
                    <a:pt x="404" y="1494"/>
                  </a:lnTo>
                  <a:lnTo>
                    <a:pt x="513" y="2049"/>
                  </a:lnTo>
                  <a:lnTo>
                    <a:pt x="1089" y="1963"/>
                  </a:lnTo>
                  <a:lnTo>
                    <a:pt x="981" y="1883"/>
                  </a:lnTo>
                  <a:cubicBezTo>
                    <a:pt x="1061" y="1710"/>
                    <a:pt x="1104" y="1523"/>
                    <a:pt x="1104" y="1328"/>
                  </a:cubicBezTo>
                  <a:cubicBezTo>
                    <a:pt x="1104" y="679"/>
                    <a:pt x="635" y="123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213;p57">
              <a:extLst>
                <a:ext uri="{FF2B5EF4-FFF2-40B4-BE49-F238E27FC236}">
                  <a16:creationId xmlns:a16="http://schemas.microsoft.com/office/drawing/2014/main" id="{0AF2D659-B33F-08DB-528A-FBAE6BDCFBC5}"/>
                </a:ext>
              </a:extLst>
            </p:cNvPr>
            <p:cNvSpPr/>
            <p:nvPr/>
          </p:nvSpPr>
          <p:spPr>
            <a:xfrm>
              <a:off x="4829450" y="1467825"/>
              <a:ext cx="49250" cy="20375"/>
            </a:xfrm>
            <a:custGeom>
              <a:avLst/>
              <a:gdLst/>
              <a:ahLst/>
              <a:cxnLst/>
              <a:rect l="l" t="t" r="r" b="b"/>
              <a:pathLst>
                <a:path w="1970" h="815" extrusionOk="0">
                  <a:moveTo>
                    <a:pt x="109" y="1"/>
                  </a:moveTo>
                  <a:lnTo>
                    <a:pt x="0" y="556"/>
                  </a:lnTo>
                  <a:lnTo>
                    <a:pt x="137" y="462"/>
                  </a:lnTo>
                  <a:cubicBezTo>
                    <a:pt x="394" y="698"/>
                    <a:pt x="720" y="815"/>
                    <a:pt x="1045" y="815"/>
                  </a:cubicBezTo>
                  <a:cubicBezTo>
                    <a:pt x="1378" y="815"/>
                    <a:pt x="1710" y="692"/>
                    <a:pt x="1969" y="448"/>
                  </a:cubicBezTo>
                  <a:lnTo>
                    <a:pt x="1969" y="441"/>
                  </a:lnTo>
                  <a:lnTo>
                    <a:pt x="1573" y="174"/>
                  </a:lnTo>
                  <a:cubicBezTo>
                    <a:pt x="1418" y="292"/>
                    <a:pt x="1232" y="352"/>
                    <a:pt x="1046" y="352"/>
                  </a:cubicBezTo>
                  <a:cubicBezTo>
                    <a:pt x="868" y="352"/>
                    <a:pt x="689" y="297"/>
                    <a:pt x="534" y="188"/>
                  </a:cubicBezTo>
                  <a:lnTo>
                    <a:pt x="678" y="95"/>
                  </a:lnTo>
                  <a:lnTo>
                    <a:pt x="109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702;p35">
            <a:extLst>
              <a:ext uri="{FF2B5EF4-FFF2-40B4-BE49-F238E27FC236}">
                <a16:creationId xmlns:a16="http://schemas.microsoft.com/office/drawing/2014/main" id="{312CC0FE-BF96-760B-C951-52855E82B5B4}"/>
              </a:ext>
            </a:extLst>
          </p:cNvPr>
          <p:cNvGrpSpPr/>
          <p:nvPr/>
        </p:nvGrpSpPr>
        <p:grpSpPr>
          <a:xfrm>
            <a:off x="1816911" y="2565498"/>
            <a:ext cx="578325" cy="487500"/>
            <a:chOff x="4764875" y="1706700"/>
            <a:chExt cx="578325" cy="487500"/>
          </a:xfrm>
        </p:grpSpPr>
        <p:sp>
          <p:nvSpPr>
            <p:cNvPr id="12" name="Google Shape;703;p35">
              <a:extLst>
                <a:ext uri="{FF2B5EF4-FFF2-40B4-BE49-F238E27FC236}">
                  <a16:creationId xmlns:a16="http://schemas.microsoft.com/office/drawing/2014/main" id="{C335B0B3-AD97-1286-B983-8068B8F75CC8}"/>
                </a:ext>
              </a:extLst>
            </p:cNvPr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04;p35">
              <a:extLst>
                <a:ext uri="{FF2B5EF4-FFF2-40B4-BE49-F238E27FC236}">
                  <a16:creationId xmlns:a16="http://schemas.microsoft.com/office/drawing/2014/main" id="{DC58244E-E35F-F80C-81B4-36D53E0176AD}"/>
                </a:ext>
              </a:extLst>
            </p:cNvPr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1405;p63">
            <a:extLst>
              <a:ext uri="{FF2B5EF4-FFF2-40B4-BE49-F238E27FC236}">
                <a16:creationId xmlns:a16="http://schemas.microsoft.com/office/drawing/2014/main" id="{8EF58545-672E-AD9A-B241-639EF87E1229}"/>
              </a:ext>
            </a:extLst>
          </p:cNvPr>
          <p:cNvGrpSpPr/>
          <p:nvPr/>
        </p:nvGrpSpPr>
        <p:grpSpPr>
          <a:xfrm>
            <a:off x="1920812" y="2641045"/>
            <a:ext cx="359213" cy="327807"/>
            <a:chOff x="1958520" y="2302574"/>
            <a:chExt cx="359213" cy="327807"/>
          </a:xfrm>
        </p:grpSpPr>
        <p:sp>
          <p:nvSpPr>
            <p:cNvPr id="15" name="Google Shape;11406;p63">
              <a:extLst>
                <a:ext uri="{FF2B5EF4-FFF2-40B4-BE49-F238E27FC236}">
                  <a16:creationId xmlns:a16="http://schemas.microsoft.com/office/drawing/2014/main" id="{EDAD910D-D2BF-06D7-DA8E-D16EEBA921F0}"/>
                </a:ext>
              </a:extLst>
            </p:cNvPr>
            <p:cNvSpPr/>
            <p:nvPr/>
          </p:nvSpPr>
          <p:spPr>
            <a:xfrm>
              <a:off x="1958520" y="2302574"/>
              <a:ext cx="359213" cy="327807"/>
            </a:xfrm>
            <a:custGeom>
              <a:avLst/>
              <a:gdLst/>
              <a:ahLst/>
              <a:cxnLst/>
              <a:rect l="l" t="t" r="r" b="b"/>
              <a:pathLst>
                <a:path w="11312" h="10323" extrusionOk="0">
                  <a:moveTo>
                    <a:pt x="7168" y="8132"/>
                  </a:moveTo>
                  <a:lnTo>
                    <a:pt x="7501" y="9204"/>
                  </a:lnTo>
                  <a:lnTo>
                    <a:pt x="3799" y="9204"/>
                  </a:lnTo>
                  <a:lnTo>
                    <a:pt x="4120" y="8132"/>
                  </a:lnTo>
                  <a:close/>
                  <a:moveTo>
                    <a:pt x="8466" y="9537"/>
                  </a:moveTo>
                  <a:cubicBezTo>
                    <a:pt x="8597" y="9537"/>
                    <a:pt x="8704" y="9656"/>
                    <a:pt x="8704" y="9775"/>
                  </a:cubicBezTo>
                  <a:cubicBezTo>
                    <a:pt x="8704" y="9906"/>
                    <a:pt x="8597" y="10013"/>
                    <a:pt x="8466" y="10013"/>
                  </a:cubicBezTo>
                  <a:lnTo>
                    <a:pt x="2810" y="10013"/>
                  </a:lnTo>
                  <a:cubicBezTo>
                    <a:pt x="2679" y="10013"/>
                    <a:pt x="2572" y="9906"/>
                    <a:pt x="2572" y="9775"/>
                  </a:cubicBezTo>
                  <a:cubicBezTo>
                    <a:pt x="2572" y="9644"/>
                    <a:pt x="2679" y="9537"/>
                    <a:pt x="2810" y="9537"/>
                  </a:cubicBezTo>
                  <a:close/>
                  <a:moveTo>
                    <a:pt x="1072" y="0"/>
                  </a:moveTo>
                  <a:cubicBezTo>
                    <a:pt x="477" y="0"/>
                    <a:pt x="0" y="476"/>
                    <a:pt x="0" y="1072"/>
                  </a:cubicBezTo>
                  <a:lnTo>
                    <a:pt x="0" y="7049"/>
                  </a:lnTo>
                  <a:cubicBezTo>
                    <a:pt x="0" y="7644"/>
                    <a:pt x="477" y="8120"/>
                    <a:pt x="1072" y="8120"/>
                  </a:cubicBezTo>
                  <a:lnTo>
                    <a:pt x="3763" y="8120"/>
                  </a:lnTo>
                  <a:lnTo>
                    <a:pt x="3441" y="9192"/>
                  </a:lnTo>
                  <a:lnTo>
                    <a:pt x="2822" y="9192"/>
                  </a:lnTo>
                  <a:cubicBezTo>
                    <a:pt x="2513" y="9192"/>
                    <a:pt x="2263" y="9442"/>
                    <a:pt x="2263" y="9751"/>
                  </a:cubicBezTo>
                  <a:cubicBezTo>
                    <a:pt x="2263" y="10073"/>
                    <a:pt x="2513" y="10323"/>
                    <a:pt x="2822" y="10323"/>
                  </a:cubicBezTo>
                  <a:lnTo>
                    <a:pt x="8478" y="10323"/>
                  </a:lnTo>
                  <a:cubicBezTo>
                    <a:pt x="8799" y="10323"/>
                    <a:pt x="9049" y="10073"/>
                    <a:pt x="9049" y="9751"/>
                  </a:cubicBezTo>
                  <a:cubicBezTo>
                    <a:pt x="9049" y="9442"/>
                    <a:pt x="8799" y="9192"/>
                    <a:pt x="8478" y="9192"/>
                  </a:cubicBezTo>
                  <a:lnTo>
                    <a:pt x="7870" y="9192"/>
                  </a:lnTo>
                  <a:lnTo>
                    <a:pt x="7549" y="8120"/>
                  </a:lnTo>
                  <a:lnTo>
                    <a:pt x="10240" y="8120"/>
                  </a:lnTo>
                  <a:cubicBezTo>
                    <a:pt x="10835" y="8120"/>
                    <a:pt x="11311" y="7644"/>
                    <a:pt x="11311" y="7049"/>
                  </a:cubicBezTo>
                  <a:lnTo>
                    <a:pt x="11311" y="1072"/>
                  </a:lnTo>
                  <a:cubicBezTo>
                    <a:pt x="11299" y="488"/>
                    <a:pt x="10823" y="0"/>
                    <a:pt x="10228" y="0"/>
                  </a:cubicBezTo>
                  <a:lnTo>
                    <a:pt x="2786" y="0"/>
                  </a:lnTo>
                  <a:cubicBezTo>
                    <a:pt x="2691" y="0"/>
                    <a:pt x="2620" y="72"/>
                    <a:pt x="2620" y="155"/>
                  </a:cubicBezTo>
                  <a:cubicBezTo>
                    <a:pt x="2620" y="250"/>
                    <a:pt x="2691" y="322"/>
                    <a:pt x="2786" y="322"/>
                  </a:cubicBezTo>
                  <a:lnTo>
                    <a:pt x="10228" y="322"/>
                  </a:lnTo>
                  <a:cubicBezTo>
                    <a:pt x="10621" y="322"/>
                    <a:pt x="10966" y="655"/>
                    <a:pt x="10966" y="1072"/>
                  </a:cubicBezTo>
                  <a:lnTo>
                    <a:pt x="10966" y="7049"/>
                  </a:lnTo>
                  <a:cubicBezTo>
                    <a:pt x="10966" y="7453"/>
                    <a:pt x="10645" y="7799"/>
                    <a:pt x="10228" y="7799"/>
                  </a:cubicBezTo>
                  <a:lnTo>
                    <a:pt x="1072" y="7799"/>
                  </a:lnTo>
                  <a:cubicBezTo>
                    <a:pt x="667" y="7799"/>
                    <a:pt x="322" y="7465"/>
                    <a:pt x="322" y="7049"/>
                  </a:cubicBezTo>
                  <a:lnTo>
                    <a:pt x="322" y="1072"/>
                  </a:lnTo>
                  <a:cubicBezTo>
                    <a:pt x="322" y="667"/>
                    <a:pt x="655" y="322"/>
                    <a:pt x="1072" y="322"/>
                  </a:cubicBezTo>
                  <a:lnTo>
                    <a:pt x="2108" y="322"/>
                  </a:lnTo>
                  <a:cubicBezTo>
                    <a:pt x="2203" y="322"/>
                    <a:pt x="2275" y="250"/>
                    <a:pt x="2275" y="155"/>
                  </a:cubicBezTo>
                  <a:cubicBezTo>
                    <a:pt x="2275" y="72"/>
                    <a:pt x="2203" y="0"/>
                    <a:pt x="21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407;p63">
              <a:extLst>
                <a:ext uri="{FF2B5EF4-FFF2-40B4-BE49-F238E27FC236}">
                  <a16:creationId xmlns:a16="http://schemas.microsoft.com/office/drawing/2014/main" id="{0FFACFB3-F843-06E8-B680-655ED4E197DA}"/>
                </a:ext>
              </a:extLst>
            </p:cNvPr>
            <p:cNvSpPr/>
            <p:nvPr/>
          </p:nvSpPr>
          <p:spPr>
            <a:xfrm>
              <a:off x="1986877" y="2331313"/>
              <a:ext cx="302117" cy="184909"/>
            </a:xfrm>
            <a:custGeom>
              <a:avLst/>
              <a:gdLst/>
              <a:ahLst/>
              <a:cxnLst/>
              <a:rect l="l" t="t" r="r" b="b"/>
              <a:pathLst>
                <a:path w="9514" h="5823" extrusionOk="0">
                  <a:moveTo>
                    <a:pt x="179" y="0"/>
                  </a:moveTo>
                  <a:cubicBezTo>
                    <a:pt x="72" y="0"/>
                    <a:pt x="0" y="71"/>
                    <a:pt x="0" y="179"/>
                  </a:cubicBezTo>
                  <a:lnTo>
                    <a:pt x="0" y="5656"/>
                  </a:lnTo>
                  <a:cubicBezTo>
                    <a:pt x="0" y="5739"/>
                    <a:pt x="72" y="5822"/>
                    <a:pt x="167" y="5822"/>
                  </a:cubicBezTo>
                  <a:lnTo>
                    <a:pt x="9347" y="5822"/>
                  </a:lnTo>
                  <a:cubicBezTo>
                    <a:pt x="9430" y="5822"/>
                    <a:pt x="9513" y="5739"/>
                    <a:pt x="9513" y="5656"/>
                  </a:cubicBezTo>
                  <a:lnTo>
                    <a:pt x="9513" y="5072"/>
                  </a:lnTo>
                  <a:cubicBezTo>
                    <a:pt x="9513" y="4989"/>
                    <a:pt x="9430" y="4905"/>
                    <a:pt x="9347" y="4905"/>
                  </a:cubicBezTo>
                  <a:cubicBezTo>
                    <a:pt x="9252" y="4905"/>
                    <a:pt x="9180" y="4989"/>
                    <a:pt x="9180" y="5072"/>
                  </a:cubicBezTo>
                  <a:lnTo>
                    <a:pt x="9180" y="5489"/>
                  </a:lnTo>
                  <a:lnTo>
                    <a:pt x="346" y="5489"/>
                  </a:lnTo>
                  <a:lnTo>
                    <a:pt x="346" y="345"/>
                  </a:lnTo>
                  <a:lnTo>
                    <a:pt x="9180" y="345"/>
                  </a:lnTo>
                  <a:lnTo>
                    <a:pt x="9180" y="4405"/>
                  </a:lnTo>
                  <a:cubicBezTo>
                    <a:pt x="9168" y="4489"/>
                    <a:pt x="9240" y="4572"/>
                    <a:pt x="9347" y="4572"/>
                  </a:cubicBezTo>
                  <a:cubicBezTo>
                    <a:pt x="9430" y="4572"/>
                    <a:pt x="9513" y="4489"/>
                    <a:pt x="9513" y="4405"/>
                  </a:cubicBezTo>
                  <a:lnTo>
                    <a:pt x="9513" y="179"/>
                  </a:lnTo>
                  <a:cubicBezTo>
                    <a:pt x="9513" y="71"/>
                    <a:pt x="9430" y="0"/>
                    <a:pt x="933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408;p63">
              <a:extLst>
                <a:ext uri="{FF2B5EF4-FFF2-40B4-BE49-F238E27FC236}">
                  <a16:creationId xmlns:a16="http://schemas.microsoft.com/office/drawing/2014/main" id="{3861A1A2-4A3A-1276-77E0-4DC0F6F5E7DD}"/>
                </a:ext>
              </a:extLst>
            </p:cNvPr>
            <p:cNvSpPr/>
            <p:nvPr/>
          </p:nvSpPr>
          <p:spPr>
            <a:xfrm>
              <a:off x="2131521" y="2526701"/>
              <a:ext cx="11908" cy="10638"/>
            </a:xfrm>
            <a:custGeom>
              <a:avLst/>
              <a:gdLst/>
              <a:ahLst/>
              <a:cxnLst/>
              <a:rect l="l" t="t" r="r" b="b"/>
              <a:pathLst>
                <a:path w="375" h="335" extrusionOk="0">
                  <a:moveTo>
                    <a:pt x="176" y="0"/>
                  </a:moveTo>
                  <a:cubicBezTo>
                    <a:pt x="167" y="0"/>
                    <a:pt x="158" y="1"/>
                    <a:pt x="148" y="3"/>
                  </a:cubicBezTo>
                  <a:cubicBezTo>
                    <a:pt x="77" y="26"/>
                    <a:pt x="17" y="86"/>
                    <a:pt x="17" y="157"/>
                  </a:cubicBezTo>
                  <a:cubicBezTo>
                    <a:pt x="1" y="258"/>
                    <a:pt x="95" y="334"/>
                    <a:pt x="186" y="334"/>
                  </a:cubicBezTo>
                  <a:cubicBezTo>
                    <a:pt x="225" y="334"/>
                    <a:pt x="263" y="320"/>
                    <a:pt x="291" y="288"/>
                  </a:cubicBezTo>
                  <a:cubicBezTo>
                    <a:pt x="375" y="229"/>
                    <a:pt x="375" y="145"/>
                    <a:pt x="327" y="86"/>
                  </a:cubicBezTo>
                  <a:cubicBezTo>
                    <a:pt x="296" y="34"/>
                    <a:pt x="238" y="0"/>
                    <a:pt x="1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568;p32">
            <a:extLst>
              <a:ext uri="{FF2B5EF4-FFF2-40B4-BE49-F238E27FC236}">
                <a16:creationId xmlns:a16="http://schemas.microsoft.com/office/drawing/2014/main" id="{066BE7E5-14FC-F782-7A8F-5FEBA0AF3D0D}"/>
              </a:ext>
            </a:extLst>
          </p:cNvPr>
          <p:cNvSpPr txBox="1"/>
          <p:nvPr/>
        </p:nvSpPr>
        <p:spPr>
          <a:xfrm>
            <a:off x="2673581" y="2391973"/>
            <a:ext cx="5213889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Serverul este blocat pe operația de citire din FIFO-ul principal </a:t>
            </a:r>
            <a:r>
              <a:rPr lang="ro-RO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ș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 a</a:t>
            </a:r>
            <a:r>
              <a:rPr lang="ro-RO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ș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teapt</a:t>
            </a:r>
            <a:r>
              <a:rPr lang="ro-RO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ă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</a:t>
            </a:r>
            <a:r>
              <a:rPr lang="ro-RO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ă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se execute comanda man ca s</a:t>
            </a:r>
            <a:r>
              <a:rPr lang="ro-RO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ă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treac</a:t>
            </a:r>
            <a:r>
              <a:rPr lang="ro-RO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ă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la urm</a:t>
            </a:r>
            <a:r>
              <a:rPr lang="ro-RO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ă</a:t>
            </a:r>
            <a:r>
              <a:rPr lang="it-IT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toarea cerere.</a:t>
            </a:r>
            <a:endParaRPr lang="it-IT" sz="110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</p:txBody>
      </p:sp>
      <p:sp>
        <p:nvSpPr>
          <p:cNvPr id="19" name="Google Shape;568;p32">
            <a:extLst>
              <a:ext uri="{FF2B5EF4-FFF2-40B4-BE49-F238E27FC236}">
                <a16:creationId xmlns:a16="http://schemas.microsoft.com/office/drawing/2014/main" id="{A4FED113-0FEB-FD47-9DE0-5F31EECB94FB}"/>
              </a:ext>
            </a:extLst>
          </p:cNvPr>
          <p:cNvSpPr txBox="1"/>
          <p:nvPr/>
        </p:nvSpPr>
        <p:spPr>
          <a:xfrm>
            <a:off x="1733350" y="3287289"/>
            <a:ext cx="6999944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Consecin</a:t>
            </a:r>
            <a:r>
              <a:rPr lang="ro-RO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ț</a:t>
            </a:r>
            <a:r>
              <a:rPr lang="it-IT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Î</a:t>
            </a:r>
            <a:r>
              <a:rPr lang="it-IT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 cazul </a:t>
            </a:r>
            <a:r>
              <a:rPr lang="ro-RO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î</a:t>
            </a:r>
            <a:r>
              <a:rPr lang="it-IT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 care mai multe cereri sunt trimise</a:t>
            </a:r>
            <a:r>
              <a:rPr lang="ro-RO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ro-RO" sz="12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î</a:t>
            </a:r>
            <a:r>
              <a:rPr lang="it-IT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 acela</a:t>
            </a:r>
            <a:r>
              <a:rPr lang="ro-RO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ș</a:t>
            </a:r>
            <a:r>
              <a:rPr lang="it-IT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 timp, ele vor fi procesate </a:t>
            </a:r>
            <a:r>
              <a:rPr lang="ro-RO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î</a:t>
            </a:r>
            <a:r>
              <a:rPr lang="it-IT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 ordinea sosirii, iar r</a:t>
            </a:r>
            <a:r>
              <a:rPr lang="ro-RO" sz="12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ă</a:t>
            </a:r>
            <a:r>
              <a:rPr lang="it-IT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spunsurile pot </a:t>
            </a:r>
            <a:r>
              <a:rPr lang="ro-RO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î</a:t>
            </a:r>
            <a:r>
              <a:rPr lang="it-IT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nt</a:t>
            </a:r>
            <a:r>
              <a:rPr lang="ro-RO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â</a:t>
            </a:r>
            <a:r>
              <a:rPr lang="it-IT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rzia pentru clien</a:t>
            </a:r>
            <a:r>
              <a:rPr lang="ro-RO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ț</a:t>
            </a:r>
            <a:r>
              <a:rPr lang="it-IT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ii care se afl</a:t>
            </a:r>
            <a:r>
              <a:rPr lang="ro-RO" sz="12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ă</a:t>
            </a:r>
            <a:r>
              <a:rPr lang="it-IT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ro-RO" sz="12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î</a:t>
            </a:r>
            <a:r>
              <a:rPr lang="it-IT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 coad</a:t>
            </a:r>
            <a:r>
              <a:rPr lang="ro-RO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ă</a:t>
            </a:r>
            <a:r>
              <a:rPr lang="it-IT" sz="1200" b="0" i="0" u="none" strike="noStrike" dirty="0">
                <a:solidFill>
                  <a:schemeClr val="accent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807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6" name="Google Shape;576;p33"/>
          <p:cNvCxnSpPr>
            <a:stCxn id="577" idx="1"/>
            <a:endCxn id="578" idx="1"/>
          </p:cNvCxnSpPr>
          <p:nvPr/>
        </p:nvCxnSpPr>
        <p:spPr>
          <a:xfrm>
            <a:off x="2798125" y="1948192"/>
            <a:ext cx="11649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9" name="Google Shape;579;p33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this </a:t>
            </a:r>
            <a:r>
              <a:rPr lang="en">
                <a:solidFill>
                  <a:schemeClr val="accent2"/>
                </a:solidFill>
              </a:rPr>
              <a:t>‘Topic About ?’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grpSp>
        <p:nvGrpSpPr>
          <p:cNvPr id="580" name="Google Shape;580;p33"/>
          <p:cNvGrpSpPr/>
          <p:nvPr/>
        </p:nvGrpSpPr>
        <p:grpSpPr>
          <a:xfrm>
            <a:off x="1084825" y="1153725"/>
            <a:ext cx="506100" cy="3416300"/>
            <a:chOff x="1084825" y="1153725"/>
            <a:chExt cx="506100" cy="3416300"/>
          </a:xfrm>
        </p:grpSpPr>
        <p:sp>
          <p:nvSpPr>
            <p:cNvPr id="581" name="Google Shape;581;p33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82" name="Google Shape;582;p33"/>
            <p:cNvCxnSpPr/>
            <p:nvPr/>
          </p:nvCxnSpPr>
          <p:spPr>
            <a:xfrm>
              <a:off x="1337875" y="1153725"/>
              <a:ext cx="0" cy="2779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3" name="Google Shape;583;p33"/>
          <p:cNvSpPr txBox="1"/>
          <p:nvPr/>
        </p:nvSpPr>
        <p:spPr>
          <a:xfrm>
            <a:off x="1642225" y="1276463"/>
            <a:ext cx="35313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Languages</a:t>
            </a:r>
            <a:endParaRPr sz="200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4" name="Google Shape;584;p33"/>
          <p:cNvSpPr txBox="1"/>
          <p:nvPr/>
        </p:nvSpPr>
        <p:spPr>
          <a:xfrm>
            <a:off x="1642225" y="2982667"/>
            <a:ext cx="35313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Create a web page</a:t>
            </a:r>
            <a:endParaRPr sz="200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5" name="Google Shape;585;p33"/>
          <p:cNvSpPr txBox="1"/>
          <p:nvPr/>
        </p:nvSpPr>
        <p:spPr>
          <a:xfrm>
            <a:off x="2092750" y="1778992"/>
            <a:ext cx="730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Fira Code"/>
                <a:ea typeface="Fira Code"/>
                <a:cs typeface="Fira Code"/>
                <a:sym typeface="Fira Code"/>
              </a:rPr>
              <a:t>Html</a:t>
            </a:r>
            <a:endParaRPr sz="160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7" name="Google Shape;577;p33"/>
          <p:cNvSpPr/>
          <p:nvPr/>
        </p:nvSpPr>
        <p:spPr>
          <a:xfrm>
            <a:off x="2798125" y="1880842"/>
            <a:ext cx="778200" cy="13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33"/>
          <p:cNvSpPr txBox="1"/>
          <p:nvPr/>
        </p:nvSpPr>
        <p:spPr>
          <a:xfrm>
            <a:off x="2092750" y="2094788"/>
            <a:ext cx="2735100" cy="7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&lt; Mercury is the smallest planet in the entire Solar System &gt;</a:t>
            </a:r>
            <a:endParaRPr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8" name="Google Shape;578;p33"/>
          <p:cNvSpPr txBox="1"/>
          <p:nvPr/>
        </p:nvSpPr>
        <p:spPr>
          <a:xfrm>
            <a:off x="3963000" y="1778992"/>
            <a:ext cx="730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60%</a:t>
            </a:r>
            <a:endParaRPr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87" name="Google Shape;587;p33"/>
          <p:cNvCxnSpPr>
            <a:stCxn id="588" idx="1"/>
            <a:endCxn id="589" idx="1"/>
          </p:cNvCxnSpPr>
          <p:nvPr/>
        </p:nvCxnSpPr>
        <p:spPr>
          <a:xfrm>
            <a:off x="5745650" y="1948192"/>
            <a:ext cx="11649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0" name="Google Shape;590;p33"/>
          <p:cNvSpPr txBox="1"/>
          <p:nvPr/>
        </p:nvSpPr>
        <p:spPr>
          <a:xfrm>
            <a:off x="5040275" y="1778992"/>
            <a:ext cx="730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Css</a:t>
            </a:r>
            <a:endParaRPr sz="160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8" name="Google Shape;588;p33"/>
          <p:cNvSpPr/>
          <p:nvPr/>
        </p:nvSpPr>
        <p:spPr>
          <a:xfrm>
            <a:off x="5745650" y="1880842"/>
            <a:ext cx="506100" cy="134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33"/>
          <p:cNvSpPr txBox="1"/>
          <p:nvPr/>
        </p:nvSpPr>
        <p:spPr>
          <a:xfrm>
            <a:off x="5040275" y="2094788"/>
            <a:ext cx="2735100" cy="7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&lt; The Earth is the only one that harbors life in the Solar System &gt;</a:t>
            </a:r>
            <a:endParaRPr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9" name="Google Shape;589;p33"/>
          <p:cNvSpPr txBox="1"/>
          <p:nvPr/>
        </p:nvSpPr>
        <p:spPr>
          <a:xfrm>
            <a:off x="6910525" y="1778992"/>
            <a:ext cx="730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40%</a:t>
            </a:r>
            <a:endParaRPr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grpSp>
        <p:nvGrpSpPr>
          <p:cNvPr id="592" name="Google Shape;592;p33"/>
          <p:cNvGrpSpPr/>
          <p:nvPr/>
        </p:nvGrpSpPr>
        <p:grpSpPr>
          <a:xfrm>
            <a:off x="4288657" y="3527161"/>
            <a:ext cx="365741" cy="365763"/>
            <a:chOff x="1776263" y="1291425"/>
            <a:chExt cx="431400" cy="431375"/>
          </a:xfrm>
        </p:grpSpPr>
        <p:sp>
          <p:nvSpPr>
            <p:cNvPr id="593" name="Google Shape;593;p33"/>
            <p:cNvSpPr/>
            <p:nvPr/>
          </p:nvSpPr>
          <p:spPr>
            <a:xfrm>
              <a:off x="1784313" y="1367250"/>
              <a:ext cx="414800" cy="347500"/>
            </a:xfrm>
            <a:custGeom>
              <a:avLst/>
              <a:gdLst/>
              <a:ahLst/>
              <a:cxnLst/>
              <a:rect l="l" t="t" r="r" b="b"/>
              <a:pathLst>
                <a:path w="16592" h="13900" extrusionOk="0">
                  <a:moveTo>
                    <a:pt x="1" y="1"/>
                  </a:moveTo>
                  <a:lnTo>
                    <a:pt x="1" y="13217"/>
                  </a:lnTo>
                  <a:cubicBezTo>
                    <a:pt x="1" y="13596"/>
                    <a:pt x="304" y="13900"/>
                    <a:pt x="683" y="13900"/>
                  </a:cubicBezTo>
                  <a:lnTo>
                    <a:pt x="15928" y="13900"/>
                  </a:lnTo>
                  <a:cubicBezTo>
                    <a:pt x="16289" y="13900"/>
                    <a:pt x="16592" y="13596"/>
                    <a:pt x="16592" y="13217"/>
                  </a:cubicBezTo>
                  <a:lnTo>
                    <a:pt x="165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1784313" y="1299950"/>
              <a:ext cx="414800" cy="67325"/>
            </a:xfrm>
            <a:custGeom>
              <a:avLst/>
              <a:gdLst/>
              <a:ahLst/>
              <a:cxnLst/>
              <a:rect l="l" t="t" r="r" b="b"/>
              <a:pathLst>
                <a:path w="16592" h="2693" extrusionOk="0">
                  <a:moveTo>
                    <a:pt x="683" y="0"/>
                  </a:moveTo>
                  <a:cubicBezTo>
                    <a:pt x="304" y="0"/>
                    <a:pt x="1" y="304"/>
                    <a:pt x="1" y="664"/>
                  </a:cubicBezTo>
                  <a:lnTo>
                    <a:pt x="1" y="2693"/>
                  </a:lnTo>
                  <a:lnTo>
                    <a:pt x="16592" y="2693"/>
                  </a:lnTo>
                  <a:lnTo>
                    <a:pt x="16592" y="664"/>
                  </a:lnTo>
                  <a:cubicBezTo>
                    <a:pt x="16592" y="304"/>
                    <a:pt x="16289" y="0"/>
                    <a:pt x="15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1840263" y="1422725"/>
              <a:ext cx="303400" cy="50750"/>
            </a:xfrm>
            <a:custGeom>
              <a:avLst/>
              <a:gdLst/>
              <a:ahLst/>
              <a:cxnLst/>
              <a:rect l="l" t="t" r="r" b="b"/>
              <a:pathLst>
                <a:path w="12136" h="2030" extrusionOk="0">
                  <a:moveTo>
                    <a:pt x="0" y="0"/>
                  </a:moveTo>
                  <a:lnTo>
                    <a:pt x="0" y="2029"/>
                  </a:lnTo>
                  <a:lnTo>
                    <a:pt x="12135" y="2029"/>
                  </a:lnTo>
                  <a:lnTo>
                    <a:pt x="12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1991938" y="1526525"/>
              <a:ext cx="151725" cy="135125"/>
            </a:xfrm>
            <a:custGeom>
              <a:avLst/>
              <a:gdLst/>
              <a:ahLst/>
              <a:cxnLst/>
              <a:rect l="l" t="t" r="r" b="b"/>
              <a:pathLst>
                <a:path w="6069" h="5405" extrusionOk="0">
                  <a:moveTo>
                    <a:pt x="1" y="1"/>
                  </a:moveTo>
                  <a:lnTo>
                    <a:pt x="1" y="5405"/>
                  </a:lnTo>
                  <a:lnTo>
                    <a:pt x="6068" y="5405"/>
                  </a:lnTo>
                  <a:lnTo>
                    <a:pt x="60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1840263" y="1526525"/>
              <a:ext cx="100975" cy="135125"/>
            </a:xfrm>
            <a:custGeom>
              <a:avLst/>
              <a:gdLst/>
              <a:ahLst/>
              <a:cxnLst/>
              <a:rect l="l" t="t" r="r" b="b"/>
              <a:pathLst>
                <a:path w="4039" h="5405" extrusionOk="0">
                  <a:moveTo>
                    <a:pt x="0" y="1"/>
                  </a:moveTo>
                  <a:lnTo>
                    <a:pt x="0" y="5405"/>
                  </a:lnTo>
                  <a:lnTo>
                    <a:pt x="4039" y="5405"/>
                  </a:lnTo>
                  <a:lnTo>
                    <a:pt x="40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2019438" y="1325075"/>
              <a:ext cx="19925" cy="17125"/>
            </a:xfrm>
            <a:custGeom>
              <a:avLst/>
              <a:gdLst/>
              <a:ahLst/>
              <a:cxnLst/>
              <a:rect l="l" t="t" r="r" b="b"/>
              <a:pathLst>
                <a:path w="797" h="685" extrusionOk="0">
                  <a:moveTo>
                    <a:pt x="456" y="0"/>
                  </a:moveTo>
                  <a:cubicBezTo>
                    <a:pt x="152" y="0"/>
                    <a:pt x="0" y="361"/>
                    <a:pt x="209" y="588"/>
                  </a:cubicBezTo>
                  <a:cubicBezTo>
                    <a:pt x="282" y="655"/>
                    <a:pt x="368" y="684"/>
                    <a:pt x="451" y="684"/>
                  </a:cubicBezTo>
                  <a:cubicBezTo>
                    <a:pt x="630" y="684"/>
                    <a:pt x="797" y="548"/>
                    <a:pt x="797" y="342"/>
                  </a:cubicBezTo>
                  <a:cubicBezTo>
                    <a:pt x="797" y="152"/>
                    <a:pt x="645" y="0"/>
                    <a:pt x="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2054038" y="1325075"/>
              <a:ext cx="54550" cy="17075"/>
            </a:xfrm>
            <a:custGeom>
              <a:avLst/>
              <a:gdLst/>
              <a:ahLst/>
              <a:cxnLst/>
              <a:rect l="l" t="t" r="r" b="b"/>
              <a:pathLst>
                <a:path w="2182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lnTo>
                    <a:pt x="1764" y="683"/>
                  </a:lnTo>
                  <a:cubicBezTo>
                    <a:pt x="2181" y="645"/>
                    <a:pt x="2181" y="38"/>
                    <a:pt x="17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2119763" y="1325025"/>
              <a:ext cx="55650" cy="17175"/>
            </a:xfrm>
            <a:custGeom>
              <a:avLst/>
              <a:gdLst/>
              <a:ahLst/>
              <a:cxnLst/>
              <a:rect l="l" t="t" r="r" b="b"/>
              <a:pathLst>
                <a:path w="2226" h="687" extrusionOk="0">
                  <a:moveTo>
                    <a:pt x="446" y="1"/>
                  </a:moveTo>
                  <a:cubicBezTo>
                    <a:pt x="0" y="1"/>
                    <a:pt x="0" y="686"/>
                    <a:pt x="446" y="686"/>
                  </a:cubicBezTo>
                  <a:cubicBezTo>
                    <a:pt x="458" y="686"/>
                    <a:pt x="469" y="686"/>
                    <a:pt x="481" y="685"/>
                  </a:cubicBezTo>
                  <a:lnTo>
                    <a:pt x="1828" y="685"/>
                  </a:lnTo>
                  <a:cubicBezTo>
                    <a:pt x="2226" y="647"/>
                    <a:pt x="2226" y="40"/>
                    <a:pt x="1828" y="2"/>
                  </a:cubicBezTo>
                  <a:lnTo>
                    <a:pt x="481" y="2"/>
                  </a:lnTo>
                  <a:cubicBezTo>
                    <a:pt x="469" y="1"/>
                    <a:pt x="458" y="1"/>
                    <a:pt x="4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1776263" y="1291425"/>
              <a:ext cx="431400" cy="431375"/>
            </a:xfrm>
            <a:custGeom>
              <a:avLst/>
              <a:gdLst/>
              <a:ahLst/>
              <a:cxnLst/>
              <a:rect l="l" t="t" r="r" b="b"/>
              <a:pathLst>
                <a:path w="17256" h="17255" extrusionOk="0">
                  <a:moveTo>
                    <a:pt x="16282" y="681"/>
                  </a:moveTo>
                  <a:cubicBezTo>
                    <a:pt x="16457" y="681"/>
                    <a:pt x="16592" y="826"/>
                    <a:pt x="16592" y="1005"/>
                  </a:cubicBezTo>
                  <a:lnTo>
                    <a:pt x="16592" y="2693"/>
                  </a:lnTo>
                  <a:lnTo>
                    <a:pt x="664" y="2693"/>
                  </a:lnTo>
                  <a:lnTo>
                    <a:pt x="664" y="1005"/>
                  </a:lnTo>
                  <a:cubicBezTo>
                    <a:pt x="664" y="834"/>
                    <a:pt x="816" y="683"/>
                    <a:pt x="1005" y="683"/>
                  </a:cubicBezTo>
                  <a:lnTo>
                    <a:pt x="16250" y="683"/>
                  </a:lnTo>
                  <a:cubicBezTo>
                    <a:pt x="16261" y="682"/>
                    <a:pt x="16272" y="681"/>
                    <a:pt x="16282" y="681"/>
                  </a:cubicBezTo>
                  <a:close/>
                  <a:moveTo>
                    <a:pt x="16592" y="3375"/>
                  </a:moveTo>
                  <a:lnTo>
                    <a:pt x="16592" y="16250"/>
                  </a:lnTo>
                  <a:cubicBezTo>
                    <a:pt x="16592" y="16440"/>
                    <a:pt x="16440" y="16591"/>
                    <a:pt x="16250" y="16591"/>
                  </a:cubicBezTo>
                  <a:lnTo>
                    <a:pt x="1005" y="16591"/>
                  </a:lnTo>
                  <a:cubicBezTo>
                    <a:pt x="816" y="16591"/>
                    <a:pt x="664" y="16440"/>
                    <a:pt x="664" y="16250"/>
                  </a:cubicBezTo>
                  <a:lnTo>
                    <a:pt x="664" y="3375"/>
                  </a:lnTo>
                  <a:close/>
                  <a:moveTo>
                    <a:pt x="1005" y="0"/>
                  </a:moveTo>
                  <a:cubicBezTo>
                    <a:pt x="436" y="0"/>
                    <a:pt x="0" y="455"/>
                    <a:pt x="0" y="1005"/>
                  </a:cubicBezTo>
                  <a:lnTo>
                    <a:pt x="0" y="16250"/>
                  </a:lnTo>
                  <a:cubicBezTo>
                    <a:pt x="0" y="16819"/>
                    <a:pt x="436" y="17255"/>
                    <a:pt x="1005" y="17255"/>
                  </a:cubicBezTo>
                  <a:lnTo>
                    <a:pt x="16250" y="17255"/>
                  </a:lnTo>
                  <a:cubicBezTo>
                    <a:pt x="16800" y="17255"/>
                    <a:pt x="17255" y="16819"/>
                    <a:pt x="17255" y="16250"/>
                  </a:cubicBezTo>
                  <a:lnTo>
                    <a:pt x="17255" y="1005"/>
                  </a:lnTo>
                  <a:cubicBezTo>
                    <a:pt x="17255" y="455"/>
                    <a:pt x="16800" y="0"/>
                    <a:pt x="16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1831713" y="1414650"/>
              <a:ext cx="320000" cy="67350"/>
            </a:xfrm>
            <a:custGeom>
              <a:avLst/>
              <a:gdLst/>
              <a:ahLst/>
              <a:cxnLst/>
              <a:rect l="l" t="t" r="r" b="b"/>
              <a:pathLst>
                <a:path w="12800" h="2694" extrusionOk="0">
                  <a:moveTo>
                    <a:pt x="12136" y="665"/>
                  </a:moveTo>
                  <a:lnTo>
                    <a:pt x="12136" y="2011"/>
                  </a:lnTo>
                  <a:lnTo>
                    <a:pt x="664" y="2011"/>
                  </a:lnTo>
                  <a:lnTo>
                    <a:pt x="664" y="665"/>
                  </a:lnTo>
                  <a:close/>
                  <a:moveTo>
                    <a:pt x="342" y="1"/>
                  </a:moveTo>
                  <a:cubicBezTo>
                    <a:pt x="152" y="1"/>
                    <a:pt x="1" y="153"/>
                    <a:pt x="1" y="323"/>
                  </a:cubicBezTo>
                  <a:lnTo>
                    <a:pt x="1" y="2352"/>
                  </a:lnTo>
                  <a:cubicBezTo>
                    <a:pt x="1" y="2542"/>
                    <a:pt x="152" y="2694"/>
                    <a:pt x="342" y="2694"/>
                  </a:cubicBezTo>
                  <a:lnTo>
                    <a:pt x="12477" y="2694"/>
                  </a:lnTo>
                  <a:cubicBezTo>
                    <a:pt x="12648" y="2694"/>
                    <a:pt x="12800" y="2542"/>
                    <a:pt x="12800" y="2352"/>
                  </a:cubicBezTo>
                  <a:lnTo>
                    <a:pt x="12800" y="323"/>
                  </a:lnTo>
                  <a:cubicBezTo>
                    <a:pt x="12800" y="153"/>
                    <a:pt x="12648" y="1"/>
                    <a:pt x="124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1831713" y="1518000"/>
              <a:ext cx="118075" cy="152200"/>
            </a:xfrm>
            <a:custGeom>
              <a:avLst/>
              <a:gdLst/>
              <a:ahLst/>
              <a:cxnLst/>
              <a:rect l="l" t="t" r="r" b="b"/>
              <a:pathLst>
                <a:path w="4723" h="6088" extrusionOk="0">
                  <a:moveTo>
                    <a:pt x="4040" y="683"/>
                  </a:moveTo>
                  <a:lnTo>
                    <a:pt x="4040" y="5405"/>
                  </a:lnTo>
                  <a:lnTo>
                    <a:pt x="664" y="5405"/>
                  </a:lnTo>
                  <a:lnTo>
                    <a:pt x="664" y="683"/>
                  </a:lnTo>
                  <a:close/>
                  <a:moveTo>
                    <a:pt x="342" y="1"/>
                  </a:moveTo>
                  <a:cubicBezTo>
                    <a:pt x="152" y="1"/>
                    <a:pt x="1" y="152"/>
                    <a:pt x="1" y="342"/>
                  </a:cubicBezTo>
                  <a:lnTo>
                    <a:pt x="1" y="5746"/>
                  </a:lnTo>
                  <a:cubicBezTo>
                    <a:pt x="1" y="5917"/>
                    <a:pt x="152" y="6068"/>
                    <a:pt x="342" y="6087"/>
                  </a:cubicBezTo>
                  <a:lnTo>
                    <a:pt x="4381" y="6087"/>
                  </a:lnTo>
                  <a:cubicBezTo>
                    <a:pt x="4570" y="6087"/>
                    <a:pt x="4722" y="5917"/>
                    <a:pt x="4722" y="5746"/>
                  </a:cubicBezTo>
                  <a:lnTo>
                    <a:pt x="4722" y="342"/>
                  </a:lnTo>
                  <a:cubicBezTo>
                    <a:pt x="4722" y="152"/>
                    <a:pt x="4570" y="1"/>
                    <a:pt x="43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1983413" y="1518000"/>
              <a:ext cx="168300" cy="152200"/>
            </a:xfrm>
            <a:custGeom>
              <a:avLst/>
              <a:gdLst/>
              <a:ahLst/>
              <a:cxnLst/>
              <a:rect l="l" t="t" r="r" b="b"/>
              <a:pathLst>
                <a:path w="6732" h="6088" extrusionOk="0">
                  <a:moveTo>
                    <a:pt x="5518" y="683"/>
                  </a:moveTo>
                  <a:lnTo>
                    <a:pt x="3357" y="2598"/>
                  </a:lnTo>
                  <a:lnTo>
                    <a:pt x="1214" y="683"/>
                  </a:lnTo>
                  <a:close/>
                  <a:moveTo>
                    <a:pt x="664" y="1100"/>
                  </a:moveTo>
                  <a:lnTo>
                    <a:pt x="2864" y="3034"/>
                  </a:lnTo>
                  <a:lnTo>
                    <a:pt x="664" y="4987"/>
                  </a:lnTo>
                  <a:lnTo>
                    <a:pt x="664" y="1100"/>
                  </a:lnTo>
                  <a:close/>
                  <a:moveTo>
                    <a:pt x="6068" y="1081"/>
                  </a:moveTo>
                  <a:lnTo>
                    <a:pt x="6068" y="4987"/>
                  </a:lnTo>
                  <a:lnTo>
                    <a:pt x="3869" y="3034"/>
                  </a:lnTo>
                  <a:lnTo>
                    <a:pt x="6068" y="1081"/>
                  </a:lnTo>
                  <a:close/>
                  <a:moveTo>
                    <a:pt x="3376" y="3508"/>
                  </a:moveTo>
                  <a:lnTo>
                    <a:pt x="5518" y="5405"/>
                  </a:lnTo>
                  <a:lnTo>
                    <a:pt x="1233" y="5405"/>
                  </a:lnTo>
                  <a:lnTo>
                    <a:pt x="3376" y="3508"/>
                  </a:lnTo>
                  <a:close/>
                  <a:moveTo>
                    <a:pt x="323" y="1"/>
                  </a:moveTo>
                  <a:cubicBezTo>
                    <a:pt x="152" y="20"/>
                    <a:pt x="0" y="171"/>
                    <a:pt x="0" y="342"/>
                  </a:cubicBezTo>
                  <a:lnTo>
                    <a:pt x="0" y="5746"/>
                  </a:lnTo>
                  <a:cubicBezTo>
                    <a:pt x="0" y="5936"/>
                    <a:pt x="152" y="6068"/>
                    <a:pt x="342" y="6087"/>
                  </a:cubicBezTo>
                  <a:lnTo>
                    <a:pt x="6409" y="6087"/>
                  </a:lnTo>
                  <a:cubicBezTo>
                    <a:pt x="6580" y="6068"/>
                    <a:pt x="6732" y="5936"/>
                    <a:pt x="6732" y="5746"/>
                  </a:cubicBezTo>
                  <a:lnTo>
                    <a:pt x="6732" y="342"/>
                  </a:lnTo>
                  <a:cubicBezTo>
                    <a:pt x="6732" y="152"/>
                    <a:pt x="6580" y="1"/>
                    <a:pt x="64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" name="Google Shape;605;p33"/>
          <p:cNvGrpSpPr/>
          <p:nvPr/>
        </p:nvGrpSpPr>
        <p:grpSpPr>
          <a:xfrm>
            <a:off x="6522835" y="3527165"/>
            <a:ext cx="365742" cy="365754"/>
            <a:chOff x="3826463" y="1356825"/>
            <a:chExt cx="366475" cy="366450"/>
          </a:xfrm>
        </p:grpSpPr>
        <p:sp>
          <p:nvSpPr>
            <p:cNvPr id="606" name="Google Shape;606;p33"/>
            <p:cNvSpPr/>
            <p:nvPr/>
          </p:nvSpPr>
          <p:spPr>
            <a:xfrm>
              <a:off x="3833588" y="1420825"/>
              <a:ext cx="351750" cy="294875"/>
            </a:xfrm>
            <a:custGeom>
              <a:avLst/>
              <a:gdLst/>
              <a:ahLst/>
              <a:cxnLst/>
              <a:rect l="l" t="t" r="r" b="b"/>
              <a:pathLst>
                <a:path w="14070" h="11795" extrusionOk="0">
                  <a:moveTo>
                    <a:pt x="0" y="0"/>
                  </a:moveTo>
                  <a:lnTo>
                    <a:pt x="0" y="11226"/>
                  </a:lnTo>
                  <a:cubicBezTo>
                    <a:pt x="0" y="11548"/>
                    <a:pt x="247" y="11795"/>
                    <a:pt x="569" y="11795"/>
                  </a:cubicBezTo>
                  <a:lnTo>
                    <a:pt x="13501" y="11795"/>
                  </a:lnTo>
                  <a:cubicBezTo>
                    <a:pt x="13823" y="11795"/>
                    <a:pt x="14070" y="11548"/>
                    <a:pt x="14070" y="11226"/>
                  </a:cubicBezTo>
                  <a:lnTo>
                    <a:pt x="140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3833588" y="1363950"/>
              <a:ext cx="351750" cy="56900"/>
            </a:xfrm>
            <a:custGeom>
              <a:avLst/>
              <a:gdLst/>
              <a:ahLst/>
              <a:cxnLst/>
              <a:rect l="l" t="t" r="r" b="b"/>
              <a:pathLst>
                <a:path w="14070" h="2276" extrusionOk="0">
                  <a:moveTo>
                    <a:pt x="569" y="0"/>
                  </a:moveTo>
                  <a:cubicBezTo>
                    <a:pt x="247" y="0"/>
                    <a:pt x="0" y="247"/>
                    <a:pt x="0" y="569"/>
                  </a:cubicBezTo>
                  <a:lnTo>
                    <a:pt x="0" y="2275"/>
                  </a:lnTo>
                  <a:lnTo>
                    <a:pt x="14070" y="2275"/>
                  </a:lnTo>
                  <a:lnTo>
                    <a:pt x="14070" y="569"/>
                  </a:lnTo>
                  <a:cubicBezTo>
                    <a:pt x="14070" y="247"/>
                    <a:pt x="13823" y="0"/>
                    <a:pt x="135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3876238" y="1468225"/>
              <a:ext cx="266450" cy="128975"/>
            </a:xfrm>
            <a:custGeom>
              <a:avLst/>
              <a:gdLst/>
              <a:ahLst/>
              <a:cxnLst/>
              <a:rect l="l" t="t" r="r" b="b"/>
              <a:pathLst>
                <a:path w="10658" h="5159" extrusionOk="0">
                  <a:moveTo>
                    <a:pt x="589" y="1"/>
                  </a:moveTo>
                  <a:cubicBezTo>
                    <a:pt x="266" y="1"/>
                    <a:pt x="1" y="266"/>
                    <a:pt x="1" y="569"/>
                  </a:cubicBezTo>
                  <a:lnTo>
                    <a:pt x="1" y="4589"/>
                  </a:lnTo>
                  <a:cubicBezTo>
                    <a:pt x="20" y="4893"/>
                    <a:pt x="266" y="5158"/>
                    <a:pt x="589" y="5158"/>
                  </a:cubicBezTo>
                  <a:lnTo>
                    <a:pt x="10088" y="5158"/>
                  </a:lnTo>
                  <a:cubicBezTo>
                    <a:pt x="10392" y="5158"/>
                    <a:pt x="10657" y="4893"/>
                    <a:pt x="10657" y="4589"/>
                  </a:cubicBezTo>
                  <a:lnTo>
                    <a:pt x="10657" y="569"/>
                  </a:lnTo>
                  <a:cubicBezTo>
                    <a:pt x="10657" y="266"/>
                    <a:pt x="10411" y="1"/>
                    <a:pt x="10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3981013" y="1504250"/>
              <a:ext cx="64475" cy="56925"/>
            </a:xfrm>
            <a:custGeom>
              <a:avLst/>
              <a:gdLst/>
              <a:ahLst/>
              <a:cxnLst/>
              <a:rect l="l" t="t" r="r" b="b"/>
              <a:pathLst>
                <a:path w="2579" h="2277" extrusionOk="0">
                  <a:moveTo>
                    <a:pt x="0" y="1"/>
                  </a:moveTo>
                  <a:lnTo>
                    <a:pt x="0" y="2276"/>
                  </a:lnTo>
                  <a:lnTo>
                    <a:pt x="2579" y="11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3937863" y="1639825"/>
              <a:ext cx="33700" cy="28825"/>
            </a:xfrm>
            <a:custGeom>
              <a:avLst/>
              <a:gdLst/>
              <a:ahLst/>
              <a:cxnLst/>
              <a:rect l="l" t="t" r="r" b="b"/>
              <a:pathLst>
                <a:path w="1348" h="1153" extrusionOk="0">
                  <a:moveTo>
                    <a:pt x="570" y="1"/>
                  </a:moveTo>
                  <a:cubicBezTo>
                    <a:pt x="266" y="1"/>
                    <a:pt x="1" y="266"/>
                    <a:pt x="1" y="570"/>
                  </a:cubicBezTo>
                  <a:cubicBezTo>
                    <a:pt x="1" y="918"/>
                    <a:pt x="282" y="1153"/>
                    <a:pt x="582" y="1153"/>
                  </a:cubicBezTo>
                  <a:cubicBezTo>
                    <a:pt x="722" y="1153"/>
                    <a:pt x="866" y="1101"/>
                    <a:pt x="987" y="987"/>
                  </a:cubicBezTo>
                  <a:cubicBezTo>
                    <a:pt x="1347" y="626"/>
                    <a:pt x="1082" y="1"/>
                    <a:pt x="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4032688" y="1385275"/>
              <a:ext cx="17075" cy="14375"/>
            </a:xfrm>
            <a:custGeom>
              <a:avLst/>
              <a:gdLst/>
              <a:ahLst/>
              <a:cxnLst/>
              <a:rect l="l" t="t" r="r" b="b"/>
              <a:pathLst>
                <a:path w="683" h="575" extrusionOk="0">
                  <a:moveTo>
                    <a:pt x="398" y="0"/>
                  </a:moveTo>
                  <a:cubicBezTo>
                    <a:pt x="133" y="0"/>
                    <a:pt x="0" y="304"/>
                    <a:pt x="190" y="493"/>
                  </a:cubicBezTo>
                  <a:cubicBezTo>
                    <a:pt x="245" y="549"/>
                    <a:pt x="314" y="574"/>
                    <a:pt x="384" y="574"/>
                  </a:cubicBezTo>
                  <a:cubicBezTo>
                    <a:pt x="527" y="574"/>
                    <a:pt x="670" y="464"/>
                    <a:pt x="683" y="285"/>
                  </a:cubicBezTo>
                  <a:cubicBezTo>
                    <a:pt x="683" y="133"/>
                    <a:pt x="550" y="0"/>
                    <a:pt x="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4061588" y="1385275"/>
              <a:ext cx="47425" cy="14250"/>
            </a:xfrm>
            <a:custGeom>
              <a:avLst/>
              <a:gdLst/>
              <a:ahLst/>
              <a:cxnLst/>
              <a:rect l="l" t="t" r="r" b="b"/>
              <a:pathLst>
                <a:path w="1897" h="570" extrusionOk="0">
                  <a:moveTo>
                    <a:pt x="380" y="0"/>
                  </a:moveTo>
                  <a:cubicBezTo>
                    <a:pt x="1" y="0"/>
                    <a:pt x="1" y="569"/>
                    <a:pt x="380" y="569"/>
                  </a:cubicBezTo>
                  <a:lnTo>
                    <a:pt x="1518" y="569"/>
                  </a:lnTo>
                  <a:cubicBezTo>
                    <a:pt x="1897" y="569"/>
                    <a:pt x="1897" y="0"/>
                    <a:pt x="15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4118963" y="1385275"/>
              <a:ext cx="47900" cy="14250"/>
            </a:xfrm>
            <a:custGeom>
              <a:avLst/>
              <a:gdLst/>
              <a:ahLst/>
              <a:cxnLst/>
              <a:rect l="l" t="t" r="r" b="b"/>
              <a:pathLst>
                <a:path w="1916" h="570" extrusionOk="0">
                  <a:moveTo>
                    <a:pt x="379" y="0"/>
                  </a:moveTo>
                  <a:cubicBezTo>
                    <a:pt x="0" y="0"/>
                    <a:pt x="0" y="569"/>
                    <a:pt x="379" y="569"/>
                  </a:cubicBezTo>
                  <a:lnTo>
                    <a:pt x="1517" y="569"/>
                  </a:lnTo>
                  <a:cubicBezTo>
                    <a:pt x="1915" y="569"/>
                    <a:pt x="1915" y="0"/>
                    <a:pt x="15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3826463" y="1356825"/>
              <a:ext cx="366475" cy="366450"/>
            </a:xfrm>
            <a:custGeom>
              <a:avLst/>
              <a:gdLst/>
              <a:ahLst/>
              <a:cxnLst/>
              <a:rect l="l" t="t" r="r" b="b"/>
              <a:pathLst>
                <a:path w="14659" h="14658" extrusionOk="0">
                  <a:moveTo>
                    <a:pt x="13786" y="570"/>
                  </a:moveTo>
                  <a:cubicBezTo>
                    <a:pt x="13956" y="570"/>
                    <a:pt x="14070" y="702"/>
                    <a:pt x="14070" y="854"/>
                  </a:cubicBezTo>
                  <a:lnTo>
                    <a:pt x="14070" y="2276"/>
                  </a:lnTo>
                  <a:lnTo>
                    <a:pt x="570" y="2276"/>
                  </a:lnTo>
                  <a:lnTo>
                    <a:pt x="570" y="854"/>
                  </a:lnTo>
                  <a:cubicBezTo>
                    <a:pt x="570" y="702"/>
                    <a:pt x="683" y="570"/>
                    <a:pt x="854" y="570"/>
                  </a:cubicBezTo>
                  <a:close/>
                  <a:moveTo>
                    <a:pt x="14070" y="2864"/>
                  </a:moveTo>
                  <a:lnTo>
                    <a:pt x="14070" y="13786"/>
                  </a:lnTo>
                  <a:cubicBezTo>
                    <a:pt x="14070" y="13956"/>
                    <a:pt x="13956" y="14070"/>
                    <a:pt x="13786" y="14070"/>
                  </a:cubicBezTo>
                  <a:lnTo>
                    <a:pt x="854" y="14070"/>
                  </a:lnTo>
                  <a:cubicBezTo>
                    <a:pt x="683" y="14070"/>
                    <a:pt x="570" y="13956"/>
                    <a:pt x="570" y="13786"/>
                  </a:cubicBezTo>
                  <a:lnTo>
                    <a:pt x="570" y="2864"/>
                  </a:lnTo>
                  <a:close/>
                  <a:moveTo>
                    <a:pt x="854" y="1"/>
                  </a:moveTo>
                  <a:cubicBezTo>
                    <a:pt x="380" y="1"/>
                    <a:pt x="1" y="380"/>
                    <a:pt x="1" y="854"/>
                  </a:cubicBezTo>
                  <a:lnTo>
                    <a:pt x="1" y="13786"/>
                  </a:lnTo>
                  <a:cubicBezTo>
                    <a:pt x="1" y="14260"/>
                    <a:pt x="380" y="14639"/>
                    <a:pt x="854" y="14658"/>
                  </a:cubicBezTo>
                  <a:lnTo>
                    <a:pt x="13786" y="14658"/>
                  </a:lnTo>
                  <a:cubicBezTo>
                    <a:pt x="14260" y="14639"/>
                    <a:pt x="14639" y="14260"/>
                    <a:pt x="14658" y="13786"/>
                  </a:cubicBezTo>
                  <a:lnTo>
                    <a:pt x="14658" y="854"/>
                  </a:lnTo>
                  <a:cubicBezTo>
                    <a:pt x="14639" y="380"/>
                    <a:pt x="14260" y="1"/>
                    <a:pt x="137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3869138" y="1461125"/>
              <a:ext cx="280650" cy="143175"/>
            </a:xfrm>
            <a:custGeom>
              <a:avLst/>
              <a:gdLst/>
              <a:ahLst/>
              <a:cxnLst/>
              <a:rect l="l" t="t" r="r" b="b"/>
              <a:pathLst>
                <a:path w="11226" h="5727" extrusionOk="0">
                  <a:moveTo>
                    <a:pt x="10372" y="569"/>
                  </a:moveTo>
                  <a:cubicBezTo>
                    <a:pt x="10524" y="569"/>
                    <a:pt x="10657" y="702"/>
                    <a:pt x="10657" y="853"/>
                  </a:cubicBezTo>
                  <a:lnTo>
                    <a:pt x="10657" y="4873"/>
                  </a:lnTo>
                  <a:cubicBezTo>
                    <a:pt x="10657" y="5025"/>
                    <a:pt x="10524" y="5158"/>
                    <a:pt x="10372" y="5158"/>
                  </a:cubicBezTo>
                  <a:lnTo>
                    <a:pt x="873" y="5158"/>
                  </a:lnTo>
                  <a:cubicBezTo>
                    <a:pt x="702" y="5158"/>
                    <a:pt x="588" y="5025"/>
                    <a:pt x="588" y="4873"/>
                  </a:cubicBezTo>
                  <a:lnTo>
                    <a:pt x="569" y="853"/>
                  </a:lnTo>
                  <a:cubicBezTo>
                    <a:pt x="569" y="702"/>
                    <a:pt x="702" y="569"/>
                    <a:pt x="854" y="569"/>
                  </a:cubicBezTo>
                  <a:close/>
                  <a:moveTo>
                    <a:pt x="873" y="0"/>
                  </a:moveTo>
                  <a:cubicBezTo>
                    <a:pt x="399" y="0"/>
                    <a:pt x="0" y="379"/>
                    <a:pt x="19" y="853"/>
                  </a:cubicBezTo>
                  <a:lnTo>
                    <a:pt x="19" y="4873"/>
                  </a:lnTo>
                  <a:cubicBezTo>
                    <a:pt x="19" y="5347"/>
                    <a:pt x="399" y="5727"/>
                    <a:pt x="873" y="5727"/>
                  </a:cubicBezTo>
                  <a:lnTo>
                    <a:pt x="10372" y="5727"/>
                  </a:lnTo>
                  <a:cubicBezTo>
                    <a:pt x="10846" y="5727"/>
                    <a:pt x="11226" y="5347"/>
                    <a:pt x="11226" y="4873"/>
                  </a:cubicBezTo>
                  <a:lnTo>
                    <a:pt x="11226" y="853"/>
                  </a:lnTo>
                  <a:cubicBezTo>
                    <a:pt x="11226" y="379"/>
                    <a:pt x="10846" y="0"/>
                    <a:pt x="103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3867713" y="1632825"/>
              <a:ext cx="285100" cy="43050"/>
            </a:xfrm>
            <a:custGeom>
              <a:avLst/>
              <a:gdLst/>
              <a:ahLst/>
              <a:cxnLst/>
              <a:rect l="l" t="t" r="r" b="b"/>
              <a:pathLst>
                <a:path w="11404" h="1722" extrusionOk="0">
                  <a:moveTo>
                    <a:pt x="3376" y="565"/>
                  </a:moveTo>
                  <a:cubicBezTo>
                    <a:pt x="3641" y="565"/>
                    <a:pt x="3755" y="868"/>
                    <a:pt x="3584" y="1058"/>
                  </a:cubicBezTo>
                  <a:cubicBezTo>
                    <a:pt x="3523" y="1113"/>
                    <a:pt x="3449" y="1139"/>
                    <a:pt x="3378" y="1139"/>
                  </a:cubicBezTo>
                  <a:cubicBezTo>
                    <a:pt x="3230" y="1139"/>
                    <a:pt x="3091" y="1029"/>
                    <a:pt x="3091" y="850"/>
                  </a:cubicBezTo>
                  <a:cubicBezTo>
                    <a:pt x="3091" y="698"/>
                    <a:pt x="3224" y="565"/>
                    <a:pt x="3376" y="565"/>
                  </a:cubicBezTo>
                  <a:close/>
                  <a:moveTo>
                    <a:pt x="3385" y="1"/>
                  </a:moveTo>
                  <a:cubicBezTo>
                    <a:pt x="3049" y="1"/>
                    <a:pt x="2712" y="195"/>
                    <a:pt x="2579" y="584"/>
                  </a:cubicBezTo>
                  <a:lnTo>
                    <a:pt x="342" y="584"/>
                  </a:lnTo>
                  <a:cubicBezTo>
                    <a:pt x="0" y="603"/>
                    <a:pt x="0" y="1115"/>
                    <a:pt x="342" y="1153"/>
                  </a:cubicBezTo>
                  <a:lnTo>
                    <a:pt x="2579" y="1153"/>
                  </a:lnTo>
                  <a:cubicBezTo>
                    <a:pt x="2712" y="1532"/>
                    <a:pt x="3049" y="1722"/>
                    <a:pt x="3385" y="1722"/>
                  </a:cubicBezTo>
                  <a:cubicBezTo>
                    <a:pt x="3722" y="1722"/>
                    <a:pt x="4058" y="1532"/>
                    <a:pt x="4191" y="1153"/>
                  </a:cubicBezTo>
                  <a:lnTo>
                    <a:pt x="10998" y="1153"/>
                  </a:lnTo>
                  <a:cubicBezTo>
                    <a:pt x="11010" y="1154"/>
                    <a:pt x="11021" y="1154"/>
                    <a:pt x="11032" y="1154"/>
                  </a:cubicBezTo>
                  <a:cubicBezTo>
                    <a:pt x="11399" y="1154"/>
                    <a:pt x="11404" y="581"/>
                    <a:pt x="11047" y="581"/>
                  </a:cubicBezTo>
                  <a:cubicBezTo>
                    <a:pt x="11032" y="581"/>
                    <a:pt x="11015" y="582"/>
                    <a:pt x="10998" y="584"/>
                  </a:cubicBezTo>
                  <a:lnTo>
                    <a:pt x="4191" y="584"/>
                  </a:lnTo>
                  <a:cubicBezTo>
                    <a:pt x="4058" y="195"/>
                    <a:pt x="3722" y="1"/>
                    <a:pt x="33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3973888" y="1496900"/>
              <a:ext cx="78725" cy="71550"/>
            </a:xfrm>
            <a:custGeom>
              <a:avLst/>
              <a:gdLst/>
              <a:ahLst/>
              <a:cxnLst/>
              <a:rect l="l" t="t" r="r" b="b"/>
              <a:pathLst>
                <a:path w="3149" h="2862" extrusionOk="0">
                  <a:moveTo>
                    <a:pt x="570" y="731"/>
                  </a:moveTo>
                  <a:lnTo>
                    <a:pt x="2143" y="1432"/>
                  </a:lnTo>
                  <a:lnTo>
                    <a:pt x="570" y="2153"/>
                  </a:lnTo>
                  <a:lnTo>
                    <a:pt x="570" y="731"/>
                  </a:lnTo>
                  <a:close/>
                  <a:moveTo>
                    <a:pt x="280" y="0"/>
                  </a:moveTo>
                  <a:cubicBezTo>
                    <a:pt x="131" y="0"/>
                    <a:pt x="1" y="130"/>
                    <a:pt x="1" y="295"/>
                  </a:cubicBezTo>
                  <a:lnTo>
                    <a:pt x="1" y="2570"/>
                  </a:lnTo>
                  <a:cubicBezTo>
                    <a:pt x="1" y="2665"/>
                    <a:pt x="39" y="2760"/>
                    <a:pt x="115" y="2817"/>
                  </a:cubicBezTo>
                  <a:cubicBezTo>
                    <a:pt x="167" y="2848"/>
                    <a:pt x="219" y="2862"/>
                    <a:pt x="271" y="2862"/>
                  </a:cubicBezTo>
                  <a:cubicBezTo>
                    <a:pt x="314" y="2862"/>
                    <a:pt x="356" y="2853"/>
                    <a:pt x="399" y="2836"/>
                  </a:cubicBezTo>
                  <a:lnTo>
                    <a:pt x="2978" y="1698"/>
                  </a:lnTo>
                  <a:cubicBezTo>
                    <a:pt x="3073" y="1641"/>
                    <a:pt x="3148" y="1546"/>
                    <a:pt x="3148" y="1432"/>
                  </a:cubicBezTo>
                  <a:cubicBezTo>
                    <a:pt x="3148" y="1319"/>
                    <a:pt x="3073" y="1224"/>
                    <a:pt x="2978" y="1167"/>
                  </a:cubicBezTo>
                  <a:lnTo>
                    <a:pt x="399" y="29"/>
                  </a:lnTo>
                  <a:cubicBezTo>
                    <a:pt x="359" y="9"/>
                    <a:pt x="319" y="0"/>
                    <a:pt x="2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" name="Google Shape;618;p33"/>
          <p:cNvGrpSpPr/>
          <p:nvPr/>
        </p:nvGrpSpPr>
        <p:grpSpPr>
          <a:xfrm>
            <a:off x="2188928" y="3527177"/>
            <a:ext cx="231293" cy="365730"/>
            <a:chOff x="1461488" y="3250125"/>
            <a:chExt cx="394900" cy="624325"/>
          </a:xfrm>
        </p:grpSpPr>
        <p:sp>
          <p:nvSpPr>
            <p:cNvPr id="619" name="Google Shape;619;p33"/>
            <p:cNvSpPr/>
            <p:nvPr/>
          </p:nvSpPr>
          <p:spPr>
            <a:xfrm>
              <a:off x="1474763" y="3313650"/>
              <a:ext cx="370725" cy="548950"/>
            </a:xfrm>
            <a:custGeom>
              <a:avLst/>
              <a:gdLst/>
              <a:ahLst/>
              <a:cxnLst/>
              <a:rect l="l" t="t" r="r" b="b"/>
              <a:pathLst>
                <a:path w="14829" h="21958" extrusionOk="0">
                  <a:moveTo>
                    <a:pt x="4589" y="1"/>
                  </a:moveTo>
                  <a:cubicBezTo>
                    <a:pt x="3774" y="1"/>
                    <a:pt x="3129" y="645"/>
                    <a:pt x="3129" y="1461"/>
                  </a:cubicBezTo>
                  <a:lnTo>
                    <a:pt x="3129" y="8704"/>
                  </a:lnTo>
                  <a:lnTo>
                    <a:pt x="1593" y="9747"/>
                  </a:lnTo>
                  <a:cubicBezTo>
                    <a:pt x="513" y="10448"/>
                    <a:pt x="1" y="11757"/>
                    <a:pt x="285" y="13008"/>
                  </a:cubicBezTo>
                  <a:cubicBezTo>
                    <a:pt x="892" y="15568"/>
                    <a:pt x="2219" y="17900"/>
                    <a:pt x="4096" y="19720"/>
                  </a:cubicBezTo>
                  <a:lnTo>
                    <a:pt x="4096" y="21958"/>
                  </a:lnTo>
                  <a:lnTo>
                    <a:pt x="12838" y="21958"/>
                  </a:lnTo>
                  <a:lnTo>
                    <a:pt x="12838" y="19720"/>
                  </a:lnTo>
                  <a:cubicBezTo>
                    <a:pt x="14108" y="17824"/>
                    <a:pt x="14791" y="15587"/>
                    <a:pt x="14791" y="13312"/>
                  </a:cubicBezTo>
                  <a:lnTo>
                    <a:pt x="14791" y="9519"/>
                  </a:lnTo>
                  <a:cubicBezTo>
                    <a:pt x="14829" y="8685"/>
                    <a:pt x="14165" y="8002"/>
                    <a:pt x="13331" y="8002"/>
                  </a:cubicBezTo>
                  <a:cubicBezTo>
                    <a:pt x="12542" y="8002"/>
                    <a:pt x="11906" y="8612"/>
                    <a:pt x="11871" y="9384"/>
                  </a:cubicBezTo>
                  <a:lnTo>
                    <a:pt x="11871" y="9384"/>
                  </a:lnTo>
                  <a:lnTo>
                    <a:pt x="11871" y="8552"/>
                  </a:lnTo>
                  <a:cubicBezTo>
                    <a:pt x="11871" y="7737"/>
                    <a:pt x="11226" y="7092"/>
                    <a:pt x="10411" y="7092"/>
                  </a:cubicBezTo>
                  <a:cubicBezTo>
                    <a:pt x="9614" y="7092"/>
                    <a:pt x="8951" y="7737"/>
                    <a:pt x="8951" y="8552"/>
                  </a:cubicBezTo>
                  <a:lnTo>
                    <a:pt x="8951" y="7566"/>
                  </a:lnTo>
                  <a:cubicBezTo>
                    <a:pt x="8951" y="6770"/>
                    <a:pt x="8306" y="6106"/>
                    <a:pt x="7509" y="6106"/>
                  </a:cubicBezTo>
                  <a:cubicBezTo>
                    <a:pt x="6694" y="6106"/>
                    <a:pt x="6049" y="6770"/>
                    <a:pt x="6049" y="7566"/>
                  </a:cubicBezTo>
                  <a:lnTo>
                    <a:pt x="6049" y="1461"/>
                  </a:lnTo>
                  <a:cubicBezTo>
                    <a:pt x="6049" y="645"/>
                    <a:pt x="5386" y="1"/>
                    <a:pt x="45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1783838" y="3624350"/>
              <a:ext cx="28475" cy="24475"/>
            </a:xfrm>
            <a:custGeom>
              <a:avLst/>
              <a:gdLst/>
              <a:ahLst/>
              <a:cxnLst/>
              <a:rect l="l" t="t" r="r" b="b"/>
              <a:pathLst>
                <a:path w="1139" h="979" extrusionOk="0">
                  <a:moveTo>
                    <a:pt x="492" y="1"/>
                  </a:moveTo>
                  <a:cubicBezTo>
                    <a:pt x="242" y="1"/>
                    <a:pt x="1" y="191"/>
                    <a:pt x="1" y="485"/>
                  </a:cubicBezTo>
                  <a:cubicBezTo>
                    <a:pt x="1" y="751"/>
                    <a:pt x="209" y="978"/>
                    <a:pt x="475" y="978"/>
                  </a:cubicBezTo>
                  <a:cubicBezTo>
                    <a:pt x="911" y="978"/>
                    <a:pt x="1138" y="466"/>
                    <a:pt x="835" y="144"/>
                  </a:cubicBezTo>
                  <a:cubicBezTo>
                    <a:pt x="736" y="45"/>
                    <a:pt x="613" y="1"/>
                    <a:pt x="4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1461488" y="3301325"/>
              <a:ext cx="394900" cy="573125"/>
            </a:xfrm>
            <a:custGeom>
              <a:avLst/>
              <a:gdLst/>
              <a:ahLst/>
              <a:cxnLst/>
              <a:rect l="l" t="t" r="r" b="b"/>
              <a:pathLst>
                <a:path w="15796" h="22925" extrusionOk="0">
                  <a:moveTo>
                    <a:pt x="5120" y="972"/>
                  </a:moveTo>
                  <a:cubicBezTo>
                    <a:pt x="5604" y="972"/>
                    <a:pt x="6087" y="1299"/>
                    <a:pt x="6087" y="1954"/>
                  </a:cubicBezTo>
                  <a:lnTo>
                    <a:pt x="6087" y="11472"/>
                  </a:lnTo>
                  <a:cubicBezTo>
                    <a:pt x="6087" y="11795"/>
                    <a:pt x="6334" y="11956"/>
                    <a:pt x="6580" y="11956"/>
                  </a:cubicBezTo>
                  <a:cubicBezTo>
                    <a:pt x="6827" y="11956"/>
                    <a:pt x="7073" y="11795"/>
                    <a:pt x="7073" y="11472"/>
                  </a:cubicBezTo>
                  <a:lnTo>
                    <a:pt x="7073" y="8059"/>
                  </a:lnTo>
                  <a:cubicBezTo>
                    <a:pt x="7073" y="7415"/>
                    <a:pt x="7557" y="7092"/>
                    <a:pt x="8040" y="7092"/>
                  </a:cubicBezTo>
                  <a:cubicBezTo>
                    <a:pt x="8524" y="7092"/>
                    <a:pt x="9008" y="7415"/>
                    <a:pt x="9008" y="8059"/>
                  </a:cubicBezTo>
                  <a:lnTo>
                    <a:pt x="9008" y="11472"/>
                  </a:lnTo>
                  <a:cubicBezTo>
                    <a:pt x="9008" y="11795"/>
                    <a:pt x="9249" y="11956"/>
                    <a:pt x="9491" y="11956"/>
                  </a:cubicBezTo>
                  <a:cubicBezTo>
                    <a:pt x="9733" y="11956"/>
                    <a:pt x="9975" y="11795"/>
                    <a:pt x="9975" y="11472"/>
                  </a:cubicBezTo>
                  <a:lnTo>
                    <a:pt x="9975" y="9045"/>
                  </a:lnTo>
                  <a:cubicBezTo>
                    <a:pt x="9975" y="8391"/>
                    <a:pt x="10463" y="8064"/>
                    <a:pt x="10951" y="8064"/>
                  </a:cubicBezTo>
                  <a:cubicBezTo>
                    <a:pt x="11439" y="8064"/>
                    <a:pt x="11928" y="8391"/>
                    <a:pt x="11928" y="9045"/>
                  </a:cubicBezTo>
                  <a:lnTo>
                    <a:pt x="11928" y="11472"/>
                  </a:lnTo>
                  <a:cubicBezTo>
                    <a:pt x="11928" y="11795"/>
                    <a:pt x="12169" y="11956"/>
                    <a:pt x="12411" y="11956"/>
                  </a:cubicBezTo>
                  <a:cubicBezTo>
                    <a:pt x="12653" y="11956"/>
                    <a:pt x="12895" y="11795"/>
                    <a:pt x="12895" y="11472"/>
                  </a:cubicBezTo>
                  <a:lnTo>
                    <a:pt x="12895" y="10012"/>
                  </a:lnTo>
                  <a:cubicBezTo>
                    <a:pt x="12857" y="9330"/>
                    <a:pt x="13359" y="8988"/>
                    <a:pt x="13862" y="8988"/>
                  </a:cubicBezTo>
                  <a:cubicBezTo>
                    <a:pt x="14364" y="8988"/>
                    <a:pt x="14867" y="9330"/>
                    <a:pt x="14829" y="10012"/>
                  </a:cubicBezTo>
                  <a:lnTo>
                    <a:pt x="14829" y="13805"/>
                  </a:lnTo>
                  <a:cubicBezTo>
                    <a:pt x="14829" y="15985"/>
                    <a:pt x="14184" y="18128"/>
                    <a:pt x="12970" y="19948"/>
                  </a:cubicBezTo>
                  <a:cubicBezTo>
                    <a:pt x="12914" y="20024"/>
                    <a:pt x="12895" y="20119"/>
                    <a:pt x="12895" y="20213"/>
                  </a:cubicBezTo>
                  <a:lnTo>
                    <a:pt x="12895" y="21977"/>
                  </a:lnTo>
                  <a:lnTo>
                    <a:pt x="5120" y="21977"/>
                  </a:lnTo>
                  <a:lnTo>
                    <a:pt x="5120" y="20213"/>
                  </a:lnTo>
                  <a:cubicBezTo>
                    <a:pt x="5120" y="20081"/>
                    <a:pt x="5064" y="19967"/>
                    <a:pt x="4969" y="19872"/>
                  </a:cubicBezTo>
                  <a:cubicBezTo>
                    <a:pt x="4040" y="18962"/>
                    <a:pt x="3243" y="17938"/>
                    <a:pt x="2617" y="16800"/>
                  </a:cubicBezTo>
                  <a:cubicBezTo>
                    <a:pt x="2011" y="15720"/>
                    <a:pt x="1575" y="14582"/>
                    <a:pt x="1290" y="13387"/>
                  </a:cubicBezTo>
                  <a:cubicBezTo>
                    <a:pt x="1044" y="12326"/>
                    <a:pt x="1480" y="11226"/>
                    <a:pt x="2390" y="10638"/>
                  </a:cubicBezTo>
                  <a:lnTo>
                    <a:pt x="3186" y="10107"/>
                  </a:lnTo>
                  <a:lnTo>
                    <a:pt x="3186" y="13406"/>
                  </a:lnTo>
                  <a:cubicBezTo>
                    <a:pt x="3186" y="13729"/>
                    <a:pt x="3428" y="13890"/>
                    <a:pt x="3670" y="13890"/>
                  </a:cubicBezTo>
                  <a:cubicBezTo>
                    <a:pt x="3912" y="13890"/>
                    <a:pt x="4153" y="13729"/>
                    <a:pt x="4153" y="13406"/>
                  </a:cubicBezTo>
                  <a:lnTo>
                    <a:pt x="4153" y="1954"/>
                  </a:lnTo>
                  <a:cubicBezTo>
                    <a:pt x="4153" y="1299"/>
                    <a:pt x="4637" y="972"/>
                    <a:pt x="5120" y="972"/>
                  </a:cubicBezTo>
                  <a:close/>
                  <a:moveTo>
                    <a:pt x="5101" y="1"/>
                  </a:moveTo>
                  <a:cubicBezTo>
                    <a:pt x="4040" y="1"/>
                    <a:pt x="3167" y="873"/>
                    <a:pt x="3167" y="1954"/>
                  </a:cubicBezTo>
                  <a:lnTo>
                    <a:pt x="3167" y="8931"/>
                  </a:lnTo>
                  <a:lnTo>
                    <a:pt x="1840" y="9823"/>
                  </a:lnTo>
                  <a:cubicBezTo>
                    <a:pt x="589" y="10657"/>
                    <a:pt x="1" y="12155"/>
                    <a:pt x="342" y="13615"/>
                  </a:cubicBezTo>
                  <a:lnTo>
                    <a:pt x="361" y="13615"/>
                  </a:lnTo>
                  <a:cubicBezTo>
                    <a:pt x="949" y="16175"/>
                    <a:pt x="2257" y="18526"/>
                    <a:pt x="4134" y="20403"/>
                  </a:cubicBezTo>
                  <a:lnTo>
                    <a:pt x="4153" y="20403"/>
                  </a:lnTo>
                  <a:lnTo>
                    <a:pt x="4153" y="22451"/>
                  </a:lnTo>
                  <a:cubicBezTo>
                    <a:pt x="4153" y="22716"/>
                    <a:pt x="4362" y="22925"/>
                    <a:pt x="4627" y="22925"/>
                  </a:cubicBezTo>
                  <a:lnTo>
                    <a:pt x="13369" y="22925"/>
                  </a:lnTo>
                  <a:cubicBezTo>
                    <a:pt x="13634" y="22925"/>
                    <a:pt x="13862" y="22716"/>
                    <a:pt x="13843" y="22451"/>
                  </a:cubicBezTo>
                  <a:lnTo>
                    <a:pt x="13843" y="20346"/>
                  </a:lnTo>
                  <a:cubicBezTo>
                    <a:pt x="15113" y="18393"/>
                    <a:pt x="15796" y="16118"/>
                    <a:pt x="15796" y="13786"/>
                  </a:cubicBezTo>
                  <a:lnTo>
                    <a:pt x="15796" y="9993"/>
                  </a:lnTo>
                  <a:cubicBezTo>
                    <a:pt x="15796" y="8851"/>
                    <a:pt x="14853" y="8046"/>
                    <a:pt x="13842" y="8046"/>
                  </a:cubicBezTo>
                  <a:cubicBezTo>
                    <a:pt x="13477" y="8046"/>
                    <a:pt x="13104" y="8150"/>
                    <a:pt x="12762" y="8382"/>
                  </a:cubicBezTo>
                  <a:cubicBezTo>
                    <a:pt x="12496" y="7604"/>
                    <a:pt x="11757" y="7092"/>
                    <a:pt x="10942" y="7092"/>
                  </a:cubicBezTo>
                  <a:cubicBezTo>
                    <a:pt x="10913" y="7091"/>
                    <a:pt x="10885" y="7090"/>
                    <a:pt x="10856" y="7090"/>
                  </a:cubicBezTo>
                  <a:cubicBezTo>
                    <a:pt x="10489" y="7090"/>
                    <a:pt x="10142" y="7203"/>
                    <a:pt x="9861" y="7415"/>
                  </a:cubicBezTo>
                  <a:cubicBezTo>
                    <a:pt x="9566" y="6597"/>
                    <a:pt x="8806" y="6111"/>
                    <a:pt x="8018" y="6111"/>
                  </a:cubicBezTo>
                  <a:cubicBezTo>
                    <a:pt x="7691" y="6111"/>
                    <a:pt x="7360" y="6194"/>
                    <a:pt x="7054" y="6372"/>
                  </a:cubicBezTo>
                  <a:lnTo>
                    <a:pt x="7054" y="1954"/>
                  </a:lnTo>
                  <a:cubicBezTo>
                    <a:pt x="7054" y="873"/>
                    <a:pt x="6182" y="1"/>
                    <a:pt x="5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1741663" y="3674550"/>
              <a:ext cx="63050" cy="117175"/>
            </a:xfrm>
            <a:custGeom>
              <a:avLst/>
              <a:gdLst/>
              <a:ahLst/>
              <a:cxnLst/>
              <a:rect l="l" t="t" r="r" b="b"/>
              <a:pathLst>
                <a:path w="2522" h="4687" extrusionOk="0">
                  <a:moveTo>
                    <a:pt x="2023" y="1"/>
                  </a:moveTo>
                  <a:cubicBezTo>
                    <a:pt x="1835" y="1"/>
                    <a:pt x="1648" y="106"/>
                    <a:pt x="1574" y="336"/>
                  </a:cubicBezTo>
                  <a:cubicBezTo>
                    <a:pt x="1365" y="1625"/>
                    <a:pt x="872" y="2857"/>
                    <a:pt x="152" y="3938"/>
                  </a:cubicBezTo>
                  <a:cubicBezTo>
                    <a:pt x="0" y="4147"/>
                    <a:pt x="57" y="4469"/>
                    <a:pt x="284" y="4602"/>
                  </a:cubicBezTo>
                  <a:cubicBezTo>
                    <a:pt x="370" y="4659"/>
                    <a:pt x="464" y="4687"/>
                    <a:pt x="556" y="4687"/>
                  </a:cubicBezTo>
                  <a:cubicBezTo>
                    <a:pt x="707" y="4687"/>
                    <a:pt x="854" y="4611"/>
                    <a:pt x="948" y="4469"/>
                  </a:cubicBezTo>
                  <a:cubicBezTo>
                    <a:pt x="1763" y="3275"/>
                    <a:pt x="2294" y="1909"/>
                    <a:pt x="2522" y="506"/>
                  </a:cubicBezTo>
                  <a:cubicBezTo>
                    <a:pt x="2522" y="183"/>
                    <a:pt x="2271" y="1"/>
                    <a:pt x="20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1490888" y="3250125"/>
              <a:ext cx="196750" cy="112150"/>
            </a:xfrm>
            <a:custGeom>
              <a:avLst/>
              <a:gdLst/>
              <a:ahLst/>
              <a:cxnLst/>
              <a:rect l="l" t="t" r="r" b="b"/>
              <a:pathLst>
                <a:path w="7870" h="4486" extrusionOk="0">
                  <a:moveTo>
                    <a:pt x="3925" y="1"/>
                  </a:moveTo>
                  <a:cubicBezTo>
                    <a:pt x="1745" y="1"/>
                    <a:pt x="0" y="1802"/>
                    <a:pt x="38" y="4002"/>
                  </a:cubicBezTo>
                  <a:cubicBezTo>
                    <a:pt x="38" y="4267"/>
                    <a:pt x="247" y="4476"/>
                    <a:pt x="512" y="4476"/>
                  </a:cubicBezTo>
                  <a:lnTo>
                    <a:pt x="550" y="4476"/>
                  </a:lnTo>
                  <a:cubicBezTo>
                    <a:pt x="816" y="4476"/>
                    <a:pt x="1024" y="4267"/>
                    <a:pt x="1024" y="4002"/>
                  </a:cubicBezTo>
                  <a:cubicBezTo>
                    <a:pt x="1024" y="2390"/>
                    <a:pt x="2314" y="1082"/>
                    <a:pt x="3925" y="1082"/>
                  </a:cubicBezTo>
                  <a:cubicBezTo>
                    <a:pt x="5537" y="1082"/>
                    <a:pt x="6846" y="2390"/>
                    <a:pt x="6846" y="4002"/>
                  </a:cubicBezTo>
                  <a:cubicBezTo>
                    <a:pt x="6846" y="4324"/>
                    <a:pt x="7087" y="4485"/>
                    <a:pt x="7329" y="4485"/>
                  </a:cubicBezTo>
                  <a:cubicBezTo>
                    <a:pt x="7571" y="4485"/>
                    <a:pt x="7813" y="4324"/>
                    <a:pt x="7813" y="4002"/>
                  </a:cubicBezTo>
                  <a:cubicBezTo>
                    <a:pt x="7869" y="1802"/>
                    <a:pt x="6125" y="1"/>
                    <a:pt x="39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33"/>
          <p:cNvSpPr txBox="1"/>
          <p:nvPr/>
        </p:nvSpPr>
        <p:spPr>
          <a:xfrm>
            <a:off x="2479763" y="3459992"/>
            <a:ext cx="13929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Venus has a nice name</a:t>
            </a:r>
            <a:endParaRPr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5" name="Google Shape;625;p33"/>
          <p:cNvSpPr txBox="1"/>
          <p:nvPr/>
        </p:nvSpPr>
        <p:spPr>
          <a:xfrm>
            <a:off x="4709225" y="3459992"/>
            <a:ext cx="13929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Mars is a cold place</a:t>
            </a:r>
            <a:endParaRPr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6" name="Google Shape;626;p33"/>
          <p:cNvSpPr txBox="1"/>
          <p:nvPr/>
        </p:nvSpPr>
        <p:spPr>
          <a:xfrm>
            <a:off x="6972975" y="3459992"/>
            <a:ext cx="13929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Jupiter is a gas giant</a:t>
            </a:r>
            <a:endParaRPr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7" name="Google Shape;627;p33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628" name="Google Shape;628;p33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629" name="Google Shape;629;p33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8A3D52-6E6E-AA73-7776-B2E802AC0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85" y="663344"/>
            <a:ext cx="8004782" cy="38168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of </a:t>
            </a:r>
            <a:r>
              <a:rPr lang="en">
                <a:solidFill>
                  <a:schemeClr val="accent2"/>
                </a:solidFill>
              </a:rPr>
              <a:t>‘the Topic’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6" name="Google Shape;636;p34"/>
          <p:cNvSpPr txBox="1"/>
          <p:nvPr/>
        </p:nvSpPr>
        <p:spPr>
          <a:xfrm>
            <a:off x="1630375" y="1261475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Step 01</a:t>
            </a:r>
            <a:endParaRPr sz="200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7" name="Google Shape;637;p34"/>
          <p:cNvSpPr txBox="1"/>
          <p:nvPr/>
        </p:nvSpPr>
        <p:spPr>
          <a:xfrm>
            <a:off x="2888875" y="1261450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Mercury is the closest planet to the Sun and the smallest one</a:t>
            </a:r>
            <a:endParaRPr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8" name="Google Shape;638;p34"/>
          <p:cNvSpPr txBox="1"/>
          <p:nvPr/>
        </p:nvSpPr>
        <p:spPr>
          <a:xfrm>
            <a:off x="2068425" y="1984000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Fira Code"/>
                <a:ea typeface="Fira Code"/>
                <a:cs typeface="Fira Code"/>
                <a:sym typeface="Fira Code"/>
              </a:rPr>
              <a:t>Step 02</a:t>
            </a:r>
            <a:endParaRPr sz="200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9" name="Google Shape;639;p34"/>
          <p:cNvSpPr txBox="1"/>
          <p:nvPr/>
        </p:nvSpPr>
        <p:spPr>
          <a:xfrm>
            <a:off x="3326925" y="1984008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Saturn is a gas giant and has several rings</a:t>
            </a:r>
            <a:endParaRPr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2505725" y="2706550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Step 03</a:t>
            </a:r>
            <a:endParaRPr sz="200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1" name="Google Shape;641;p34"/>
          <p:cNvSpPr txBox="1"/>
          <p:nvPr/>
        </p:nvSpPr>
        <p:spPr>
          <a:xfrm>
            <a:off x="3764225" y="2706567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The Earth is the only planet that harbors life</a:t>
            </a:r>
            <a:endParaRPr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2924775" y="3429125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Step 04</a:t>
            </a:r>
            <a:endParaRPr sz="200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4183275" y="3429125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Venus has a beautiful name and is the second planet from the Sun</a:t>
            </a:r>
            <a:endParaRPr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4" name="Google Shape;644;p34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4"/>
          <p:cNvCxnSpPr>
            <a:stCxn id="649" idx="2"/>
            <a:endCxn id="636" idx="1"/>
          </p:cNvCxnSpPr>
          <p:nvPr/>
        </p:nvCxnSpPr>
        <p:spPr>
          <a:xfrm>
            <a:off x="1337875" y="1553675"/>
            <a:ext cx="292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4"/>
          <p:cNvCxnSpPr/>
          <p:nvPr/>
        </p:nvCxnSpPr>
        <p:spPr>
          <a:xfrm>
            <a:off x="1337875" y="2276200"/>
            <a:ext cx="698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1" name="Google Shape;651;p34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4"/>
          <p:cNvCxnSpPr/>
          <p:nvPr/>
        </p:nvCxnSpPr>
        <p:spPr>
          <a:xfrm>
            <a:off x="1337875" y="2998763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4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1337875" y="3721325"/>
            <a:ext cx="1587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4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34FA95-A4FC-1D64-68F4-0E9631121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25" y="658295"/>
            <a:ext cx="7617474" cy="37718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DA09C30A-1019-799F-2EF8-842D9C627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BF341D51-E037-DFAB-CD4D-CD336FB1C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</a:t>
            </a:r>
            <a:r>
              <a:rPr lang="ro-RO" sz="5000" dirty="0"/>
              <a:t>4</a:t>
            </a:r>
            <a:r>
              <a:rPr lang="en" sz="5000" dirty="0"/>
              <a:t>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>
            <a:extLst>
              <a:ext uri="{FF2B5EF4-FFF2-40B4-BE49-F238E27FC236}">
                <a16:creationId xmlns:a16="http://schemas.microsoft.com/office/drawing/2014/main" id="{188BD222-E617-0483-A520-4EC9B9C72BA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01326" y="2103575"/>
            <a:ext cx="5747797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ro-RO" dirty="0">
                <a:solidFill>
                  <a:schemeClr val="accent1"/>
                </a:solidFill>
              </a:rPr>
              <a:t>Experimente 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5D84220A-FC68-0FB0-60DD-A27A2257D563}"/>
              </a:ext>
            </a:extLst>
          </p:cNvPr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428FBFE7-2764-3ECD-F0A8-65B1C82CC9DF}"/>
              </a:ext>
            </a:extLst>
          </p:cNvPr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2BDF4F5B-FF45-C252-91FD-E91EA51748D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D3E97C1B-004A-6930-F4E3-277278FF624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serverFIFO@serverFIFO-VirtualBox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84AD69EF-D051-4F81-B45D-9258D18BC2B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760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4">
          <a:extLst>
            <a:ext uri="{FF2B5EF4-FFF2-40B4-BE49-F238E27FC236}">
              <a16:creationId xmlns:a16="http://schemas.microsoft.com/office/drawing/2014/main" id="{CA2F07E0-E81D-09E4-7EE2-61241945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p51">
            <a:extLst>
              <a:ext uri="{FF2B5EF4-FFF2-40B4-BE49-F238E27FC236}">
                <a16:creationId xmlns:a16="http://schemas.microsoft.com/office/drawing/2014/main" id="{FE65A0C7-1EC0-EC47-DB7D-927F37C6EE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49" y="582700"/>
            <a:ext cx="7776019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3"/>
                </a:solidFill>
              </a:rPr>
              <a:t>$</a:t>
            </a:r>
            <a:r>
              <a:rPr lang="en-US" sz="2000" dirty="0"/>
              <a:t> </a:t>
            </a:r>
            <a:r>
              <a:rPr lang="ro-RO" sz="2000" dirty="0"/>
              <a:t>Experimente </a:t>
            </a:r>
            <a:r>
              <a:rPr lang="en" sz="2000" dirty="0">
                <a:solidFill>
                  <a:schemeClr val="accent6"/>
                </a:solidFill>
              </a:rPr>
              <a:t>{</a:t>
            </a:r>
            <a:endParaRPr sz="2000" dirty="0">
              <a:solidFill>
                <a:schemeClr val="accent6"/>
              </a:solidFill>
            </a:endParaRPr>
          </a:p>
        </p:txBody>
      </p:sp>
      <p:sp>
        <p:nvSpPr>
          <p:cNvPr id="3117" name="Google Shape;3117;p51">
            <a:extLst>
              <a:ext uri="{FF2B5EF4-FFF2-40B4-BE49-F238E27FC236}">
                <a16:creationId xmlns:a16="http://schemas.microsoft.com/office/drawing/2014/main" id="{21944DC6-A996-F185-57E0-988791157FC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509254" y="1199831"/>
            <a:ext cx="7675767" cy="26158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</a:t>
            </a:r>
            <a:r>
              <a:rPr lang="en-US" dirty="0"/>
              <a:t>a s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</a:t>
            </a:r>
            <a:r>
              <a:rPr lang="ro-RO" dirty="0"/>
              <a:t>ț</a:t>
            </a:r>
            <a:r>
              <a:rPr lang="en-US" dirty="0" err="1"/>
              <a:t>elegem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bine se</a:t>
            </a:r>
            <a:r>
              <a:rPr lang="ro-RO" dirty="0"/>
              <a:t>r</a:t>
            </a:r>
            <a:r>
              <a:rPr lang="en-US" dirty="0" err="1"/>
              <a:t>verul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fi</a:t>
            </a:r>
            <a:r>
              <a:rPr lang="ro-RO" dirty="0"/>
              <a:t>ș</a:t>
            </a:r>
            <a:r>
              <a:rPr lang="en-US" dirty="0" err="1"/>
              <a:t>ierele</a:t>
            </a:r>
            <a:r>
              <a:rPr lang="en-US" dirty="0"/>
              <a:t> FIFO, </a:t>
            </a:r>
            <a:r>
              <a:rPr lang="en-US" dirty="0" err="1"/>
              <a:t>putem</a:t>
            </a:r>
            <a:r>
              <a:rPr lang="en-US" dirty="0"/>
              <a:t> face o </a:t>
            </a:r>
            <a:r>
              <a:rPr lang="en-US" dirty="0" err="1"/>
              <a:t>asociere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care sunt explicate </a:t>
            </a:r>
            <a:r>
              <a:rPr lang="en-US" dirty="0" err="1"/>
              <a:t>procesele</a:t>
            </a:r>
            <a:r>
              <a:rPr lang="en-US" dirty="0"/>
              <a:t>, cum </a:t>
            </a:r>
            <a:r>
              <a:rPr lang="en-US" dirty="0" err="1"/>
              <a:t>ar</a:t>
            </a:r>
            <a:r>
              <a:rPr lang="en-US" dirty="0"/>
              <a:t> fi </a:t>
            </a:r>
            <a:r>
              <a:rPr lang="ro-RO" dirty="0"/>
              <a:t>î</a:t>
            </a:r>
            <a:r>
              <a:rPr lang="en-US" dirty="0" err="1"/>
              <a:t>ntre</a:t>
            </a:r>
            <a:r>
              <a:rPr lang="en-US" dirty="0"/>
              <a:t> un po</a:t>
            </a:r>
            <a:r>
              <a:rPr lang="ro-RO" dirty="0"/>
              <a:t>ș</a:t>
            </a:r>
            <a:r>
              <a:rPr lang="en-US" dirty="0"/>
              <a:t>ta</a:t>
            </a:r>
            <a:r>
              <a:rPr lang="ro-RO" dirty="0"/>
              <a:t>ș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cutiile</a:t>
            </a:r>
            <a:r>
              <a:rPr lang="en-US" dirty="0"/>
              <a:t> po</a:t>
            </a:r>
            <a:r>
              <a:rPr lang="ro-RO" dirty="0"/>
              <a:t>ș</a:t>
            </a:r>
            <a:r>
              <a:rPr lang="en-US" dirty="0"/>
              <a:t>tale</a:t>
            </a:r>
            <a:r>
              <a:rPr lang="ro-RO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Astfel</a:t>
            </a:r>
            <a:r>
              <a:rPr lang="en-US" dirty="0"/>
              <a:t>:</a:t>
            </a:r>
          </a:p>
          <a:p>
            <a:pPr marL="457200" lvl="1" indent="0" algn="l"/>
            <a:r>
              <a:rPr lang="en-US" sz="1400" dirty="0" err="1">
                <a:solidFill>
                  <a:schemeClr val="tx2"/>
                </a:solidFill>
              </a:rPr>
              <a:t>Serverul</a:t>
            </a:r>
            <a:r>
              <a:rPr lang="en-US" sz="1400" b="0" dirty="0"/>
              <a:t> – Po</a:t>
            </a:r>
            <a:r>
              <a:rPr lang="ro-RO" sz="1400" b="0" dirty="0"/>
              <a:t>ștașul</a:t>
            </a:r>
          </a:p>
          <a:p>
            <a:pPr marL="457200" lvl="1" indent="0" algn="l"/>
            <a:r>
              <a:rPr lang="ro-RO" sz="1400" dirty="0">
                <a:solidFill>
                  <a:schemeClr val="bg2"/>
                </a:solidFill>
              </a:rPr>
              <a:t>Clienții</a:t>
            </a:r>
            <a:r>
              <a:rPr lang="ro-RO" sz="1400" b="0" dirty="0"/>
              <a:t> – Locuitorii</a:t>
            </a:r>
          </a:p>
          <a:p>
            <a:pPr marL="457200" lvl="1" indent="0" algn="l"/>
            <a:r>
              <a:rPr lang="ro-RO" sz="1400" dirty="0">
                <a:solidFill>
                  <a:schemeClr val="accent2"/>
                </a:solidFill>
              </a:rPr>
              <a:t>Cererile</a:t>
            </a:r>
            <a:r>
              <a:rPr lang="ro-RO" sz="1400" b="0" dirty="0"/>
              <a:t> – Scrisorile</a:t>
            </a:r>
          </a:p>
          <a:p>
            <a:pPr marL="457200" lvl="1" indent="0" algn="l"/>
            <a:r>
              <a:rPr lang="ro-RO" sz="1400" dirty="0">
                <a:solidFill>
                  <a:schemeClr val="accent1"/>
                </a:solidFill>
              </a:rPr>
              <a:t>FIFO-ul bine cunoscut </a:t>
            </a:r>
            <a:r>
              <a:rPr lang="ro-RO" sz="1400" b="0" dirty="0"/>
              <a:t>– cutia comună a biroului poștal</a:t>
            </a:r>
          </a:p>
          <a:p>
            <a:pPr marL="457200" lvl="1" indent="0" algn="l"/>
            <a:r>
              <a:rPr lang="ro-RO" sz="1400" dirty="0">
                <a:solidFill>
                  <a:schemeClr val="bg1"/>
                </a:solidFill>
              </a:rPr>
              <a:t>FIFO-ul personal </a:t>
            </a:r>
            <a:r>
              <a:rPr lang="ro-RO" sz="1400" b="0" dirty="0"/>
              <a:t>– cutia poștală a fiecărui locuitor</a:t>
            </a:r>
          </a:p>
          <a:p>
            <a:pPr marL="457200" lvl="1" indent="0" algn="l"/>
            <a:r>
              <a:rPr lang="ro-RO" sz="1400" dirty="0">
                <a:solidFill>
                  <a:srgbClr val="00B0F0"/>
                </a:solidFill>
              </a:rPr>
              <a:t>PID</a:t>
            </a:r>
            <a:r>
              <a:rPr lang="ro-RO" sz="1400" b="0" dirty="0"/>
              <a:t> – adresa cutiei poștale personale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sz="1200" dirty="0"/>
          </a:p>
        </p:txBody>
      </p:sp>
      <p:sp>
        <p:nvSpPr>
          <p:cNvPr id="3118" name="Google Shape;3118;p51">
            <a:extLst>
              <a:ext uri="{FF2B5EF4-FFF2-40B4-BE49-F238E27FC236}">
                <a16:creationId xmlns:a16="http://schemas.microsoft.com/office/drawing/2014/main" id="{6C8BC482-31C2-E915-6736-7A7DA627484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119" name="Google Shape;3119;p51">
            <a:extLst>
              <a:ext uri="{FF2B5EF4-FFF2-40B4-BE49-F238E27FC236}">
                <a16:creationId xmlns:a16="http://schemas.microsoft.com/office/drawing/2014/main" id="{F577F42B-67FA-00E9-445C-315508183FD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3120" name="Google Shape;3120;p51">
            <a:extLst>
              <a:ext uri="{FF2B5EF4-FFF2-40B4-BE49-F238E27FC236}">
                <a16:creationId xmlns:a16="http://schemas.microsoft.com/office/drawing/2014/main" id="{B8E4C825-71B9-4082-1EA1-6925470DA47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grpSp>
        <p:nvGrpSpPr>
          <p:cNvPr id="3121" name="Google Shape;3121;p51">
            <a:extLst>
              <a:ext uri="{FF2B5EF4-FFF2-40B4-BE49-F238E27FC236}">
                <a16:creationId xmlns:a16="http://schemas.microsoft.com/office/drawing/2014/main" id="{9A5F70BB-4D79-DD91-DE95-E6200F8DBF62}"/>
              </a:ext>
            </a:extLst>
          </p:cNvPr>
          <p:cNvGrpSpPr/>
          <p:nvPr/>
        </p:nvGrpSpPr>
        <p:grpSpPr>
          <a:xfrm>
            <a:off x="1101775" y="1199831"/>
            <a:ext cx="506100" cy="3417500"/>
            <a:chOff x="1084825" y="1152525"/>
            <a:chExt cx="506100" cy="3417500"/>
          </a:xfrm>
        </p:grpSpPr>
        <p:sp>
          <p:nvSpPr>
            <p:cNvPr id="3122" name="Google Shape;3122;p51">
              <a:extLst>
                <a:ext uri="{FF2B5EF4-FFF2-40B4-BE49-F238E27FC236}">
                  <a16:creationId xmlns:a16="http://schemas.microsoft.com/office/drawing/2014/main" id="{064E6F1F-E0B6-7156-20B2-C5520A8F86B6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3123" name="Google Shape;3123;p51">
              <a:extLst>
                <a:ext uri="{FF2B5EF4-FFF2-40B4-BE49-F238E27FC236}">
                  <a16:creationId xmlns:a16="http://schemas.microsoft.com/office/drawing/2014/main" id="{8DEC5BB2-9DF6-2900-7612-8AF1C06A9681}"/>
                </a:ext>
              </a:extLst>
            </p:cNvPr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062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4">
          <a:extLst>
            <a:ext uri="{FF2B5EF4-FFF2-40B4-BE49-F238E27FC236}">
              <a16:creationId xmlns:a16="http://schemas.microsoft.com/office/drawing/2014/main" id="{8E2DBEFE-6754-1F6A-C4BB-F7C5FB89F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7" name="Google Shape;3117;p51">
            <a:extLst>
              <a:ext uri="{FF2B5EF4-FFF2-40B4-BE49-F238E27FC236}">
                <a16:creationId xmlns:a16="http://schemas.microsoft.com/office/drawing/2014/main" id="{E68D8160-74E3-30F5-A793-97B7C62FA11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37875" y="395732"/>
            <a:ext cx="7806125" cy="38668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rgbClr val="FFFF00"/>
                </a:solidFill>
              </a:rPr>
              <a:t>Exemplul</a:t>
            </a:r>
            <a:r>
              <a:rPr lang="ro-RO" sz="1200" b="1" dirty="0">
                <a:solidFill>
                  <a:srgbClr val="FFFF00"/>
                </a:solidFill>
              </a:rPr>
              <a:t> se prezintă astfel</a:t>
            </a:r>
            <a:r>
              <a:rPr lang="en-US" sz="1200" b="1" dirty="0">
                <a:solidFill>
                  <a:srgbClr val="FFFF00"/>
                </a:solidFill>
              </a:rPr>
              <a:t>:</a:t>
            </a:r>
            <a:endParaRPr lang="ro-RO" sz="1200" b="1" dirty="0">
              <a:solidFill>
                <a:srgbClr val="FF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&lt; </a:t>
            </a:r>
            <a:r>
              <a:rPr lang="it-IT" sz="1100" b="1" dirty="0">
                <a:solidFill>
                  <a:schemeClr val="tx2"/>
                </a:solidFill>
              </a:rPr>
              <a:t>Un po</a:t>
            </a:r>
            <a:r>
              <a:rPr lang="ro-RO" sz="1100" b="1" dirty="0">
                <a:solidFill>
                  <a:schemeClr val="tx2"/>
                </a:solidFill>
              </a:rPr>
              <a:t>ș</a:t>
            </a:r>
            <a:r>
              <a:rPr lang="it-IT" sz="1100" b="1" dirty="0">
                <a:solidFill>
                  <a:schemeClr val="tx2"/>
                </a:solidFill>
              </a:rPr>
              <a:t>ta</a:t>
            </a:r>
            <a:r>
              <a:rPr lang="ro-RO" sz="1100" b="1" dirty="0">
                <a:solidFill>
                  <a:schemeClr val="tx2"/>
                </a:solidFill>
              </a:rPr>
              <a:t>ș</a:t>
            </a:r>
            <a:r>
              <a:rPr lang="it-IT" sz="1100" b="1" dirty="0">
                <a:solidFill>
                  <a:schemeClr val="tx2"/>
                </a:solidFill>
              </a:rPr>
              <a:t> </a:t>
            </a:r>
            <a:r>
              <a:rPr lang="it-IT" sz="1100" dirty="0"/>
              <a:t>se ocup</a:t>
            </a:r>
            <a:r>
              <a:rPr lang="ro-RO" sz="1100" dirty="0"/>
              <a:t>ă</a:t>
            </a:r>
            <a:r>
              <a:rPr lang="it-IT" sz="1100" dirty="0"/>
              <a:t> de distribuirea </a:t>
            </a:r>
            <a:r>
              <a:rPr lang="it-IT" sz="1100" b="1" dirty="0">
                <a:solidFill>
                  <a:schemeClr val="accent2"/>
                </a:solidFill>
              </a:rPr>
              <a:t>scrisorilor</a:t>
            </a:r>
            <a:r>
              <a:rPr lang="it-IT" sz="1100" dirty="0"/>
              <a:t> unor </a:t>
            </a:r>
            <a:r>
              <a:rPr lang="it-IT" sz="1100" b="1" dirty="0">
                <a:solidFill>
                  <a:schemeClr val="bg2"/>
                </a:solidFill>
              </a:rPr>
              <a:t>locuitori </a:t>
            </a:r>
            <a:r>
              <a:rPr lang="it-IT" sz="1100" dirty="0"/>
              <a:t>dintr-un ora</a:t>
            </a:r>
            <a:r>
              <a:rPr lang="ro-RO" sz="1100" dirty="0"/>
              <a:t>ș.</a:t>
            </a:r>
            <a:r>
              <a:rPr lang="en-US" sz="1100" dirty="0"/>
              <a:t>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&lt; </a:t>
            </a:r>
            <a:r>
              <a:rPr lang="ro-RO" sz="1100" dirty="0"/>
              <a:t>El așteaptă </a:t>
            </a:r>
            <a:r>
              <a:rPr lang="it-IT" sz="1100" dirty="0"/>
              <a:t>la biroul po</a:t>
            </a:r>
            <a:r>
              <a:rPr lang="ro-RO" sz="1100" dirty="0"/>
              <a:t>ș</a:t>
            </a:r>
            <a:r>
              <a:rPr lang="it-IT" sz="1100" dirty="0"/>
              <a:t>tal primirea </a:t>
            </a:r>
            <a:r>
              <a:rPr lang="it-IT" sz="1100" b="1" dirty="0">
                <a:solidFill>
                  <a:schemeClr val="accent2"/>
                </a:solidFill>
              </a:rPr>
              <a:t>scrisorilor</a:t>
            </a:r>
            <a:r>
              <a:rPr lang="it-IT" sz="1100" dirty="0"/>
              <a:t> de la </a:t>
            </a:r>
            <a:r>
              <a:rPr lang="it-IT" sz="1100" b="1" dirty="0">
                <a:solidFill>
                  <a:schemeClr val="bg2"/>
                </a:solidFill>
              </a:rPr>
              <a:t>locuitori</a:t>
            </a:r>
            <a:r>
              <a:rPr lang="ro-RO" sz="1100" b="1" dirty="0">
                <a:solidFill>
                  <a:schemeClr val="bg2"/>
                </a:solidFill>
              </a:rPr>
              <a:t>.</a:t>
            </a:r>
            <a:r>
              <a:rPr lang="en-US" sz="1100" b="1" dirty="0">
                <a:solidFill>
                  <a:schemeClr val="bg2"/>
                </a:solidFill>
              </a:rPr>
              <a:t> </a:t>
            </a:r>
            <a:r>
              <a:rPr lang="en-US" sz="1100" dirty="0"/>
              <a:t>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&lt; </a:t>
            </a:r>
            <a:r>
              <a:rPr lang="ro-RO" sz="1100" b="1" dirty="0">
                <a:solidFill>
                  <a:schemeClr val="bg2"/>
                </a:solidFill>
              </a:rPr>
              <a:t>L</a:t>
            </a:r>
            <a:r>
              <a:rPr lang="it-IT" sz="1100" b="1" dirty="0">
                <a:solidFill>
                  <a:schemeClr val="bg2"/>
                </a:solidFill>
              </a:rPr>
              <a:t>ocuitori</a:t>
            </a:r>
            <a:r>
              <a:rPr lang="ro-RO" sz="1100" b="1" dirty="0">
                <a:solidFill>
                  <a:schemeClr val="bg2"/>
                </a:solidFill>
              </a:rPr>
              <a:t>i</a:t>
            </a:r>
            <a:r>
              <a:rPr lang="it-IT" sz="1100" b="1" dirty="0">
                <a:solidFill>
                  <a:schemeClr val="bg2"/>
                </a:solidFill>
              </a:rPr>
              <a:t> </a:t>
            </a:r>
            <a:r>
              <a:rPr lang="it-IT" sz="1100" dirty="0"/>
              <a:t>merg la po</a:t>
            </a:r>
            <a:r>
              <a:rPr lang="ro-RO" sz="1100" dirty="0"/>
              <a:t>ș</a:t>
            </a:r>
            <a:r>
              <a:rPr lang="it-IT" sz="1100" dirty="0"/>
              <a:t>t</a:t>
            </a:r>
            <a:r>
              <a:rPr lang="ro-RO" sz="1100" dirty="0"/>
              <a:t>ă</a:t>
            </a:r>
            <a:r>
              <a:rPr lang="it-IT" sz="1100" dirty="0"/>
              <a:t> </a:t>
            </a:r>
            <a:r>
              <a:rPr lang="ro-RO" sz="1100" dirty="0"/>
              <a:t>ș</a:t>
            </a:r>
            <a:r>
              <a:rPr lang="it-IT" sz="1100" dirty="0"/>
              <a:t>i </a:t>
            </a:r>
            <a:r>
              <a:rPr lang="ro-RO" sz="1100" dirty="0"/>
              <a:t>îș</a:t>
            </a:r>
            <a:r>
              <a:rPr lang="it-IT" sz="1100" dirty="0"/>
              <a:t>i las</a:t>
            </a:r>
            <a:r>
              <a:rPr lang="ro-RO" sz="1100" dirty="0"/>
              <a:t>ă</a:t>
            </a:r>
            <a:r>
              <a:rPr lang="it-IT" sz="1100" dirty="0"/>
              <a:t> </a:t>
            </a:r>
            <a:r>
              <a:rPr lang="it-IT" sz="1100" b="1" dirty="0">
                <a:solidFill>
                  <a:schemeClr val="accent2"/>
                </a:solidFill>
              </a:rPr>
              <a:t>scrisorile</a:t>
            </a:r>
            <a:r>
              <a:rPr lang="it-IT" sz="1100" dirty="0"/>
              <a:t> </a:t>
            </a:r>
            <a:r>
              <a:rPr lang="ro-RO" sz="1100" dirty="0"/>
              <a:t>î</a:t>
            </a:r>
            <a:r>
              <a:rPr lang="it-IT" sz="1100" dirty="0"/>
              <a:t>ntr</a:t>
            </a:r>
            <a:r>
              <a:rPr lang="ro-RO" sz="1100" dirty="0"/>
              <a:t>-</a:t>
            </a:r>
            <a:r>
              <a:rPr lang="it-IT" sz="1100" dirty="0"/>
              <a:t>o </a:t>
            </a:r>
            <a:r>
              <a:rPr lang="it-IT" sz="1100" b="1" dirty="0">
                <a:solidFill>
                  <a:schemeClr val="accent1"/>
                </a:solidFill>
              </a:rPr>
              <a:t>cutie comun</a:t>
            </a:r>
            <a:r>
              <a:rPr lang="ro-RO" sz="1100" b="1" dirty="0">
                <a:solidFill>
                  <a:schemeClr val="accent1"/>
                </a:solidFill>
              </a:rPr>
              <a:t>ă</a:t>
            </a:r>
            <a:r>
              <a:rPr lang="it-IT" sz="1100" b="1" dirty="0">
                <a:solidFill>
                  <a:schemeClr val="accent1"/>
                </a:solidFill>
              </a:rPr>
              <a:t> </a:t>
            </a:r>
            <a:r>
              <a:rPr lang="it-IT" sz="1100" dirty="0"/>
              <a:t>din biroul po</a:t>
            </a:r>
            <a:r>
              <a:rPr lang="ro-RO" sz="1100" dirty="0"/>
              <a:t>ș</a:t>
            </a:r>
            <a:r>
              <a:rPr lang="it-IT" sz="1100" dirty="0"/>
              <a:t>tal</a:t>
            </a:r>
            <a:r>
              <a:rPr lang="ro-RO" sz="1100" dirty="0"/>
              <a:t>.</a:t>
            </a:r>
            <a:r>
              <a:rPr lang="en-US" sz="1100" dirty="0"/>
              <a:t>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&lt; </a:t>
            </a:r>
            <a:r>
              <a:rPr lang="ro-RO" sz="1100" dirty="0"/>
              <a:t>A</a:t>
            </a:r>
            <a:r>
              <a:rPr lang="en-US" sz="1100" dirty="0" err="1"/>
              <a:t>stfel</a:t>
            </a:r>
            <a:r>
              <a:rPr lang="en-US" sz="1100" dirty="0"/>
              <a:t>, to</a:t>
            </a:r>
            <a:r>
              <a:rPr lang="ro-RO" sz="1100" dirty="0"/>
              <a:t>ț</a:t>
            </a:r>
            <a:r>
              <a:rPr lang="en-US" sz="1100" dirty="0" err="1"/>
              <a:t>i</a:t>
            </a:r>
            <a:r>
              <a:rPr lang="en-US" sz="1100" dirty="0"/>
              <a:t> </a:t>
            </a:r>
            <a:r>
              <a:rPr lang="en-US" sz="1100" dirty="0" err="1"/>
              <a:t>l</a:t>
            </a:r>
            <a:r>
              <a:rPr lang="en-US" sz="1100" b="1" dirty="0" err="1">
                <a:solidFill>
                  <a:schemeClr val="bg2"/>
                </a:solidFill>
              </a:rPr>
              <a:t>ocuitorii</a:t>
            </a:r>
            <a:r>
              <a:rPr lang="en-US" sz="1100" dirty="0"/>
              <a:t> din or</a:t>
            </a:r>
            <a:r>
              <a:rPr lang="ro-RO" sz="1100" dirty="0"/>
              <a:t>aș</a:t>
            </a:r>
            <a:r>
              <a:rPr lang="en-US" sz="1100" dirty="0"/>
              <a:t> </a:t>
            </a:r>
            <a:r>
              <a:rPr lang="ro-RO" sz="1100" dirty="0"/>
              <a:t>ș</a:t>
            </a:r>
            <a:r>
              <a:rPr lang="en-US" sz="1100" dirty="0" err="1"/>
              <a:t>tiu</a:t>
            </a:r>
            <a:r>
              <a:rPr lang="en-US" sz="1100" dirty="0"/>
              <a:t> </a:t>
            </a:r>
            <a:r>
              <a:rPr lang="en-US" sz="1100" dirty="0" err="1"/>
              <a:t>unde</a:t>
            </a:r>
            <a:r>
              <a:rPr lang="en-US" sz="1100" dirty="0"/>
              <a:t> </a:t>
            </a:r>
            <a:r>
              <a:rPr lang="en-US" sz="1100" dirty="0" err="1"/>
              <a:t>trebuie</a:t>
            </a:r>
            <a:r>
              <a:rPr lang="en-US" sz="1100" dirty="0"/>
              <a:t> s</a:t>
            </a:r>
            <a:r>
              <a:rPr lang="ro-RO" sz="1100" dirty="0"/>
              <a:t>ă</a:t>
            </a:r>
            <a:r>
              <a:rPr lang="en-US" sz="1100" dirty="0"/>
              <a:t> </a:t>
            </a:r>
            <a:r>
              <a:rPr lang="en-US" sz="1100" dirty="0" err="1"/>
              <a:t>duc</a:t>
            </a:r>
            <a:r>
              <a:rPr lang="ro-RO" sz="1100" dirty="0"/>
              <a:t>ă</a:t>
            </a:r>
            <a:r>
              <a:rPr lang="en-US" sz="1100" dirty="0"/>
              <a:t> </a:t>
            </a:r>
            <a:r>
              <a:rPr lang="en-US" sz="1100" b="1" dirty="0" err="1">
                <a:solidFill>
                  <a:schemeClr val="accent2"/>
                </a:solidFill>
              </a:rPr>
              <a:t>scrisorile</a:t>
            </a:r>
            <a:r>
              <a:rPr lang="en-US" sz="1100" dirty="0"/>
              <a:t> ca s</a:t>
            </a:r>
            <a:r>
              <a:rPr lang="ro-RO" sz="1100" dirty="0"/>
              <a:t>ă</a:t>
            </a:r>
            <a:r>
              <a:rPr lang="en-US" sz="1100" dirty="0"/>
              <a:t> fie </a:t>
            </a:r>
            <a:r>
              <a:rPr lang="en-US" sz="1100" dirty="0" err="1"/>
              <a:t>preluate</a:t>
            </a:r>
            <a:r>
              <a:rPr lang="en-US" sz="1100" dirty="0"/>
              <a:t> de </a:t>
            </a:r>
            <a:r>
              <a:rPr lang="en-US" sz="1100" b="1" dirty="0">
                <a:solidFill>
                  <a:schemeClr val="tx2"/>
                </a:solidFill>
              </a:rPr>
              <a:t>po</a:t>
            </a:r>
            <a:r>
              <a:rPr lang="ro-RO" sz="1100" b="1" dirty="0">
                <a:solidFill>
                  <a:schemeClr val="tx2"/>
                </a:solidFill>
              </a:rPr>
              <a:t>ș</a:t>
            </a:r>
            <a:r>
              <a:rPr lang="en-US" sz="1100" b="1" dirty="0">
                <a:solidFill>
                  <a:schemeClr val="tx2"/>
                </a:solidFill>
              </a:rPr>
              <a:t>t</a:t>
            </a:r>
            <a:r>
              <a:rPr lang="ro-RO" sz="1100" b="1" dirty="0">
                <a:solidFill>
                  <a:schemeClr val="tx2"/>
                </a:solidFill>
              </a:rPr>
              <a:t>aș</a:t>
            </a:r>
            <a:r>
              <a:rPr lang="en-US" sz="1100" b="1" dirty="0">
                <a:solidFill>
                  <a:schemeClr val="tx2"/>
                </a:solidFill>
              </a:rPr>
              <a:t> </a:t>
            </a:r>
            <a:r>
              <a:rPr lang="en-US" sz="1100" dirty="0"/>
              <a:t>(</a:t>
            </a:r>
            <a:r>
              <a:rPr lang="en-US" sz="1100" dirty="0" err="1"/>
              <a:t>cutia</a:t>
            </a:r>
            <a:r>
              <a:rPr lang="en-US" sz="1100" dirty="0"/>
              <a:t>, </a:t>
            </a:r>
            <a:r>
              <a:rPr lang="en-US" sz="1100" dirty="0" err="1"/>
              <a:t>adic</a:t>
            </a:r>
            <a:r>
              <a:rPr lang="ro-RO" sz="1100" dirty="0"/>
              <a:t>ă FIF</a:t>
            </a:r>
            <a:r>
              <a:rPr lang="en-US" sz="1100" dirty="0"/>
              <a:t>O-</a:t>
            </a:r>
            <a:r>
              <a:rPr lang="en-US" sz="1100" dirty="0" err="1"/>
              <a:t>ul</a:t>
            </a:r>
            <a:r>
              <a:rPr lang="en-US" sz="1100" dirty="0"/>
              <a:t> </a:t>
            </a:r>
            <a:r>
              <a:rPr lang="en-US" sz="1100" dirty="0" err="1"/>
              <a:t>poate</a:t>
            </a:r>
            <a:r>
              <a:rPr lang="en-US" sz="1100" dirty="0"/>
              <a:t> fi </a:t>
            </a:r>
            <a:r>
              <a:rPr lang="en-US" sz="1100" dirty="0" err="1"/>
              <a:t>accesat</a:t>
            </a:r>
            <a:r>
              <a:rPr lang="en-US" sz="1100" dirty="0"/>
              <a:t> de to</a:t>
            </a:r>
            <a:r>
              <a:rPr lang="ro-RO" sz="1100" dirty="0"/>
              <a:t>ț</a:t>
            </a:r>
            <a:r>
              <a:rPr lang="en-US" sz="1100" dirty="0" err="1"/>
              <a:t>i</a:t>
            </a:r>
            <a:r>
              <a:rPr lang="en-US" sz="1100" dirty="0"/>
              <a:t>)</a:t>
            </a:r>
            <a:r>
              <a:rPr lang="ro-RO" sz="1100" dirty="0"/>
              <a:t>.</a:t>
            </a:r>
            <a:r>
              <a:rPr lang="en-US" sz="1100" dirty="0"/>
              <a:t>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&lt; </a:t>
            </a:r>
            <a:r>
              <a:rPr lang="ro-RO" sz="1100" dirty="0"/>
              <a:t>D</a:t>
            </a:r>
            <a:r>
              <a:rPr lang="en-US" sz="1100" dirty="0"/>
              <a:t>e </a:t>
            </a:r>
            <a:r>
              <a:rPr lang="en-US" sz="1100" dirty="0" err="1"/>
              <a:t>exemplu</a:t>
            </a:r>
            <a:r>
              <a:rPr lang="en-US" sz="1100" dirty="0"/>
              <a:t>, </a:t>
            </a:r>
            <a:r>
              <a:rPr lang="en-US" sz="1100" dirty="0" err="1"/>
              <a:t>dac</a:t>
            </a:r>
            <a:r>
              <a:rPr lang="ro-RO" sz="1100" dirty="0"/>
              <a:t>ă</a:t>
            </a:r>
            <a:r>
              <a:rPr lang="en-US" sz="1100" dirty="0"/>
              <a:t> </a:t>
            </a:r>
            <a:r>
              <a:rPr lang="en-US" sz="1100" dirty="0" err="1"/>
              <a:t>ei</a:t>
            </a:r>
            <a:r>
              <a:rPr lang="en-US" sz="1100" dirty="0"/>
              <a:t> </a:t>
            </a:r>
            <a:r>
              <a:rPr lang="en-US" sz="1100" dirty="0" err="1"/>
              <a:t>folosesc</a:t>
            </a:r>
            <a:r>
              <a:rPr lang="en-US" sz="1100" dirty="0"/>
              <a:t> un format standard </a:t>
            </a:r>
            <a:r>
              <a:rPr lang="ro-RO" sz="1100" dirty="0"/>
              <a:t>î</a:t>
            </a:r>
            <a:r>
              <a:rPr lang="en-US" sz="1100" dirty="0"/>
              <a:t>n </a:t>
            </a:r>
            <a:r>
              <a:rPr lang="en-US" sz="1100" b="1" dirty="0" err="1">
                <a:solidFill>
                  <a:schemeClr val="accent2"/>
                </a:solidFill>
              </a:rPr>
              <a:t>scrisoare</a:t>
            </a:r>
            <a:r>
              <a:rPr lang="en-US" sz="1100" b="1" dirty="0">
                <a:solidFill>
                  <a:schemeClr val="accent2"/>
                </a:solidFill>
              </a:rPr>
              <a:t>: </a:t>
            </a:r>
            <a:r>
              <a:rPr lang="en-US" sz="1100" dirty="0"/>
              <a:t>“</a:t>
            </a:r>
            <a:r>
              <a:rPr lang="en-US" sz="1100" dirty="0" err="1"/>
              <a:t>Vreau</a:t>
            </a:r>
            <a:r>
              <a:rPr lang="en-US" sz="1100" dirty="0"/>
              <a:t> </a:t>
            </a:r>
            <a:r>
              <a:rPr lang="en-US" sz="1100" dirty="0" err="1"/>
              <a:t>informa</a:t>
            </a:r>
            <a:r>
              <a:rPr lang="ro-RO" sz="1100" dirty="0"/>
              <a:t>ț</a:t>
            </a:r>
            <a:r>
              <a:rPr lang="en-US" sz="1100" dirty="0"/>
              <a:t>ii </a:t>
            </a:r>
            <a:r>
              <a:rPr lang="en-US" sz="1100" dirty="0" err="1"/>
              <a:t>despre</a:t>
            </a:r>
            <a:r>
              <a:rPr lang="en-US" sz="1100" dirty="0"/>
              <a:t> </a:t>
            </a:r>
            <a:r>
              <a:rPr lang="en-US" sz="1100" dirty="0" err="1"/>
              <a:t>comanda</a:t>
            </a:r>
            <a:r>
              <a:rPr lang="en-US" sz="1100" dirty="0"/>
              <a:t> </a:t>
            </a:r>
            <a:r>
              <a:rPr lang="en-US" sz="1100" dirty="0" err="1"/>
              <a:t>mkdir</a:t>
            </a:r>
            <a:r>
              <a:rPr lang="en-US" sz="1100" dirty="0"/>
              <a:t>”, las</a:t>
            </a:r>
            <a:r>
              <a:rPr lang="ro-RO" sz="1100" dirty="0"/>
              <a:t>ă</a:t>
            </a:r>
            <a:r>
              <a:rPr lang="en-US" sz="1100" dirty="0"/>
              <a:t> </a:t>
            </a:r>
            <a:r>
              <a:rPr lang="en-US" sz="1100" dirty="0" err="1"/>
              <a:t>cererea</a:t>
            </a:r>
            <a:r>
              <a:rPr lang="en-US" sz="1100" dirty="0"/>
              <a:t> </a:t>
            </a:r>
            <a:r>
              <a:rPr lang="ro-RO" sz="1100" dirty="0"/>
              <a:t>î</a:t>
            </a:r>
            <a:r>
              <a:rPr lang="en-US" sz="1100" dirty="0"/>
              <a:t>n </a:t>
            </a:r>
            <a:r>
              <a:rPr lang="en-US" sz="1100" dirty="0" err="1"/>
              <a:t>cutia</a:t>
            </a:r>
            <a:r>
              <a:rPr lang="en-US" sz="1100" dirty="0"/>
              <a:t> po</a:t>
            </a:r>
            <a:r>
              <a:rPr lang="ro-RO" sz="1100" dirty="0"/>
              <a:t>ș</a:t>
            </a:r>
            <a:r>
              <a:rPr lang="en-US" sz="1100" dirty="0" err="1"/>
              <a:t>tal</a:t>
            </a:r>
            <a:r>
              <a:rPr lang="ro-RO" sz="1100" dirty="0"/>
              <a:t>ă.</a:t>
            </a:r>
            <a:r>
              <a:rPr lang="en-US" sz="1100" dirty="0"/>
              <a:t>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&lt; </a:t>
            </a:r>
            <a:r>
              <a:rPr lang="ro-RO" sz="1100" dirty="0"/>
              <a:t>D</a:t>
            </a:r>
            <a:r>
              <a:rPr lang="en-US" sz="1100" dirty="0"/>
              <a:t>e </a:t>
            </a:r>
            <a:r>
              <a:rPr lang="en-US" sz="1100" dirty="0" err="1"/>
              <a:t>asemenea</a:t>
            </a:r>
            <a:r>
              <a:rPr lang="en-US" sz="1100" dirty="0"/>
              <a:t>, </a:t>
            </a:r>
            <a:r>
              <a:rPr lang="en-US" sz="1100" dirty="0" err="1"/>
              <a:t>fiecare</a:t>
            </a:r>
            <a:r>
              <a:rPr lang="en-US" sz="1100" dirty="0"/>
              <a:t> </a:t>
            </a:r>
            <a:r>
              <a:rPr lang="en-US" sz="1100" b="1" dirty="0" err="1">
                <a:solidFill>
                  <a:schemeClr val="bg2"/>
                </a:solidFill>
              </a:rPr>
              <a:t>locuitor</a:t>
            </a:r>
            <a:r>
              <a:rPr lang="en-US" sz="1100" dirty="0"/>
              <a:t> de</a:t>
            </a:r>
            <a:r>
              <a:rPr lang="ro-RO" sz="1100" dirty="0"/>
              <a:t>ț</a:t>
            </a:r>
            <a:r>
              <a:rPr lang="en-US" sz="1100" dirty="0" err="1"/>
              <a:t>ine</a:t>
            </a:r>
            <a:r>
              <a:rPr lang="en-US" sz="1100" dirty="0"/>
              <a:t> </a:t>
            </a:r>
            <a:r>
              <a:rPr lang="en-US" sz="1100" b="1" dirty="0">
                <a:solidFill>
                  <a:schemeClr val="bg1">
                    <a:lumMod val="75000"/>
                  </a:schemeClr>
                </a:solidFill>
              </a:rPr>
              <a:t>propria cutie po</a:t>
            </a:r>
            <a:r>
              <a:rPr lang="ro-RO" sz="1100" b="1" dirty="0">
                <a:solidFill>
                  <a:schemeClr val="bg1">
                    <a:lumMod val="75000"/>
                  </a:schemeClr>
                </a:solidFill>
              </a:rPr>
              <a:t>ș</a:t>
            </a:r>
            <a:r>
              <a:rPr lang="en-US" sz="1100" b="1" dirty="0" err="1">
                <a:solidFill>
                  <a:schemeClr val="bg1">
                    <a:lumMod val="75000"/>
                  </a:schemeClr>
                </a:solidFill>
              </a:rPr>
              <a:t>tal</a:t>
            </a:r>
            <a:r>
              <a:rPr lang="ro-RO" sz="1100" b="1" dirty="0">
                <a:solidFill>
                  <a:schemeClr val="bg1">
                    <a:lumMod val="75000"/>
                  </a:schemeClr>
                </a:solidFill>
              </a:rPr>
              <a:t>ă</a:t>
            </a:r>
            <a:r>
              <a:rPr lang="ro-RO" sz="1100" dirty="0"/>
              <a:t>. </a:t>
            </a:r>
            <a:r>
              <a:rPr lang="en-US" sz="1100" dirty="0" err="1"/>
              <a:t>pentru</a:t>
            </a:r>
            <a:r>
              <a:rPr lang="en-US" sz="1100" dirty="0"/>
              <a:t> c</a:t>
            </a:r>
            <a:r>
              <a:rPr lang="ro-RO" sz="1100" dirty="0"/>
              <a:t>ă </a:t>
            </a:r>
            <a:r>
              <a:rPr lang="en-US" sz="1100" dirty="0" err="1"/>
              <a:t>dac</a:t>
            </a:r>
            <a:r>
              <a:rPr lang="ro-RO" sz="1100" dirty="0"/>
              <a:t>ă</a:t>
            </a:r>
            <a:r>
              <a:rPr lang="en-US" sz="1100" dirty="0"/>
              <a:t> </a:t>
            </a:r>
            <a:r>
              <a:rPr lang="en-US" sz="1100" dirty="0" err="1"/>
              <a:t>toat</a:t>
            </a:r>
            <a:r>
              <a:rPr lang="ro-RO" sz="1100" dirty="0"/>
              <a:t>ă</a:t>
            </a:r>
            <a:r>
              <a:rPr lang="en-US" sz="1100" dirty="0"/>
              <a:t> </a:t>
            </a:r>
            <a:r>
              <a:rPr lang="en-US" sz="1100" dirty="0" err="1"/>
              <a:t>lumea</a:t>
            </a:r>
            <a:r>
              <a:rPr lang="en-US" sz="1100" dirty="0"/>
              <a:t> </a:t>
            </a:r>
            <a:r>
              <a:rPr lang="en-US" sz="1100" dirty="0" err="1"/>
              <a:t>ar</a:t>
            </a:r>
            <a:r>
              <a:rPr lang="en-US" sz="1100" dirty="0"/>
              <a:t> a</a:t>
            </a:r>
            <a:r>
              <a:rPr lang="ro-RO" sz="1100" dirty="0"/>
              <a:t>ș</a:t>
            </a:r>
            <a:r>
              <a:rPr lang="en-US" sz="1100" dirty="0" err="1"/>
              <a:t>tepta</a:t>
            </a:r>
            <a:r>
              <a:rPr lang="en-US" sz="1100" dirty="0"/>
              <a:t> r</a:t>
            </a:r>
            <a:r>
              <a:rPr lang="ro-RO" sz="1100" dirty="0"/>
              <a:t>ă</a:t>
            </a:r>
            <a:r>
              <a:rPr lang="en-US" sz="1100" dirty="0" err="1"/>
              <a:t>spunsuri</a:t>
            </a:r>
            <a:r>
              <a:rPr lang="en-US" sz="1100" dirty="0"/>
              <a:t> </a:t>
            </a:r>
            <a:r>
              <a:rPr lang="ro-RO" sz="1100" dirty="0"/>
              <a:t>î</a:t>
            </a:r>
            <a:r>
              <a:rPr lang="en-US" sz="1100" dirty="0"/>
              <a:t>n </a:t>
            </a:r>
            <a:r>
              <a:rPr lang="en-US" sz="1100" b="1" dirty="0" err="1">
                <a:solidFill>
                  <a:schemeClr val="accent1"/>
                </a:solidFill>
              </a:rPr>
              <a:t>cutia</a:t>
            </a:r>
            <a:r>
              <a:rPr lang="en-US" sz="1100" b="1" dirty="0">
                <a:solidFill>
                  <a:schemeClr val="accent1"/>
                </a:solidFill>
              </a:rPr>
              <a:t> </a:t>
            </a:r>
            <a:r>
              <a:rPr lang="en-US" sz="1100" b="1" dirty="0" err="1">
                <a:solidFill>
                  <a:schemeClr val="accent1"/>
                </a:solidFill>
              </a:rPr>
              <a:t>comun</a:t>
            </a:r>
            <a:r>
              <a:rPr lang="ro-RO" sz="1100" b="1" dirty="0">
                <a:solidFill>
                  <a:schemeClr val="accent1"/>
                </a:solidFill>
              </a:rPr>
              <a:t>ă</a:t>
            </a:r>
            <a:r>
              <a:rPr lang="en-US" sz="1100" dirty="0"/>
              <a:t>, nu </a:t>
            </a:r>
            <a:r>
              <a:rPr lang="en-US" sz="1100" dirty="0" err="1"/>
              <a:t>ar</a:t>
            </a:r>
            <a:r>
              <a:rPr lang="en-US" sz="1100" dirty="0"/>
              <a:t> </a:t>
            </a:r>
            <a:r>
              <a:rPr lang="en-US" sz="1100" dirty="0" err="1"/>
              <a:t>mai</a:t>
            </a:r>
            <a:r>
              <a:rPr lang="en-US" sz="1100" dirty="0"/>
              <a:t> </a:t>
            </a:r>
            <a:r>
              <a:rPr lang="ro-RO" sz="1100" dirty="0"/>
              <a:t>ș</a:t>
            </a:r>
            <a:r>
              <a:rPr lang="en-US" sz="1100" dirty="0" err="1"/>
              <a:t>tii</a:t>
            </a:r>
            <a:r>
              <a:rPr lang="en-US" sz="1100" dirty="0"/>
              <a:t> care </a:t>
            </a:r>
            <a:r>
              <a:rPr lang="en-US" sz="1100" dirty="0" err="1"/>
              <a:t>este</a:t>
            </a:r>
            <a:r>
              <a:rPr lang="en-US" sz="1100" dirty="0"/>
              <a:t> al lor </a:t>
            </a:r>
            <a:r>
              <a:rPr lang="en-US" sz="1100" dirty="0" err="1"/>
              <a:t>deoarece</a:t>
            </a:r>
            <a:r>
              <a:rPr lang="en-US" sz="1100" dirty="0"/>
              <a:t> r</a:t>
            </a:r>
            <a:r>
              <a:rPr lang="ro-RO" sz="1100" dirty="0"/>
              <a:t>ă</a:t>
            </a:r>
            <a:r>
              <a:rPr lang="en-US" sz="1100" dirty="0" err="1"/>
              <a:t>spunsurile</a:t>
            </a:r>
            <a:r>
              <a:rPr lang="en-US" sz="1100" dirty="0"/>
              <a:t> </a:t>
            </a:r>
            <a:r>
              <a:rPr lang="en-US" sz="1100" dirty="0" err="1"/>
              <a:t>tuturor</a:t>
            </a:r>
            <a:r>
              <a:rPr lang="en-US" sz="1100" dirty="0"/>
              <a:t> </a:t>
            </a:r>
            <a:r>
              <a:rPr lang="en-US" sz="1100" dirty="0" err="1"/>
              <a:t>clien</a:t>
            </a:r>
            <a:r>
              <a:rPr lang="ro-RO" sz="1100" dirty="0"/>
              <a:t>ț</a:t>
            </a:r>
            <a:r>
              <a:rPr lang="en-US" sz="1100" dirty="0" err="1"/>
              <a:t>ilo</a:t>
            </a:r>
            <a:r>
              <a:rPr lang="ro-RO" sz="1100" dirty="0"/>
              <a:t>r</a:t>
            </a:r>
            <a:r>
              <a:rPr lang="en-US" sz="1100" dirty="0"/>
              <a:t> </a:t>
            </a:r>
            <a:r>
              <a:rPr lang="en-US" sz="1100" dirty="0" err="1"/>
              <a:t>ar</a:t>
            </a:r>
            <a:r>
              <a:rPr lang="en-US" sz="1100" dirty="0"/>
              <a:t> fi </a:t>
            </a:r>
            <a:r>
              <a:rPr lang="ro-RO" sz="1100" dirty="0"/>
              <a:t>î</a:t>
            </a:r>
            <a:r>
              <a:rPr lang="en-US" sz="1100" dirty="0"/>
              <a:t>n </a:t>
            </a:r>
            <a:r>
              <a:rPr lang="en-US" sz="1100" dirty="0" err="1"/>
              <a:t>aceeasi</a:t>
            </a:r>
            <a:r>
              <a:rPr lang="en-US" sz="1100" dirty="0"/>
              <a:t> cutie, </a:t>
            </a:r>
            <a:r>
              <a:rPr lang="en-US" sz="1100" dirty="0" err="1"/>
              <a:t>astfel</a:t>
            </a:r>
            <a:r>
              <a:rPr lang="en-US" sz="1100" dirty="0"/>
              <a:t> c</a:t>
            </a:r>
            <a:r>
              <a:rPr lang="ro-RO" sz="1100" dirty="0"/>
              <a:t>ă</a:t>
            </a:r>
            <a:r>
              <a:rPr lang="en-US" sz="1100" dirty="0"/>
              <a:t> </a:t>
            </a:r>
            <a:r>
              <a:rPr lang="en-US" sz="1100" dirty="0" err="1"/>
              <a:t>fiecare</a:t>
            </a:r>
            <a:r>
              <a:rPr lang="en-US" sz="1100" dirty="0"/>
              <a:t> client are </a:t>
            </a:r>
            <a:r>
              <a:rPr lang="en-US" sz="1100" dirty="0" err="1"/>
              <a:t>propriul</a:t>
            </a:r>
            <a:r>
              <a:rPr lang="en-US" sz="1100" dirty="0"/>
              <a:t> PID pe </a:t>
            </a:r>
            <a:r>
              <a:rPr lang="en-US" sz="1100" dirty="0" err="1"/>
              <a:t>scrisoarea</a:t>
            </a:r>
            <a:r>
              <a:rPr lang="en-US" sz="1100" dirty="0"/>
              <a:t> </a:t>
            </a:r>
            <a:r>
              <a:rPr lang="en-US" sz="1100" dirty="0" err="1"/>
              <a:t>lui</a:t>
            </a:r>
            <a:r>
              <a:rPr lang="en-US" sz="1100" dirty="0"/>
              <a:t> (</a:t>
            </a:r>
            <a:r>
              <a:rPr lang="en-US" sz="1100" b="1" dirty="0" err="1">
                <a:solidFill>
                  <a:srgbClr val="00B0F0"/>
                </a:solidFill>
              </a:rPr>
              <a:t>adresa</a:t>
            </a:r>
            <a:r>
              <a:rPr lang="en-US" sz="1100" b="1" dirty="0">
                <a:solidFill>
                  <a:srgbClr val="00B0F0"/>
                </a:solidFill>
              </a:rPr>
              <a:t> </a:t>
            </a:r>
            <a:r>
              <a:rPr lang="en-US" sz="1100" b="1" dirty="0" err="1">
                <a:solidFill>
                  <a:srgbClr val="00B0F0"/>
                </a:solidFill>
              </a:rPr>
              <a:t>cutiei</a:t>
            </a:r>
            <a:r>
              <a:rPr lang="en-US" sz="1100" b="1" dirty="0">
                <a:solidFill>
                  <a:srgbClr val="00B0F0"/>
                </a:solidFill>
              </a:rPr>
              <a:t> </a:t>
            </a:r>
            <a:r>
              <a:rPr lang="en-US" sz="1100" b="1" dirty="0" err="1">
                <a:solidFill>
                  <a:srgbClr val="00B0F0"/>
                </a:solidFill>
              </a:rPr>
              <a:t>lui</a:t>
            </a:r>
            <a:r>
              <a:rPr lang="en-US" sz="1100" b="1" dirty="0">
                <a:solidFill>
                  <a:srgbClr val="00B0F0"/>
                </a:solidFill>
              </a:rPr>
              <a:t> po</a:t>
            </a:r>
            <a:r>
              <a:rPr lang="ro-RO" sz="1100" b="1" dirty="0">
                <a:solidFill>
                  <a:srgbClr val="00B0F0"/>
                </a:solidFill>
              </a:rPr>
              <a:t>ș</a:t>
            </a:r>
            <a:r>
              <a:rPr lang="en-US" sz="1100" b="1" dirty="0">
                <a:solidFill>
                  <a:srgbClr val="00B0F0"/>
                </a:solidFill>
              </a:rPr>
              <a:t>tale)</a:t>
            </a:r>
            <a:r>
              <a:rPr lang="ro-RO" sz="1100" dirty="0"/>
              <a:t>.</a:t>
            </a:r>
            <a:r>
              <a:rPr lang="en-US" sz="1100" dirty="0"/>
              <a:t>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&lt; </a:t>
            </a:r>
            <a:r>
              <a:rPr lang="ro-RO" sz="1100" dirty="0"/>
              <a:t>D</a:t>
            </a:r>
            <a:r>
              <a:rPr lang="it-IT" sz="1100" dirty="0"/>
              <a:t>up</a:t>
            </a:r>
            <a:r>
              <a:rPr lang="ro-RO" sz="1100" dirty="0"/>
              <a:t>ă</a:t>
            </a:r>
            <a:r>
              <a:rPr lang="it-IT" sz="1100" dirty="0"/>
              <a:t> ce prime</a:t>
            </a:r>
            <a:r>
              <a:rPr lang="ro-RO" sz="1100" dirty="0"/>
              <a:t>ș</a:t>
            </a:r>
            <a:r>
              <a:rPr lang="it-IT" sz="1100" dirty="0"/>
              <a:t>te </a:t>
            </a:r>
            <a:r>
              <a:rPr lang="it-IT" sz="1100" b="1" dirty="0">
                <a:solidFill>
                  <a:schemeClr val="tx2"/>
                </a:solidFill>
              </a:rPr>
              <a:t>po</a:t>
            </a:r>
            <a:r>
              <a:rPr lang="ro-RO" sz="1100" b="1" dirty="0">
                <a:solidFill>
                  <a:schemeClr val="tx2"/>
                </a:solidFill>
              </a:rPr>
              <a:t>ș</a:t>
            </a:r>
            <a:r>
              <a:rPr lang="it-IT" sz="1100" b="1" dirty="0">
                <a:solidFill>
                  <a:schemeClr val="tx2"/>
                </a:solidFill>
              </a:rPr>
              <a:t>ta</a:t>
            </a:r>
            <a:r>
              <a:rPr lang="ro-RO" sz="1100" b="1" dirty="0">
                <a:solidFill>
                  <a:schemeClr val="tx2"/>
                </a:solidFill>
              </a:rPr>
              <a:t>ș</a:t>
            </a:r>
            <a:r>
              <a:rPr lang="it-IT" sz="1100" b="1" dirty="0">
                <a:solidFill>
                  <a:schemeClr val="tx2"/>
                </a:solidFill>
              </a:rPr>
              <a:t>ul </a:t>
            </a:r>
            <a:r>
              <a:rPr lang="it-IT" sz="1100" dirty="0"/>
              <a:t>cerer</a:t>
            </a:r>
            <a:r>
              <a:rPr lang="ro-RO" sz="1100" dirty="0"/>
              <a:t>e</a:t>
            </a:r>
            <a:r>
              <a:rPr lang="it-IT" sz="1100" dirty="0"/>
              <a:t>a, el </a:t>
            </a:r>
            <a:r>
              <a:rPr lang="ro-RO" sz="1100" dirty="0"/>
              <a:t>ș</a:t>
            </a:r>
            <a:r>
              <a:rPr lang="it-IT" sz="1100" dirty="0"/>
              <a:t>tie la cine s</a:t>
            </a:r>
            <a:r>
              <a:rPr lang="ro-RO" sz="1100" dirty="0"/>
              <a:t>ă</a:t>
            </a:r>
            <a:r>
              <a:rPr lang="it-IT" sz="1100" dirty="0"/>
              <a:t> trimit</a:t>
            </a:r>
            <a:r>
              <a:rPr lang="ro-RO" sz="1100" dirty="0"/>
              <a:t>ă</a:t>
            </a:r>
            <a:r>
              <a:rPr lang="it-IT" sz="1100" dirty="0"/>
              <a:t> r</a:t>
            </a:r>
            <a:r>
              <a:rPr lang="ro-RO" sz="1100" dirty="0"/>
              <a:t>ă</a:t>
            </a:r>
            <a:r>
              <a:rPr lang="it-IT" sz="1100" dirty="0"/>
              <a:t>spunsul</a:t>
            </a:r>
            <a:r>
              <a:rPr lang="ro-RO" sz="1100" dirty="0"/>
              <a:t> </a:t>
            </a:r>
            <a:r>
              <a:rPr lang="it-IT" sz="1100" dirty="0"/>
              <a:t>(se uit</a:t>
            </a:r>
            <a:r>
              <a:rPr lang="ro-RO" sz="1100" dirty="0"/>
              <a:t>ă</a:t>
            </a:r>
            <a:r>
              <a:rPr lang="it-IT" sz="1100" dirty="0"/>
              <a:t> la PID)</a:t>
            </a:r>
            <a:r>
              <a:rPr lang="ro-RO" sz="1100" dirty="0"/>
              <a:t>.</a:t>
            </a:r>
            <a:r>
              <a:rPr lang="en-US" sz="1100" dirty="0"/>
              <a:t> &gt;</a:t>
            </a:r>
          </a:p>
        </p:txBody>
      </p:sp>
      <p:sp>
        <p:nvSpPr>
          <p:cNvPr id="3118" name="Google Shape;3118;p51">
            <a:extLst>
              <a:ext uri="{FF2B5EF4-FFF2-40B4-BE49-F238E27FC236}">
                <a16:creationId xmlns:a16="http://schemas.microsoft.com/office/drawing/2014/main" id="{857EF209-B587-796A-3CD8-D0FDAD21ADE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119" name="Google Shape;3119;p51">
            <a:extLst>
              <a:ext uri="{FF2B5EF4-FFF2-40B4-BE49-F238E27FC236}">
                <a16:creationId xmlns:a16="http://schemas.microsoft.com/office/drawing/2014/main" id="{D2DE9F15-1950-37E7-BA3C-0117F27165A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3120" name="Google Shape;3120;p51">
            <a:extLst>
              <a:ext uri="{FF2B5EF4-FFF2-40B4-BE49-F238E27FC236}">
                <a16:creationId xmlns:a16="http://schemas.microsoft.com/office/drawing/2014/main" id="{34815AC2-3BD1-C04E-A923-386385ED99F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grpSp>
        <p:nvGrpSpPr>
          <p:cNvPr id="3121" name="Google Shape;3121;p51">
            <a:extLst>
              <a:ext uri="{FF2B5EF4-FFF2-40B4-BE49-F238E27FC236}">
                <a16:creationId xmlns:a16="http://schemas.microsoft.com/office/drawing/2014/main" id="{BE999511-1733-C9E2-C455-7F78AA0D3AEB}"/>
              </a:ext>
            </a:extLst>
          </p:cNvPr>
          <p:cNvGrpSpPr/>
          <p:nvPr/>
        </p:nvGrpSpPr>
        <p:grpSpPr>
          <a:xfrm>
            <a:off x="953089" y="821410"/>
            <a:ext cx="506100" cy="3781757"/>
            <a:chOff x="1084825" y="1152525"/>
            <a:chExt cx="506100" cy="3417500"/>
          </a:xfrm>
        </p:grpSpPr>
        <p:sp>
          <p:nvSpPr>
            <p:cNvPr id="3122" name="Google Shape;3122;p51">
              <a:extLst>
                <a:ext uri="{FF2B5EF4-FFF2-40B4-BE49-F238E27FC236}">
                  <a16:creationId xmlns:a16="http://schemas.microsoft.com/office/drawing/2014/main" id="{A9EFC3A7-FB7B-1179-EEB8-9F92486600BE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3123" name="Google Shape;3123;p51">
              <a:extLst>
                <a:ext uri="{FF2B5EF4-FFF2-40B4-BE49-F238E27FC236}">
                  <a16:creationId xmlns:a16="http://schemas.microsoft.com/office/drawing/2014/main" id="{895013A4-E36E-7D88-6ABE-6A157037B4E1}"/>
                </a:ext>
              </a:extLst>
            </p:cNvPr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295256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0"/>
          <p:cNvSpPr txBox="1">
            <a:spLocks noGrp="1"/>
          </p:cNvSpPr>
          <p:nvPr>
            <p:ph type="title"/>
          </p:nvPr>
        </p:nvSpPr>
        <p:spPr>
          <a:xfrm>
            <a:off x="1258391" y="1576950"/>
            <a:ext cx="7973877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Concluzie experiment</a:t>
            </a:r>
            <a:r>
              <a:rPr lang="ro-RO" sz="3200" dirty="0"/>
              <a:t> </a:t>
            </a:r>
            <a:r>
              <a:rPr lang="ro-RO" sz="3200" dirty="0">
                <a:solidFill>
                  <a:schemeClr val="accent6"/>
                </a:solidFill>
              </a:rPr>
              <a:t>{</a:t>
            </a:r>
            <a:br>
              <a:rPr lang="ro-RO" sz="3600" dirty="0">
                <a:solidFill>
                  <a:schemeClr val="accent6"/>
                </a:solidFill>
              </a:rPr>
            </a:br>
            <a:br>
              <a:rPr lang="ro-RO" sz="1600" dirty="0">
                <a:solidFill>
                  <a:schemeClr val="accent3"/>
                </a:solidFill>
              </a:rPr>
            </a:br>
            <a:r>
              <a:rPr lang="ro-RO" sz="1600" dirty="0">
                <a:solidFill>
                  <a:schemeClr val="accent2"/>
                </a:solidFill>
              </a:rPr>
              <a:t>Locuitorul (clientul) trimite scrisoarea lui în cutia poștală comună (FIFO-ul serverului). Poștașul (serverul) primește scrisoarea, citește cererea și o execută (comanda man), iar după pune răspunsul în cutia clientului. Locuitorii primesc răspunsul în propria cutie, îl citesc, și după șterg cutia (FIFO-ul personal), ca să facă loc pentru alte cereri.</a:t>
            </a:r>
            <a:br>
              <a:rPr lang="ro-RO" sz="1600" dirty="0">
                <a:solidFill>
                  <a:schemeClr val="accent3"/>
                </a:solidFill>
              </a:rPr>
            </a:br>
            <a:r>
              <a:rPr lang="ro-RO" sz="3600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822" name="Google Shape;822;p4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823" name="Google Shape;823;p4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824" name="Google Shape;824;p40"/>
          <p:cNvSpPr txBox="1"/>
          <p:nvPr/>
        </p:nvSpPr>
        <p:spPr>
          <a:xfrm>
            <a:off x="1258391" y="3773838"/>
            <a:ext cx="60915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3600" dirty="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6" name="Google Shape;826;p4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8"/>
          <p:cNvSpPr txBox="1">
            <a:spLocks noGrp="1"/>
          </p:cNvSpPr>
          <p:nvPr>
            <p:ph type="title" idx="4"/>
          </p:nvPr>
        </p:nvSpPr>
        <p:spPr>
          <a:xfrm>
            <a:off x="1170977" y="669034"/>
            <a:ext cx="7973023" cy="38054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Pe baza script-ului, se vor parcurge urm</a:t>
            </a:r>
            <a:r>
              <a:rPr lang="ro-RO" sz="1600" dirty="0"/>
              <a:t>ătoarele comenzi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800" b="1" dirty="0">
                <a:solidFill>
                  <a:schemeClr val="bg1"/>
                </a:solidFill>
              </a:rPr>
              <a:t>01 </a:t>
            </a:r>
            <a:r>
              <a:rPr lang="en-US" sz="1200" dirty="0" err="1">
                <a:solidFill>
                  <a:schemeClr val="accent3"/>
                </a:solidFill>
              </a:rPr>
              <a:t>server@server-VirtualBox</a:t>
            </a:r>
            <a:r>
              <a:rPr lang="en-US" sz="1200" dirty="0">
                <a:solidFill>
                  <a:schemeClr val="accent3"/>
                </a:solidFill>
              </a:rPr>
              <a:t>:~ ./server.sh</a:t>
            </a:r>
            <a:br>
              <a:rPr lang="en-US" sz="1600" dirty="0"/>
            </a:br>
            <a:r>
              <a:rPr lang="en-US" sz="1800" b="1" dirty="0">
                <a:solidFill>
                  <a:schemeClr val="bg1"/>
                </a:solidFill>
              </a:rPr>
              <a:t>02 </a:t>
            </a:r>
            <a:r>
              <a:rPr lang="en-US" sz="1200" dirty="0" err="1">
                <a:solidFill>
                  <a:schemeClr val="accent3"/>
                </a:solidFill>
              </a:rPr>
              <a:t>client@client-VirtualBox</a:t>
            </a:r>
            <a:r>
              <a:rPr lang="en-US" sz="1200" dirty="0">
                <a:solidFill>
                  <a:schemeClr val="accent3"/>
                </a:solidFill>
              </a:rPr>
              <a:t>:~$ echo “BEGIN-REQ [123:ls] END-REQ” &gt; </a:t>
            </a:r>
            <a:r>
              <a:rPr lang="en-US" sz="1200" dirty="0" err="1">
                <a:solidFill>
                  <a:schemeClr val="accent3"/>
                </a:solidFill>
              </a:rPr>
              <a:t>well_known_fifo</a:t>
            </a:r>
            <a:br>
              <a:rPr lang="en-US" sz="1200" dirty="0">
                <a:solidFill>
                  <a:schemeClr val="accent3"/>
                </a:solidFill>
              </a:rPr>
            </a:br>
            <a:br>
              <a:rPr lang="en-US" sz="1200" dirty="0">
                <a:solidFill>
                  <a:schemeClr val="accent3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03 </a:t>
            </a:r>
            <a:r>
              <a:rPr lang="en-US" sz="1200" dirty="0" err="1">
                <a:solidFill>
                  <a:schemeClr val="accent3"/>
                </a:solidFill>
              </a:rPr>
              <a:t>server@server-VirtualBox</a:t>
            </a:r>
            <a:r>
              <a:rPr lang="en-US" sz="1200" dirty="0">
                <a:solidFill>
                  <a:schemeClr val="accent3"/>
                </a:solidFill>
              </a:rPr>
              <a:t>:~$ ./server.sh</a:t>
            </a:r>
            <a:br>
              <a:rPr lang="en-US" sz="1200" dirty="0">
                <a:solidFill>
                  <a:schemeClr val="accent3"/>
                </a:solidFill>
              </a:rPr>
            </a:br>
            <a:r>
              <a:rPr lang="en-US" sz="1200" dirty="0">
                <a:solidFill>
                  <a:schemeClr val="accent3"/>
                </a:solidFill>
              </a:rPr>
              <a:t>          se </a:t>
            </a:r>
            <a:r>
              <a:rPr lang="en-US" sz="1200" dirty="0" err="1">
                <a:solidFill>
                  <a:schemeClr val="accent3"/>
                </a:solidFill>
              </a:rPr>
              <a:t>afi</a:t>
            </a:r>
            <a:r>
              <a:rPr lang="ro-RO" sz="1200" dirty="0">
                <a:solidFill>
                  <a:schemeClr val="accent3"/>
                </a:solidFill>
              </a:rPr>
              <a:t>șează</a:t>
            </a:r>
            <a:r>
              <a:rPr lang="en-US" sz="1200" dirty="0">
                <a:solidFill>
                  <a:schemeClr val="accent3"/>
                </a:solidFill>
              </a:rPr>
              <a:t>: </a:t>
            </a:r>
            <a:r>
              <a:rPr lang="en-US" sz="1200" dirty="0" err="1">
                <a:solidFill>
                  <a:schemeClr val="accent3"/>
                </a:solidFill>
              </a:rPr>
              <a:t>Serverul</a:t>
            </a:r>
            <a:r>
              <a:rPr lang="en-US" sz="1200" dirty="0">
                <a:solidFill>
                  <a:schemeClr val="accent3"/>
                </a:solidFill>
              </a:rPr>
              <a:t> a </a:t>
            </a:r>
            <a:r>
              <a:rPr lang="en-US" sz="1200" dirty="0" err="1">
                <a:solidFill>
                  <a:schemeClr val="accent3"/>
                </a:solidFill>
              </a:rPr>
              <a:t>primit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cererea</a:t>
            </a:r>
            <a:r>
              <a:rPr lang="en-US" sz="1200" dirty="0">
                <a:solidFill>
                  <a:schemeClr val="accent3"/>
                </a:solidFill>
              </a:rPr>
              <a:t> BEGIN-REQ [123:ls] END-REQ</a:t>
            </a:r>
            <a:br>
              <a:rPr lang="en-US" sz="1200" dirty="0">
                <a:solidFill>
                  <a:schemeClr val="accent3"/>
                </a:solidFill>
              </a:rPr>
            </a:br>
            <a:br>
              <a:rPr lang="en-US" sz="1200" dirty="0">
                <a:solidFill>
                  <a:schemeClr val="accent3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04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client@client-VirtualBox</a:t>
            </a:r>
            <a:r>
              <a:rPr lang="en-US" sz="1200" dirty="0">
                <a:solidFill>
                  <a:schemeClr val="accent3"/>
                </a:solidFill>
              </a:rPr>
              <a:t>:~$ cat server-client-123</a:t>
            </a:r>
            <a:br>
              <a:rPr lang="en-US" sz="1200" dirty="0">
                <a:solidFill>
                  <a:schemeClr val="accent3"/>
                </a:solidFill>
              </a:rPr>
            </a:br>
            <a:r>
              <a:rPr lang="en-US" sz="1200" dirty="0">
                <a:solidFill>
                  <a:schemeClr val="accent3"/>
                </a:solidFill>
              </a:rPr>
              <a:t>          </a:t>
            </a:r>
            <a:r>
              <a:rPr lang="en-US" sz="1200" dirty="0" err="1">
                <a:solidFill>
                  <a:schemeClr val="accent3"/>
                </a:solidFill>
              </a:rPr>
              <a:t>afi</a:t>
            </a:r>
            <a:r>
              <a:rPr lang="ro-RO" sz="1200" dirty="0">
                <a:solidFill>
                  <a:schemeClr val="accent3"/>
                </a:solidFill>
              </a:rPr>
              <a:t>șează conținutul FIFO-ului server-client-123 (manualul de utilizare pentru comanda ls)</a:t>
            </a:r>
            <a:br>
              <a:rPr lang="en-US" sz="1200" dirty="0">
                <a:solidFill>
                  <a:schemeClr val="accent3"/>
                </a:solidFill>
              </a:rPr>
            </a:br>
            <a:br>
              <a:rPr lang="ro-RO" sz="1200" dirty="0">
                <a:solidFill>
                  <a:schemeClr val="accent3"/>
                </a:solidFill>
              </a:rPr>
            </a:br>
            <a:r>
              <a:rPr lang="ro-RO" sz="1800" b="1" dirty="0">
                <a:solidFill>
                  <a:schemeClr val="bg1"/>
                </a:solidFill>
              </a:rPr>
              <a:t>0</a:t>
            </a:r>
            <a:r>
              <a:rPr lang="en-US" sz="1800" b="1" dirty="0">
                <a:solidFill>
                  <a:schemeClr val="bg1"/>
                </a:solidFill>
              </a:rPr>
              <a:t>5</a:t>
            </a:r>
            <a:r>
              <a:rPr lang="ro-RO" sz="1200" dirty="0">
                <a:solidFill>
                  <a:schemeClr val="accent3"/>
                </a:solidFill>
              </a:rPr>
              <a:t> în </a:t>
            </a:r>
            <a:r>
              <a:rPr lang="en-US" sz="1200" dirty="0" err="1">
                <a:solidFill>
                  <a:schemeClr val="accent3"/>
                </a:solidFill>
              </a:rPr>
              <a:t>server@server-VirtualBox</a:t>
            </a:r>
            <a:r>
              <a:rPr lang="en-US" sz="1200" dirty="0">
                <a:solidFill>
                  <a:schemeClr val="accent3"/>
                </a:solidFill>
              </a:rPr>
              <a:t>:~ se </a:t>
            </a:r>
            <a:r>
              <a:rPr lang="en-US" sz="1200" dirty="0" err="1">
                <a:solidFill>
                  <a:schemeClr val="accent3"/>
                </a:solidFill>
              </a:rPr>
              <a:t>afi</a:t>
            </a:r>
            <a:r>
              <a:rPr lang="ro-RO" sz="1200" dirty="0">
                <a:solidFill>
                  <a:schemeClr val="accent3"/>
                </a:solidFill>
              </a:rPr>
              <a:t>șează</a:t>
            </a:r>
            <a:r>
              <a:rPr lang="en-US" sz="1200" dirty="0">
                <a:solidFill>
                  <a:schemeClr val="accent3"/>
                </a:solidFill>
              </a:rPr>
              <a:t>: </a:t>
            </a:r>
            <a:br>
              <a:rPr lang="en-US" sz="1200" dirty="0">
                <a:solidFill>
                  <a:schemeClr val="accent3"/>
                </a:solidFill>
              </a:rPr>
            </a:br>
            <a:r>
              <a:rPr lang="en-US" sz="1200" dirty="0">
                <a:solidFill>
                  <a:schemeClr val="accent3"/>
                </a:solidFill>
              </a:rPr>
              <a:t>        </a:t>
            </a:r>
            <a:r>
              <a:rPr lang="en-US" sz="1200" dirty="0" err="1">
                <a:solidFill>
                  <a:schemeClr val="accent3"/>
                </a:solidFill>
              </a:rPr>
              <a:t>Raspuns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trimis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clientului</a:t>
            </a:r>
            <a:r>
              <a:rPr lang="en-US" sz="1200" dirty="0">
                <a:solidFill>
                  <a:schemeClr val="accent3"/>
                </a:solidFill>
              </a:rPr>
              <a:t> 123 in FIFO-</a:t>
            </a:r>
            <a:r>
              <a:rPr lang="en-US" sz="1200" dirty="0" err="1">
                <a:solidFill>
                  <a:schemeClr val="accent3"/>
                </a:solidFill>
              </a:rPr>
              <a:t>ul</a:t>
            </a:r>
            <a:r>
              <a:rPr lang="en-US" sz="1200" dirty="0">
                <a:solidFill>
                  <a:schemeClr val="accent3"/>
                </a:solidFill>
              </a:rPr>
              <a:t> “</a:t>
            </a:r>
            <a:r>
              <a:rPr lang="en-US" sz="1200" dirty="0" err="1">
                <a:solidFill>
                  <a:schemeClr val="accent3"/>
                </a:solidFill>
              </a:rPr>
              <a:t>locatie</a:t>
            </a:r>
            <a:r>
              <a:rPr lang="en-US" sz="1200" dirty="0">
                <a:solidFill>
                  <a:schemeClr val="accent3"/>
                </a:solidFill>
              </a:rPr>
              <a:t> fi</a:t>
            </a:r>
            <a:r>
              <a:rPr lang="ro-RO" sz="1200" dirty="0">
                <a:solidFill>
                  <a:schemeClr val="accent3"/>
                </a:solidFill>
              </a:rPr>
              <a:t>ș</a:t>
            </a:r>
            <a:r>
              <a:rPr lang="en-US" sz="1200" dirty="0" err="1">
                <a:solidFill>
                  <a:schemeClr val="accent3"/>
                </a:solidFill>
              </a:rPr>
              <a:t>ier</a:t>
            </a:r>
            <a:r>
              <a:rPr lang="en-US" sz="1200" dirty="0">
                <a:solidFill>
                  <a:schemeClr val="accent3"/>
                </a:solidFill>
              </a:rPr>
              <a:t> client”</a:t>
            </a:r>
            <a:br>
              <a:rPr lang="en-US" sz="1200" dirty="0">
                <a:solidFill>
                  <a:schemeClr val="accent3"/>
                </a:solidFill>
              </a:rPr>
            </a:br>
            <a:br>
              <a:rPr lang="en-US" sz="1200" dirty="0">
                <a:solidFill>
                  <a:schemeClr val="accent3"/>
                </a:solidFill>
              </a:rPr>
            </a:b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Putem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observa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 c</a:t>
            </a: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ă FIFO-ul clientului (server-client-123) a fost adaugat după comanda 01 si șters după comanda 03 (atunci când s-a primit răspunsul).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807" name="Google Shape;807;p3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808" name="Google Shape;808;p3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serverFIFO@serverFIFO-VirtualBox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  <p:sp>
        <p:nvSpPr>
          <p:cNvPr id="809" name="Google Shape;809;p3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LunaAmara@LunaAmara-VirtualBox</a:t>
            </a:r>
            <a:r>
              <a:rPr lang="en-US" sz="1400" dirty="0">
                <a:solidFill>
                  <a:schemeClr val="accent3"/>
                </a:solidFill>
              </a:rPr>
              <a:t>:~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BAD28BA5-DC08-9314-D637-28221F385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0787833F-4DB8-B170-89A3-6AB390BEE7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</a:t>
            </a:r>
            <a:r>
              <a:rPr lang="en-US" sz="5000" dirty="0"/>
              <a:t>5</a:t>
            </a:r>
            <a:r>
              <a:rPr lang="en" sz="5000" dirty="0"/>
              <a:t>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>
            <a:extLst>
              <a:ext uri="{FF2B5EF4-FFF2-40B4-BE49-F238E27FC236}">
                <a16:creationId xmlns:a16="http://schemas.microsoft.com/office/drawing/2014/main" id="{4C635C40-1C28-3F5C-2FD2-E7911AA4FD9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01326" y="2103575"/>
            <a:ext cx="5747797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Concluzie</a:t>
            </a:r>
            <a:r>
              <a:rPr lang="ro-RO" dirty="0">
                <a:solidFill>
                  <a:schemeClr val="accent1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2D51B5ED-83D7-36E9-9F24-A61C209384E8}"/>
              </a:ext>
            </a:extLst>
          </p:cNvPr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2372A49D-C7CB-F4BA-ACE1-B2E7CD769207}"/>
              </a:ext>
            </a:extLst>
          </p:cNvPr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6C13444B-514E-A06C-2D70-C5573D9D7A1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E0D5E287-7690-FE23-24D3-1328108B42F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serverFIFO@serverFIFO-VirtualBox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E0B4C164-C450-BBAD-8420-A313C3D4F62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239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C2D61127-CC0A-F9F4-5F16-5FFC69D6C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72D264C4-7E34-81C2-420C-AF0069763B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1104486" y="523450"/>
            <a:ext cx="3816225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6"/>
                </a:solidFill>
              </a:rPr>
              <a:t>$ </a:t>
            </a:r>
            <a:r>
              <a:rPr lang="en" sz="3600" dirty="0">
                <a:solidFill>
                  <a:schemeClr val="bg1"/>
                </a:solidFill>
              </a:rPr>
              <a:t>Concluzie</a:t>
            </a:r>
            <a:r>
              <a:rPr lang="ro-RO" sz="3600" dirty="0">
                <a:solidFill>
                  <a:schemeClr val="bg1"/>
                </a:solidFill>
              </a:rPr>
              <a:t> </a:t>
            </a:r>
            <a:r>
              <a:rPr lang="en" sz="3600" dirty="0">
                <a:solidFill>
                  <a:schemeClr val="accent6"/>
                </a:solidFill>
              </a:rPr>
              <a:t>{</a:t>
            </a:r>
            <a:endParaRPr sz="36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>
            <a:extLst>
              <a:ext uri="{FF2B5EF4-FFF2-40B4-BE49-F238E27FC236}">
                <a16:creationId xmlns:a16="http://schemas.microsoft.com/office/drawing/2014/main" id="{7F60C361-194C-C4CA-22DA-FF6B30595C7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03164" y="2387916"/>
            <a:ext cx="5747797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6"/>
                </a:solidFill>
              </a:rPr>
              <a:t>[ Ca urmare a realiz</a:t>
            </a:r>
            <a:r>
              <a:rPr lang="ro-RO" sz="1600" dirty="0">
                <a:solidFill>
                  <a:schemeClr val="accent6"/>
                </a:solidFill>
              </a:rPr>
              <a:t>ă</a:t>
            </a:r>
            <a:r>
              <a:rPr lang="en" sz="1600" dirty="0">
                <a:solidFill>
                  <a:schemeClr val="accent6"/>
                </a:solidFill>
              </a:rPr>
              <a:t>rii acestui proiect, fiecare dintre noi a dob</a:t>
            </a:r>
            <a:r>
              <a:rPr lang="ro-RO" sz="1600" dirty="0">
                <a:solidFill>
                  <a:schemeClr val="accent6"/>
                </a:solidFill>
              </a:rPr>
              <a:t>â</a:t>
            </a:r>
            <a:r>
              <a:rPr lang="en" sz="1600" dirty="0">
                <a:solidFill>
                  <a:schemeClr val="accent6"/>
                </a:solidFill>
              </a:rPr>
              <a:t>ndit cuno</a:t>
            </a:r>
            <a:r>
              <a:rPr lang="ro-RO" sz="1600" dirty="0">
                <a:solidFill>
                  <a:schemeClr val="accent6"/>
                </a:solidFill>
              </a:rPr>
              <a:t>ș</a:t>
            </a:r>
            <a:r>
              <a:rPr lang="en" sz="1600" dirty="0">
                <a:solidFill>
                  <a:schemeClr val="accent6"/>
                </a:solidFill>
              </a:rPr>
              <a:t>tin</a:t>
            </a:r>
            <a:r>
              <a:rPr lang="ro-RO" sz="1600" dirty="0">
                <a:solidFill>
                  <a:schemeClr val="accent6"/>
                </a:solidFill>
              </a:rPr>
              <a:t>ț</a:t>
            </a:r>
            <a:r>
              <a:rPr lang="en" sz="1600" dirty="0">
                <a:solidFill>
                  <a:schemeClr val="accent6"/>
                </a:solidFill>
              </a:rPr>
              <a:t>e noi legate de ceea ce presupune un fi</a:t>
            </a:r>
            <a:r>
              <a:rPr lang="ro-RO" sz="1600" dirty="0">
                <a:solidFill>
                  <a:schemeClr val="accent6"/>
                </a:solidFill>
              </a:rPr>
              <a:t>ș</a:t>
            </a:r>
            <a:r>
              <a:rPr lang="en" sz="1600" dirty="0">
                <a:solidFill>
                  <a:schemeClr val="accent6"/>
                </a:solidFill>
              </a:rPr>
              <a:t>ier FIFO </a:t>
            </a:r>
            <a:r>
              <a:rPr lang="ro-RO" sz="1600" dirty="0">
                <a:solidFill>
                  <a:schemeClr val="accent6"/>
                </a:solidFill>
              </a:rPr>
              <a:t>ș</a:t>
            </a:r>
            <a:r>
              <a:rPr lang="en" sz="1600" dirty="0">
                <a:solidFill>
                  <a:schemeClr val="accent6"/>
                </a:solidFill>
              </a:rPr>
              <a:t>i comunicarea acestuia cu un server.</a:t>
            </a:r>
            <a:r>
              <a:rPr lang="ro-RO" sz="1600" dirty="0">
                <a:solidFill>
                  <a:schemeClr val="accent6"/>
                </a:solidFill>
              </a:rPr>
              <a:t> </a:t>
            </a:r>
            <a:r>
              <a:rPr lang="en" sz="1600" dirty="0">
                <a:solidFill>
                  <a:schemeClr val="accent6"/>
                </a:solidFill>
              </a:rPr>
              <a:t>Cea mai dificil</a:t>
            </a:r>
            <a:r>
              <a:rPr lang="ro-RO" sz="1600" dirty="0">
                <a:solidFill>
                  <a:schemeClr val="accent6"/>
                </a:solidFill>
              </a:rPr>
              <a:t>ă</a:t>
            </a:r>
            <a:r>
              <a:rPr lang="en" sz="1600" dirty="0">
                <a:solidFill>
                  <a:schemeClr val="accent6"/>
                </a:solidFill>
              </a:rPr>
              <a:t> parte a acestui proiect a fost s</a:t>
            </a:r>
            <a:r>
              <a:rPr lang="ro-RO" sz="1600" dirty="0">
                <a:solidFill>
                  <a:schemeClr val="accent6"/>
                </a:solidFill>
              </a:rPr>
              <a:t>ă</a:t>
            </a:r>
            <a:r>
              <a:rPr lang="en" sz="1600" dirty="0">
                <a:solidFill>
                  <a:schemeClr val="accent6"/>
                </a:solidFill>
              </a:rPr>
              <a:t> </a:t>
            </a:r>
            <a:r>
              <a:rPr lang="ro-RO" sz="1600" dirty="0">
                <a:solidFill>
                  <a:schemeClr val="accent6"/>
                </a:solidFill>
              </a:rPr>
              <a:t>î</a:t>
            </a:r>
            <a:r>
              <a:rPr lang="en" sz="1600" dirty="0">
                <a:solidFill>
                  <a:schemeClr val="accent6"/>
                </a:solidFill>
              </a:rPr>
              <a:t>n</a:t>
            </a:r>
            <a:r>
              <a:rPr lang="ro-RO" sz="1600" dirty="0">
                <a:solidFill>
                  <a:schemeClr val="accent6"/>
                </a:solidFill>
              </a:rPr>
              <a:t>ț</a:t>
            </a:r>
            <a:r>
              <a:rPr lang="en" sz="1600" dirty="0">
                <a:solidFill>
                  <a:schemeClr val="accent6"/>
                </a:solidFill>
              </a:rPr>
              <a:t>elegem caracteristicile unui fi</a:t>
            </a:r>
            <a:r>
              <a:rPr lang="ro-RO" sz="1600" dirty="0">
                <a:solidFill>
                  <a:schemeClr val="accent6"/>
                </a:solidFill>
              </a:rPr>
              <a:t>ș</a:t>
            </a:r>
            <a:r>
              <a:rPr lang="en" sz="1600" dirty="0">
                <a:solidFill>
                  <a:schemeClr val="accent6"/>
                </a:solidFill>
              </a:rPr>
              <a:t>ier FIFO, </a:t>
            </a:r>
            <a:r>
              <a:rPr lang="ro-RO" sz="1600" dirty="0">
                <a:solidFill>
                  <a:schemeClr val="accent6"/>
                </a:solidFill>
              </a:rPr>
              <a:t>î</a:t>
            </a:r>
            <a:r>
              <a:rPr lang="en" sz="1600" dirty="0">
                <a:solidFill>
                  <a:schemeClr val="accent6"/>
                </a:solidFill>
              </a:rPr>
              <a:t>n</a:t>
            </a:r>
            <a:r>
              <a:rPr lang="ro-RO" sz="1600" dirty="0">
                <a:solidFill>
                  <a:schemeClr val="accent6"/>
                </a:solidFill>
              </a:rPr>
              <a:t>ț</a:t>
            </a:r>
            <a:r>
              <a:rPr lang="en" sz="1600" dirty="0">
                <a:solidFill>
                  <a:schemeClr val="accent6"/>
                </a:solidFill>
              </a:rPr>
              <a:t>elegerea unui fi</a:t>
            </a:r>
            <a:r>
              <a:rPr lang="ro-RO" sz="1600" dirty="0">
                <a:solidFill>
                  <a:schemeClr val="accent6"/>
                </a:solidFill>
              </a:rPr>
              <a:t>ș</a:t>
            </a:r>
            <a:r>
              <a:rPr lang="en" sz="1600" dirty="0">
                <a:solidFill>
                  <a:schemeClr val="accent6"/>
                </a:solidFill>
              </a:rPr>
              <a:t>ier configurabil, </a:t>
            </a:r>
            <a:r>
              <a:rPr lang="ro-RO" sz="1600" dirty="0">
                <a:solidFill>
                  <a:schemeClr val="accent6"/>
                </a:solidFill>
              </a:rPr>
              <a:t>ș</a:t>
            </a:r>
            <a:r>
              <a:rPr lang="en" sz="1600" dirty="0">
                <a:solidFill>
                  <a:schemeClr val="accent6"/>
                </a:solidFill>
              </a:rPr>
              <a:t>i cum leg</a:t>
            </a:r>
            <a:r>
              <a:rPr lang="ro-RO" sz="1600" dirty="0">
                <a:solidFill>
                  <a:schemeClr val="accent6"/>
                </a:solidFill>
              </a:rPr>
              <a:t>ă</a:t>
            </a:r>
            <a:r>
              <a:rPr lang="en" sz="1600" dirty="0">
                <a:solidFill>
                  <a:schemeClr val="accent6"/>
                </a:solidFill>
              </a:rPr>
              <a:t>m toate acestea de server, astfel </a:t>
            </a:r>
            <a:r>
              <a:rPr lang="ro-RO" sz="1600" dirty="0">
                <a:solidFill>
                  <a:schemeClr val="accent6"/>
                </a:solidFill>
              </a:rPr>
              <a:t>î</a:t>
            </a:r>
            <a:r>
              <a:rPr lang="en" sz="1600" dirty="0">
                <a:solidFill>
                  <a:schemeClr val="accent6"/>
                </a:solidFill>
              </a:rPr>
              <a:t>nc</a:t>
            </a:r>
            <a:r>
              <a:rPr lang="ro-RO" sz="1600" dirty="0">
                <a:solidFill>
                  <a:schemeClr val="accent6"/>
                </a:solidFill>
              </a:rPr>
              <a:t>â</a:t>
            </a:r>
            <a:r>
              <a:rPr lang="en" sz="1600" dirty="0">
                <a:solidFill>
                  <a:schemeClr val="accent6"/>
                </a:solidFill>
              </a:rPr>
              <a:t>t acesta</a:t>
            </a:r>
            <a:r>
              <a:rPr lang="ro-RO" sz="1600" dirty="0">
                <a:solidFill>
                  <a:schemeClr val="accent6"/>
                </a:solidFill>
              </a:rPr>
              <a:t> să</a:t>
            </a:r>
            <a:r>
              <a:rPr lang="en" sz="1600" dirty="0">
                <a:solidFill>
                  <a:schemeClr val="accent6"/>
                </a:solidFill>
              </a:rPr>
              <a:t> fie func</a:t>
            </a:r>
            <a:r>
              <a:rPr lang="ro-RO" sz="1600" dirty="0">
                <a:solidFill>
                  <a:schemeClr val="accent6"/>
                </a:solidFill>
              </a:rPr>
              <a:t>ț</a:t>
            </a:r>
            <a:r>
              <a:rPr lang="en" sz="1600" dirty="0">
                <a:solidFill>
                  <a:schemeClr val="accent6"/>
                </a:solidFill>
              </a:rPr>
              <a:t>ional. ]</a:t>
            </a:r>
            <a:r>
              <a:rPr lang="en" sz="1600" dirty="0">
                <a:solidFill>
                  <a:schemeClr val="accent1"/>
                </a:solidFill>
              </a:rPr>
              <a:t> </a:t>
            </a: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DE267727-B2F1-03E5-F667-22ED0EC4CD3A}"/>
              </a:ext>
            </a:extLst>
          </p:cNvPr>
          <p:cNvSpPr txBox="1"/>
          <p:nvPr/>
        </p:nvSpPr>
        <p:spPr>
          <a:xfrm>
            <a:off x="1104487" y="3683282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 dirty="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EE808EDD-3C75-8EEA-7EC0-25FAB2D30AF9}"/>
              </a:ext>
            </a:extLst>
          </p:cNvPr>
          <p:cNvCxnSpPr>
            <a:cxnSpLocks/>
          </p:cNvCxnSpPr>
          <p:nvPr/>
        </p:nvCxnSpPr>
        <p:spPr>
          <a:xfrm>
            <a:off x="1343474" y="158502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FA522441-D988-A542-BC9C-4AFEF78ADBA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Proiect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FIFOServer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CB5360D7-E1FE-3A36-1439-F261995B5D0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serverFIFO@serverFIFO-VirtualBox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F5E5E799-013D-28D6-2F93-300D1FE157C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LunaAmara@LunaAmara-VirtualBox</a:t>
            </a:r>
            <a:r>
              <a:rPr lang="en-US" sz="1400" dirty="0"/>
              <a:t>:~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773863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4525F194E0AF438BFB50EED841CBA6" ma:contentTypeVersion="4" ma:contentTypeDescription="Create a new document." ma:contentTypeScope="" ma:versionID="13878b6d559339470c221213572b7b19">
  <xsd:schema xmlns:xsd="http://www.w3.org/2001/XMLSchema" xmlns:xs="http://www.w3.org/2001/XMLSchema" xmlns:p="http://schemas.microsoft.com/office/2006/metadata/properties" xmlns:ns2="70cc8a1a-23a4-46f7-990c-24c2cf9a5711" targetNamespace="http://schemas.microsoft.com/office/2006/metadata/properties" ma:root="true" ma:fieldsID="7bd0eff4191c8a971735121aa964997e" ns2:_="">
    <xsd:import namespace="70cc8a1a-23a4-46f7-990c-24c2cf9a57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cc8a1a-23a4-46f7-990c-24c2cf9a5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DBC2943-6E7C-4897-8A66-6DCFA4E60C44}"/>
</file>

<file path=customXml/itemProps2.xml><?xml version="1.0" encoding="utf-8"?>
<ds:datastoreItem xmlns:ds="http://schemas.openxmlformats.org/officeDocument/2006/customXml" ds:itemID="{38410FD2-4746-4C47-9AF6-355D36215338}"/>
</file>

<file path=customXml/itemProps3.xml><?xml version="1.0" encoding="utf-8"?>
<ds:datastoreItem xmlns:ds="http://schemas.openxmlformats.org/officeDocument/2006/customXml" ds:itemID="{414CD2FD-1837-4B97-90DA-5A17FAA7D2CC}"/>
</file>

<file path=docProps/app.xml><?xml version="1.0" encoding="utf-8"?>
<Properties xmlns="http://schemas.openxmlformats.org/officeDocument/2006/extended-properties" xmlns:vt="http://schemas.openxmlformats.org/officeDocument/2006/docPropsVTypes">
  <Template>Programming Language Workshop for Beginners by Slidesgo</Template>
  <TotalTime>117</TotalTime>
  <Words>2417</Words>
  <Application>Microsoft Office PowerPoint</Application>
  <PresentationFormat>On-screen Show (16:9)</PresentationFormat>
  <Paragraphs>275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Fira Code</vt:lpstr>
      <vt:lpstr>Arial</vt:lpstr>
      <vt:lpstr>Montserrat</vt:lpstr>
      <vt:lpstr>Programming Language Workshop for Beginners by Slidesgo</vt:lpstr>
      <vt:lpstr> FIFO Server {</vt:lpstr>
      <vt:lpstr>01</vt:lpstr>
      <vt:lpstr>01 {</vt:lpstr>
      <vt:lpstr>$ Descrierea Problemei / Specificația soluției;</vt:lpstr>
      <vt:lpstr>&lt; /1 &gt; Serverul { </vt:lpstr>
      <vt:lpstr>&lt; /1 &gt; Severul { </vt:lpstr>
      <vt:lpstr>&lt; /2 &gt; Fișierul FIFO { </vt:lpstr>
      <vt:lpstr>&lt; /2 &gt; Fișierul FIFO { </vt:lpstr>
      <vt:lpstr>$ Ce se întâmplă când un client trimite o cerere? {</vt:lpstr>
      <vt:lpstr>PowerPoint Presentation</vt:lpstr>
      <vt:lpstr>$ Cerințe de sistem și mediu de operare 1/2{</vt:lpstr>
      <vt:lpstr>$ Cerințe de sistem și mediu de operare 2/2{</vt:lpstr>
      <vt:lpstr>02 {</vt:lpstr>
      <vt:lpstr>$ Design soluție { Algoritmii folosiți sunt:</vt:lpstr>
      <vt:lpstr>PowerPoint Presentation</vt:lpstr>
      <vt:lpstr>03 {</vt:lpstr>
      <vt:lpstr>$ Implementare {</vt:lpstr>
      <vt:lpstr>What Is this ‘Topic About ?’ {</vt:lpstr>
      <vt:lpstr>Features of ‘the Topic’ {</vt:lpstr>
      <vt:lpstr>04 {</vt:lpstr>
      <vt:lpstr>$ Experimente {</vt:lpstr>
      <vt:lpstr>PowerPoint Presentation</vt:lpstr>
      <vt:lpstr>Concluzie experiment {  Locuitorul (clientul) trimite scrisoarea lui în cutia poștală comună (FIFO-ul serverului). Poștașul (serverul) primește scrisoarea, citește cererea și o execută (comanda man), iar după pune răspunsul în cutia clientului. Locuitorii primesc răspunsul în propria cutie, îl citesc, și după șterg cutia (FIFO-ul personal), ca să facă loc pentru alte cereri.  </vt:lpstr>
      <vt:lpstr>Pe baza script-ului, se vor parcurge următoarele comenzi: 01 server@server-VirtualBox:~ ./server.sh 02 client@client-VirtualBox:~$ echo “BEGIN-REQ [123:ls] END-REQ” &gt; well_known_fifo  03 server@server-VirtualBox:~$ ./server.sh           se afișează: Serverul a primit cererea BEGIN-REQ [123:ls] END-REQ  04 client@client-VirtualBox:~$ cat server-client-123           afișează conținutul FIFO-ului server-client-123 (manualul de utilizare pentru comanda ls)  05 în server@server-VirtualBox:~ se afișează:          Raspuns trimis clientului 123 in FIFO-ul “locatie fișier client”  Putem observa că FIFO-ul clientului (server-client-123) a fost adaugat după comanda 01 si șters după comanda 03 (atunci când s-a primit răspunsul).</vt:lpstr>
      <vt:lpstr>05 {</vt:lpstr>
      <vt:lpstr>$ Concluzie {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Mara Cazamir</dc:creator>
  <cp:lastModifiedBy>Mara Cazamir</cp:lastModifiedBy>
  <cp:revision>6</cp:revision>
  <dcterms:created xsi:type="dcterms:W3CDTF">2025-01-08T10:43:46Z</dcterms:created>
  <dcterms:modified xsi:type="dcterms:W3CDTF">2025-01-08T12:48:56Z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0x010100794525F194E0AF438BFB50EED841CBA6</vt:lpwstr>
  </property>
</Properties>
</file>